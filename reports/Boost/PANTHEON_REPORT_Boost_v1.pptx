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2011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PANTHEON™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503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Boost: The Urban Pulse — Metropolitan Indonesian Consumer Intelligence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2487168"/>
            <a:ext cx="2560320" cy="4114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243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Boost as essential, science-backed functional nutrition for high-performance urban lifestyles among 20-35 metropolitan Indonesians.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34564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</a:rPr>
              <a:t>Target Demographic: 20-35 Metropolitan Indonesian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4681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A8"/>
                </a:solidFill>
              </a:rPr>
              <a:t>March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4681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</a:rPr>
              <a:t>Synthetic Focus Group Research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is selling class aspiration disguised as functional science to status-anxious strivers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54864" cy="36576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618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buyers are not confident high-performers but anxious climbers (21-28) using premium wellness as proof of upward mobility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84248"/>
            <a:ext cx="54864" cy="36576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476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spend 15-25% above comfortable means on identity-validating products; willing to sacrifice elsewhere to signal professional seriousness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70048"/>
            <a:ext cx="54864" cy="36576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334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fracture line: Identity buyers seek social proof of belonging while functionality buyers demand clinical validation and cost justification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355848"/>
            <a:ext cx="54864" cy="36576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3192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market (28-32) needs permission to buy despite skepticism through credible testimonials from peers who admit prior doubt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4041648"/>
            <a:ext cx="54864" cy="36576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005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job-to-be-done is proving 'I deserve success' to self and others, not beating afternoon slumps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59536"/>
            <a:ext cx="310896" cy="310896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9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82296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Demographic Context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517904"/>
            <a:ext cx="310896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48132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Psychology &amp; Deep-Dive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310896" cy="310896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13969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Response Analysis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310896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279806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Patterns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493008"/>
            <a:ext cx="310896" cy="310896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345643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4151376"/>
            <a:ext cx="310896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411480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Kill Switch Signals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Demographic Context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</a:rPr>
              <a:t>High-Stress Corporate Metropolitan Culture Demands Instant Wellness Integration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670048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 opportunity: Juice positioned strictly as productivity and biohacking tool, not generic organic wellness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4408" y="1234440"/>
            <a:ext cx="2670048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261872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threat: Generic 'organic' juices lacking targeted functional benefits and scientific transparency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17336" y="1234440"/>
            <a:ext cx="2670048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261872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context: Back-to-back schedules in cities that never stop create need for seamless performance enhancement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85039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enters functional nutrition category as performance-enhancing urban fuel. The brand targets metropolitan Indonesian professionals navigating high-stress corporate culture where instant energy and recovery are non-negotiable. Need-state categorization and active compound transparency differentiate from commodity organic juice competitors.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Psychology &amp; Deep-Dive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</a:rPr>
              <a:t>Two Distinct Segments: Anxious Climbers vs. Burned Skeptics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069080" cy="36393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40690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34440"/>
            <a:ext cx="3922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9FC"/>
                </a:solidFill>
              </a:rPr>
              <a:t>The Anxious Climber (Primary, 60%)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609344"/>
            <a:ext cx="3922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04B"/>
                </a:solidFill>
              </a:rPr>
              <a:t>Age: 21-28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39227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corporate professionals earning 8-15M/month who stretch budgets for identity-validating products. High-stress, burnt out but driven strivers using premium wellness to signal upward trajectory. Deep fear of being 'left behind' in metropolitan competition; willing to internalize productivity pressure as personal responsibility.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069080" cy="36393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234440"/>
            <a:ext cx="40690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234440"/>
            <a:ext cx="3922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9FC"/>
                </a:solidFill>
              </a:rPr>
              <a:t>The Burned Skeptic (Secondary, 40%)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152" y="1609344"/>
            <a:ext cx="3922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04B"/>
                </a:solidFill>
              </a:rPr>
              <a:t>Age: 28-35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45152" y="1938528"/>
            <a:ext cx="39227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professionals and parents balancing high-pressure careers with family and structured wellness routines. Longevity-focused but scarred by overpromising wellness products. Need permission from credible peers to purchase despite skepticism; seek measurable biomarker data and cost-benefit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Response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</a:rPr>
              <a:t>High Intent Among Identity Buyers; Conditional Interest From Functionality Buyers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54864" cy="79552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893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6A8"/>
                </a:solidFill>
              </a:rPr>
              <a:t>Primary Target Temperature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2710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8/10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" y="1636776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Anxious Climbers (Agents 24, 21) showed highest engagement with validation and urgency language, viewing product as identity performance artifact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21408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121408"/>
            <a:ext cx="54864" cy="79552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762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6A8"/>
                </a:solidFill>
              </a:rPr>
              <a:t>Intent Signal: Save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1579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Highest Commitment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" y="2523744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Agent 21 (Age 21, Manado) demonstrated save intent, indicating readiness to join 'community of high performers' and post Boost Streak for social proof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008376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008376"/>
            <a:ext cx="54864" cy="79552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063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6A8"/>
                </a:solidFill>
              </a:rPr>
              <a:t>Secondary Target Temperature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0449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7-8/10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" y="341071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Burned Skeptics (Agents 28, 31) showed click intent but hedged commitment, needing peer testimonials admitting prior doubt with measurable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895344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895344"/>
            <a:ext cx="54864" cy="79552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9502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6A8"/>
                </a:solidFill>
              </a:rPr>
              <a:t>Conversion Trigger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3931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Social Proof Authority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6928" y="429768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Agent 28 will convert when seeing credible professionals publicly validate purchase without shame, asking 'Does anyone else feel this or is it just me?'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Patterns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</a:rPr>
              <a:t>Critical Strategic Insights From Consumer Psychology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54864" cy="79552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89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Class Aspiration Drives Purchase, Not Function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6093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Primary buyers use Boost as physical artifact proving they 'deserve success.' Agent 24 states: 'I need to be the person this brand is designed for, because that's where I'm going.' Product is down payment on future identity, not afternoon slump solution.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21408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21408"/>
            <a:ext cx="54864" cy="79552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76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Financial Sacrifice Signals Commitment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4963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Target consumers spend 15-25% above comfortable means (8-15M/month income) on visible professional markers. Agent 24: 'If the price is the barrier, then you prioritize what matters to you'—premium price validates rather than deters anxious climbers.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08376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08376"/>
            <a:ext cx="54864" cy="79552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Gamification Exploits Loss Aversion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Fracture between optimization believers and exploitation critics. Agent 26 warns: 'You're building dependency through loss aversion. That's monetized anxiety.' But Agent 21 embraces: 'Smart habit formation and social proof.' Class security determines philosophical stance.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895344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895344"/>
            <a:ext cx="54864" cy="79552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9502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Secondary Market Needs Peer Permission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270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Burned Skeptics require LinkedIn testimonials from verified professionals (not influencers) admitting 'I ignored Boost for 3 months because it was overpriced theater, then my biomarkers showed [data].' Agent 32 would author this; Agent 28 would convert from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</a:rPr>
              <a:t>Strategic Action Items to Maximize Conversion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54864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0688" y="1408176"/>
            <a:ext cx="804672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0688" y="14081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C"/>
                </a:solidFill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28930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Launch Peer Testimonial LinkedIn Campaign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618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Execute LinkedIn carousel posts from verified professionals (not influencers) sharing skepticism-to-conversion journey with biomarker data and cost-benefit spreadsheets to unlock Secondary Market.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21408"/>
            <a:ext cx="54864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90688" y="2295144"/>
            <a:ext cx="804672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229514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C"/>
                </a:solidFill>
              </a:rPr>
              <a:t>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21762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Amplify Identity Signaling, Not Just Function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25054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Reframe messaging from beating 3PM slump to 'prove you're the type who deserves success'—lean into aspiration and community belonging for Primary Market Anxious Climbers.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008376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08376"/>
            <a:ext cx="54864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0688" y="3182112"/>
            <a:ext cx="804672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0688" y="318211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C"/>
                </a:solidFill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30632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Deploy Office Lobby 'Boost Bars' 2-4PM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3924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Execute Tier-A office lobby pop-ups during peak slump hours with free 2oz Focus shots and seamless QR code onboarding to Boost Streak gamified app.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895344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895344"/>
            <a:ext cx="54864" cy="79552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90688" y="4069080"/>
            <a:ext cx="804672" cy="24688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90688" y="406908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C"/>
                </a:solidFill>
              </a:rPr>
              <a:t>Medium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395020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Emphasize Active Compound Education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42793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Create 15-second edu-tainment content explaining cold-pressed enzyme preservation and nitrate benefits to satisfy functionality buyers' demand for scientific transparency beyond generic organic claims.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Kill Switch Signals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</a:rPr>
              <a:t>Critical Risk Factors &amp; Kill Switch Indicators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54864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0688" y="1408176"/>
            <a:ext cx="804672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0688" y="14081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C"/>
                </a:solidFill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28930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Exploitation Backlash from Critics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618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If Agent 26-type critics gain social media traction framing gamification as 'monetized anxiety' and class exclusion, brand reputation could suffer among price-sensitive segments.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21408"/>
            <a:ext cx="54864" cy="79552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90688" y="2295144"/>
            <a:ext cx="804672" cy="24688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229514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C"/>
                </a:solidFill>
              </a:rPr>
              <a:t>Medium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21762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Premium Price Alienates Borderline Buyers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25054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If Secondary Market Burned Skeptics publicly question cost-benefit without sufficient peer testimonial conversion content, adoption will stall at Primary Market ceiling.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008376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08376"/>
            <a:ext cx="54864" cy="79552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0688" y="3182112"/>
            <a:ext cx="804672" cy="24688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0688" y="318211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C"/>
                </a:solidFill>
              </a:rPr>
              <a:t>Medium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30632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Clinical Data Scrutiny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3924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Functionality buyers demanding therapeutic concentration proof could expose gaps if active compound levels are trace rather than clinically significant, undermining scientific positioning.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895344"/>
            <a:ext cx="8503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895344"/>
            <a:ext cx="54864" cy="7955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90688" y="4069080"/>
            <a:ext cx="804672" cy="2468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90688" y="406908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C"/>
                </a:solidFill>
              </a:rPr>
              <a:t>Low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395020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Boost Streak App Readiness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42793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Campaign dependency on seamless QR-to-gamification experience means app launch delays or poor UX will break consumer journey from OOH awareness to habit formation.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PANTHEON™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834640" y="2057400"/>
            <a:ext cx="3474720" cy="41148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17627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Synthetic Focus Group Research Engine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</a:rPr>
              <a:t>Powered by Anthropic Claude · Modal Serverless · Supabase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4160520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6A8"/>
                </a:solidFill>
              </a:rPr>
              <a:t>This report was generated using synthetic focus group simulation. All respondents are AI-synthesized personas. Results are for strategic guidance only.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681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A8"/>
                </a:solidFill>
              </a:rPr>
              <a:t>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Boost: The Urban Pulse — Metropolitan Indonesian Consumer Intelligence</dc:title>
  <dc:subject>PptxGenJS Presentation</dc:subject>
  <dc:creator>PANTHEON</dc:creator>
  <cp:lastModifiedBy>PANTHEON</cp:lastModifiedBy>
  <cp:revision>1</cp:revision>
  <dcterms:created xsi:type="dcterms:W3CDTF">2026-03-06T07:13:35Z</dcterms:created>
  <dcterms:modified xsi:type="dcterms:W3CDTF">2026-03-06T07:13:35Z</dcterms:modified>
</cp:coreProperties>
</file>