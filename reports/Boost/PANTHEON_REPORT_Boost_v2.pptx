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E8B04B"/>
          </a:solidFill>
          <a:ln w="12700">
            <a:solidFill>
              <a:srgbClr val="E8B04B"/>
            </a:solidFill>
            <a:prstDash val="solid"/>
          </a:ln>
        </p:spPr>
      </p:sp>
      <p:sp>
        <p:nvSpPr>
          <p:cNvPr id="3" name="Text 1"/>
          <p:cNvSpPr/>
          <p:nvPr/>
        </p:nvSpPr>
        <p:spPr>
          <a:xfrm>
            <a:off x="6400800" y="201168"/>
            <a:ext cx="2560320" cy="347472"/>
          </a:xfrm>
          <a:prstGeom prst="rect">
            <a:avLst/>
          </a:prstGeom>
          <a:noFill/>
          <a:ln/>
        </p:spPr>
        <p:txBody>
          <a:bodyPr wrap="square" rtlCol="0" anchor="ctr"/>
          <a:lstStyle/>
          <a:p>
            <a:pPr algn="r" indent="0" marL="0">
              <a:buNone/>
            </a:pPr>
            <a:r>
              <a:rPr lang="en-US" sz="1100" b="1" dirty="0">
                <a:solidFill>
                  <a:srgbClr val="E8B04B"/>
                </a:solidFill>
                <a:latin typeface="Calibri" pitchFamily="34" charset="0"/>
                <a:ea typeface="Calibri" pitchFamily="34" charset="-122"/>
                <a:cs typeface="Calibri" pitchFamily="34" charset="-120"/>
              </a:rPr>
              <a:t>PANTHEON™</a:t>
            </a:r>
            <a:endParaRPr lang="en-US" sz="1100" dirty="0"/>
          </a:p>
        </p:txBody>
      </p:sp>
      <p:sp>
        <p:nvSpPr>
          <p:cNvPr id="4" name="Text 2"/>
          <p:cNvSpPr/>
          <p:nvPr/>
        </p:nvSpPr>
        <p:spPr>
          <a:xfrm>
            <a:off x="411480" y="914400"/>
            <a:ext cx="8503920" cy="1417320"/>
          </a:xfrm>
          <a:prstGeom prst="rect">
            <a:avLst/>
          </a:prstGeom>
          <a:noFill/>
          <a:ln/>
        </p:spPr>
        <p:txBody>
          <a:bodyPr wrap="square" rtlCol="0" anchor="ctr"/>
          <a:lstStyle/>
          <a:p>
            <a:pPr indent="0" marL="0">
              <a:buNone/>
            </a:pPr>
            <a:r>
              <a:rPr lang="en-US" sz="3600" b="1" dirty="0">
                <a:solidFill>
                  <a:srgbClr val="F7F9FC"/>
                </a:solidFill>
                <a:latin typeface="Calibri" pitchFamily="34" charset="0"/>
                <a:ea typeface="Calibri" pitchFamily="34" charset="-122"/>
                <a:cs typeface="Calibri" pitchFamily="34" charset="-120"/>
              </a:rPr>
              <a:t>Boost "The Urban Pulse": Vietnamese &amp; Singaporean Consumer Insights</a:t>
            </a:r>
            <a:endParaRPr lang="en-US" sz="3600" dirty="0"/>
          </a:p>
        </p:txBody>
      </p:sp>
      <p:sp>
        <p:nvSpPr>
          <p:cNvPr id="5" name="Shape 3"/>
          <p:cNvSpPr/>
          <p:nvPr/>
        </p:nvSpPr>
        <p:spPr>
          <a:xfrm>
            <a:off x="411480" y="2487168"/>
            <a:ext cx="2560320" cy="41148"/>
          </a:xfrm>
          <a:prstGeom prst="rect">
            <a:avLst/>
          </a:prstGeom>
          <a:solidFill>
            <a:srgbClr val="E8B04B"/>
          </a:solidFill>
          <a:ln w="12700">
            <a:solidFill>
              <a:srgbClr val="E8B04B"/>
            </a:solidFill>
            <a:prstDash val="solid"/>
          </a:ln>
        </p:spPr>
      </p:sp>
      <p:sp>
        <p:nvSpPr>
          <p:cNvPr id="6" name="Text 4"/>
          <p:cNvSpPr/>
          <p:nvPr/>
        </p:nvSpPr>
        <p:spPr>
          <a:xfrm>
            <a:off x="411480" y="2624328"/>
            <a:ext cx="8412480" cy="713232"/>
          </a:xfrm>
          <a:prstGeom prst="rect">
            <a:avLst/>
          </a:prstGeom>
          <a:noFill/>
          <a:ln/>
        </p:spPr>
        <p:txBody>
          <a:bodyPr wrap="square" rtlCol="0" anchor="t"/>
          <a:lstStyle/>
          <a:p>
            <a:pPr indent="0" marL="0">
              <a:buNone/>
            </a:pPr>
            <a:r>
              <a:rPr lang="en-US" sz="1500" i="1" dirty="0">
                <a:solidFill>
                  <a:srgbClr val="CADCFC"/>
                </a:solidFill>
                <a:latin typeface="Calibri" pitchFamily="34" charset="0"/>
                <a:ea typeface="Calibri" pitchFamily="34" charset="-122"/>
                <a:cs typeface="Calibri" pitchFamily="34" charset="-120"/>
              </a:rPr>
              <a:t>Position Boost as science-backed functional nutrition for high-performance urban lifestyles, shifting perception from standard juice to productivity tool.</a:t>
            </a:r>
            <a:endParaRPr lang="en-US" sz="1500" dirty="0"/>
          </a:p>
        </p:txBody>
      </p:sp>
      <p:sp>
        <p:nvSpPr>
          <p:cNvPr id="7" name="Text 5"/>
          <p:cNvSpPr/>
          <p:nvPr/>
        </p:nvSpPr>
        <p:spPr>
          <a:xfrm>
            <a:off x="411480" y="3456432"/>
            <a:ext cx="7772400" cy="320040"/>
          </a:xfrm>
          <a:prstGeom prst="rect">
            <a:avLst/>
          </a:prstGeom>
          <a:noFill/>
          <a:ln/>
        </p:spPr>
        <p:txBody>
          <a:bodyPr wrap="square" rtlCol="0" anchor="ctr"/>
          <a:lstStyle/>
          <a:p>
            <a:pPr indent="0" marL="0">
              <a:buNone/>
            </a:pPr>
            <a:r>
              <a:rPr lang="en-US" sz="1100" dirty="0">
                <a:solidFill>
                  <a:srgbClr val="8896A8"/>
                </a:solidFill>
              </a:rPr>
              <a:t>Target Demographic: Vietnamese Metropolitan 21-35|Singapore Metropolitan 21-35</a:t>
            </a:r>
            <a:endParaRPr lang="en-US" sz="1100" dirty="0"/>
          </a:p>
        </p:txBody>
      </p:sp>
      <p:sp>
        <p:nvSpPr>
          <p:cNvPr id="8" name="Text 6"/>
          <p:cNvSpPr/>
          <p:nvPr/>
        </p:nvSpPr>
        <p:spPr>
          <a:xfrm>
            <a:off x="6583680" y="4681728"/>
            <a:ext cx="2377440" cy="274320"/>
          </a:xfrm>
          <a:prstGeom prst="rect">
            <a:avLst/>
          </a:prstGeom>
          <a:noFill/>
          <a:ln/>
        </p:spPr>
        <p:txBody>
          <a:bodyPr wrap="square" rtlCol="0" anchor="ctr"/>
          <a:lstStyle/>
          <a:p>
            <a:pPr algn="r" indent="0" marL="0">
              <a:buNone/>
            </a:pPr>
            <a:r>
              <a:rPr lang="en-US" sz="1000" dirty="0">
                <a:solidFill>
                  <a:srgbClr val="8896A8"/>
                </a:solidFill>
              </a:rPr>
              <a:t>March 2026</a:t>
            </a:r>
            <a:endParaRPr lang="en-US" sz="1000" dirty="0"/>
          </a:p>
        </p:txBody>
      </p:sp>
      <p:sp>
        <p:nvSpPr>
          <p:cNvPr id="9" name="Text 7"/>
          <p:cNvSpPr/>
          <p:nvPr/>
        </p:nvSpPr>
        <p:spPr>
          <a:xfrm>
            <a:off x="411480" y="4681728"/>
            <a:ext cx="4572000" cy="274320"/>
          </a:xfrm>
          <a:prstGeom prst="rect">
            <a:avLst/>
          </a:prstGeom>
          <a:noFill/>
          <a:ln/>
        </p:spPr>
        <p:txBody>
          <a:bodyPr wrap="square" rtlCol="0" anchor="ctr"/>
          <a:lstStyle/>
          <a:p>
            <a:pPr indent="0" marL="0">
              <a:buNone/>
            </a:pPr>
            <a:r>
              <a:rPr lang="en-US" sz="1000" dirty="0">
                <a:solidFill>
                  <a:srgbClr val="8896A8"/>
                </a:solidFill>
              </a:rPr>
              <a:t>Synthetic Focus Group Research</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Executive Summary</a:t>
            </a:r>
            <a:endParaRPr lang="en-US" sz="2200" dirty="0"/>
          </a:p>
        </p:txBody>
      </p:sp>
      <p:sp>
        <p:nvSpPr>
          <p:cNvPr id="5" name="Text 3"/>
          <p:cNvSpPr/>
          <p:nvPr/>
        </p:nvSpPr>
        <p:spPr>
          <a:xfrm>
            <a:off x="411480" y="749808"/>
            <a:ext cx="8503920" cy="384048"/>
          </a:xfrm>
          <a:prstGeom prst="rect">
            <a:avLst/>
          </a:prstGeom>
          <a:noFill/>
          <a:ln/>
        </p:spPr>
        <p:txBody>
          <a:bodyPr wrap="square" rtlCol="0" anchor="ctr"/>
          <a:lstStyle/>
          <a:p>
            <a:pPr indent="0" marL="0">
              <a:buNone/>
            </a:pPr>
            <a:r>
              <a:rPr lang="en-US" sz="1500" b="1" i="1" dirty="0">
                <a:solidFill>
                  <a:srgbClr val="1E2761"/>
                </a:solidFill>
                <a:latin typeface="Calibri" pitchFamily="34" charset="0"/>
                <a:ea typeface="Calibri" pitchFamily="34" charset="-122"/>
                <a:cs typeface="Calibri" pitchFamily="34" charset="-120"/>
              </a:rPr>
              <a:t>Class aspiration disguised as functional nutrition triggers inadequacy, not desire</a:t>
            </a:r>
            <a:endParaRPr lang="en-US" sz="1500" dirty="0"/>
          </a:p>
        </p:txBody>
      </p:sp>
      <p:sp>
        <p:nvSpPr>
          <p:cNvPr id="6" name="Shape 4"/>
          <p:cNvSpPr/>
          <p:nvPr/>
        </p:nvSpPr>
        <p:spPr>
          <a:xfrm>
            <a:off x="411480" y="1298448"/>
            <a:ext cx="54864" cy="365760"/>
          </a:xfrm>
          <a:prstGeom prst="rect">
            <a:avLst/>
          </a:prstGeom>
          <a:solidFill>
            <a:srgbClr val="E8B04B"/>
          </a:solidFill>
          <a:ln w="12700">
            <a:solidFill>
              <a:srgbClr val="E8B04B"/>
            </a:solidFill>
            <a:prstDash val="solid"/>
          </a:ln>
        </p:spPr>
      </p:sp>
      <p:sp>
        <p:nvSpPr>
          <p:cNvPr id="7" name="Text 5"/>
          <p:cNvSpPr/>
          <p:nvPr/>
        </p:nvSpPr>
        <p:spPr>
          <a:xfrm>
            <a:off x="566928" y="1261872"/>
            <a:ext cx="8229600" cy="512064"/>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Only 1 of 10 research respondents showed genuine purchase intent—and even this agent would buy occasionally, not daily</a:t>
            </a:r>
            <a:endParaRPr lang="en-US" sz="1300" dirty="0"/>
          </a:p>
        </p:txBody>
      </p:sp>
      <p:sp>
        <p:nvSpPr>
          <p:cNvPr id="8" name="Shape 6"/>
          <p:cNvSpPr/>
          <p:nvPr/>
        </p:nvSpPr>
        <p:spPr>
          <a:xfrm>
            <a:off x="411480" y="1984248"/>
            <a:ext cx="54864" cy="365760"/>
          </a:xfrm>
          <a:prstGeom prst="rect">
            <a:avLst/>
          </a:prstGeom>
          <a:solidFill>
            <a:srgbClr val="E8B04B"/>
          </a:solidFill>
          <a:ln w="12700">
            <a:solidFill>
              <a:srgbClr val="E8B04B"/>
            </a:solidFill>
            <a:prstDash val="solid"/>
          </a:ln>
        </p:spPr>
      </p:sp>
      <p:sp>
        <p:nvSpPr>
          <p:cNvPr id="9" name="Text 7"/>
          <p:cNvSpPr/>
          <p:nvPr/>
        </p:nvSpPr>
        <p:spPr>
          <a:xfrm>
            <a:off x="566928" y="1947672"/>
            <a:ext cx="8229600" cy="512064"/>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Science language functions as class purity test, creating vocabulary barriers that compound economic exclusion</a:t>
            </a:r>
            <a:endParaRPr lang="en-US" sz="1300" dirty="0"/>
          </a:p>
        </p:txBody>
      </p:sp>
      <p:sp>
        <p:nvSpPr>
          <p:cNvPr id="10" name="Shape 8"/>
          <p:cNvSpPr/>
          <p:nvPr/>
        </p:nvSpPr>
        <p:spPr>
          <a:xfrm>
            <a:off x="411480" y="2670048"/>
            <a:ext cx="54864" cy="365760"/>
          </a:xfrm>
          <a:prstGeom prst="rect">
            <a:avLst/>
          </a:prstGeom>
          <a:solidFill>
            <a:srgbClr val="E8B04B"/>
          </a:solidFill>
          <a:ln w="12700">
            <a:solidFill>
              <a:srgbClr val="E8B04B"/>
            </a:solidFill>
            <a:prstDash val="solid"/>
          </a:ln>
        </p:spPr>
      </p:sp>
      <p:sp>
        <p:nvSpPr>
          <p:cNvPr id="11" name="Text 9"/>
          <p:cNvSpPr/>
          <p:nvPr/>
        </p:nvSpPr>
        <p:spPr>
          <a:xfrm>
            <a:off x="566928" y="2633472"/>
            <a:ext cx="8229600" cy="512064"/>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Premium pricing triggers shame-based defensiveness in 70% of target demographic, manifesting as physical stress responses</a:t>
            </a:r>
            <a:endParaRPr lang="en-US" sz="1300" dirty="0"/>
          </a:p>
        </p:txBody>
      </p:sp>
      <p:sp>
        <p:nvSpPr>
          <p:cNvPr id="12" name="Shape 10"/>
          <p:cNvSpPr/>
          <p:nvPr/>
        </p:nvSpPr>
        <p:spPr>
          <a:xfrm>
            <a:off x="411480" y="3355848"/>
            <a:ext cx="54864" cy="365760"/>
          </a:xfrm>
          <a:prstGeom prst="rect">
            <a:avLst/>
          </a:prstGeom>
          <a:solidFill>
            <a:srgbClr val="E8B04B"/>
          </a:solidFill>
          <a:ln w="12700">
            <a:solidFill>
              <a:srgbClr val="E8B04B"/>
            </a:solidFill>
            <a:prstDash val="solid"/>
          </a:ln>
        </p:spPr>
      </p:sp>
      <p:sp>
        <p:nvSpPr>
          <p:cNvPr id="13" name="Text 11"/>
          <p:cNvSpPr/>
          <p:nvPr/>
        </p:nvSpPr>
        <p:spPr>
          <a:xfrm>
            <a:off x="566928" y="3319272"/>
            <a:ext cx="8229600" cy="512064"/>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Gamification mechanics punish schedule instability, alienating precarious workers who need affordable nutrition most</a:t>
            </a:r>
            <a:endParaRPr lang="en-US" sz="1300" dirty="0"/>
          </a:p>
        </p:txBody>
      </p:sp>
      <p:sp>
        <p:nvSpPr>
          <p:cNvPr id="14" name="Shape 12"/>
          <p:cNvSpPr/>
          <p:nvPr/>
        </p:nvSpPr>
        <p:spPr>
          <a:xfrm>
            <a:off x="411480" y="4041648"/>
            <a:ext cx="54864" cy="365760"/>
          </a:xfrm>
          <a:prstGeom prst="rect">
            <a:avLst/>
          </a:prstGeom>
          <a:solidFill>
            <a:srgbClr val="E8B04B"/>
          </a:solidFill>
          <a:ln w="12700">
            <a:solidFill>
              <a:srgbClr val="E8B04B"/>
            </a:solidFill>
            <a:prstDash val="solid"/>
          </a:ln>
        </p:spPr>
      </p:sp>
      <p:sp>
        <p:nvSpPr>
          <p:cNvPr id="15" name="Text 13"/>
          <p:cNvSpPr/>
          <p:nvPr/>
        </p:nvSpPr>
        <p:spPr>
          <a:xfrm>
            <a:off x="566928" y="4005072"/>
            <a:ext cx="8229600" cy="512064"/>
          </a:xfrm>
          <a:prstGeom prst="rect">
            <a:avLst/>
          </a:prstGeom>
          <a:noFill/>
          <a:ln/>
        </p:spPr>
        <p:txBody>
          <a:bodyPr wrap="square" rtlCol="0" anchor="ctr"/>
          <a:lstStyle/>
          <a:p>
            <a:pPr indent="0" marL="0">
              <a:buNone/>
            </a:pPr>
            <a:r>
              <a:rPr lang="en-US" sz="1300" dirty="0">
                <a:solidFill>
                  <a:srgbClr val="334155"/>
                </a:solidFill>
                <a:latin typeface="Calibri" pitchFamily="34" charset="0"/>
                <a:ea typeface="Calibri" pitchFamily="34" charset="-122"/>
                <a:cs typeface="Calibri" pitchFamily="34" charset="-120"/>
              </a:rPr>
              <a:t>Campaign assumes cosmopolitan identity comfort that doesn't exist in localist segments of Vietnamese market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Agenda</a:t>
            </a:r>
            <a:endParaRPr lang="en-US" sz="2200" dirty="0"/>
          </a:p>
        </p:txBody>
      </p:sp>
      <p:sp>
        <p:nvSpPr>
          <p:cNvPr id="5" name="Shape 3"/>
          <p:cNvSpPr/>
          <p:nvPr/>
        </p:nvSpPr>
        <p:spPr>
          <a:xfrm>
            <a:off x="411480" y="859536"/>
            <a:ext cx="310896" cy="310896"/>
          </a:xfrm>
          <a:prstGeom prst="rect">
            <a:avLst/>
          </a:prstGeom>
          <a:solidFill>
            <a:srgbClr val="E8B04B"/>
          </a:solidFill>
          <a:ln w="12700">
            <a:solidFill>
              <a:srgbClr val="E8B04B"/>
            </a:solidFill>
            <a:prstDash val="solid"/>
          </a:ln>
        </p:spPr>
      </p:sp>
      <p:sp>
        <p:nvSpPr>
          <p:cNvPr id="6" name="Text 4"/>
          <p:cNvSpPr/>
          <p:nvPr/>
        </p:nvSpPr>
        <p:spPr>
          <a:xfrm>
            <a:off x="411480" y="859536"/>
            <a:ext cx="310896" cy="310896"/>
          </a:xfrm>
          <a:prstGeom prst="rect">
            <a:avLst/>
          </a:prstGeom>
          <a:noFill/>
          <a:ln/>
        </p:spPr>
        <p:txBody>
          <a:bodyPr wrap="square" lIns="0" tIns="0" rIns="0" bIns="0" rtlCol="0" anchor="ctr"/>
          <a:lstStyle/>
          <a:p>
            <a:pPr algn="ctr" indent="0" marL="0">
              <a:buNone/>
            </a:pPr>
            <a:r>
              <a:rPr lang="en-US" sz="1200" b="1" dirty="0">
                <a:solidFill>
                  <a:srgbClr val="F7F9FC"/>
                </a:solidFill>
              </a:rPr>
              <a:t>1</a:t>
            </a:r>
            <a:endParaRPr lang="en-US" sz="1200" dirty="0"/>
          </a:p>
        </p:txBody>
      </p:sp>
      <p:sp>
        <p:nvSpPr>
          <p:cNvPr id="7" name="Text 5"/>
          <p:cNvSpPr/>
          <p:nvPr/>
        </p:nvSpPr>
        <p:spPr>
          <a:xfrm>
            <a:off x="841248" y="822960"/>
            <a:ext cx="8046720" cy="402336"/>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Market &amp; Demographic Context</a:t>
            </a:r>
            <a:endParaRPr lang="en-US" sz="1400" dirty="0"/>
          </a:p>
        </p:txBody>
      </p:sp>
      <p:sp>
        <p:nvSpPr>
          <p:cNvPr id="8" name="Shape 6"/>
          <p:cNvSpPr/>
          <p:nvPr/>
        </p:nvSpPr>
        <p:spPr>
          <a:xfrm>
            <a:off x="411480" y="1517904"/>
            <a:ext cx="310896" cy="310896"/>
          </a:xfrm>
          <a:prstGeom prst="rect">
            <a:avLst/>
          </a:prstGeom>
          <a:solidFill>
            <a:srgbClr val="1E2761"/>
          </a:solidFill>
          <a:ln w="12700">
            <a:solidFill>
              <a:srgbClr val="1E2761"/>
            </a:solidFill>
            <a:prstDash val="solid"/>
          </a:ln>
        </p:spPr>
      </p:sp>
      <p:sp>
        <p:nvSpPr>
          <p:cNvPr id="9" name="Text 7"/>
          <p:cNvSpPr/>
          <p:nvPr/>
        </p:nvSpPr>
        <p:spPr>
          <a:xfrm>
            <a:off x="411480" y="1517904"/>
            <a:ext cx="310896" cy="310896"/>
          </a:xfrm>
          <a:prstGeom prst="rect">
            <a:avLst/>
          </a:prstGeom>
          <a:noFill/>
          <a:ln/>
        </p:spPr>
        <p:txBody>
          <a:bodyPr wrap="square" lIns="0" tIns="0" rIns="0" bIns="0" rtlCol="0" anchor="ctr"/>
          <a:lstStyle/>
          <a:p>
            <a:pPr algn="ctr" indent="0" marL="0">
              <a:buNone/>
            </a:pPr>
            <a:r>
              <a:rPr lang="en-US" sz="1200" b="1" dirty="0">
                <a:solidFill>
                  <a:srgbClr val="F7F9FC"/>
                </a:solidFill>
              </a:rPr>
              <a:t>2</a:t>
            </a:r>
            <a:endParaRPr lang="en-US" sz="1200" dirty="0"/>
          </a:p>
        </p:txBody>
      </p:sp>
      <p:sp>
        <p:nvSpPr>
          <p:cNvPr id="10" name="Text 8"/>
          <p:cNvSpPr/>
          <p:nvPr/>
        </p:nvSpPr>
        <p:spPr>
          <a:xfrm>
            <a:off x="841248" y="1481328"/>
            <a:ext cx="8046720" cy="402336"/>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Audience Psychology &amp; Deep-Dive</a:t>
            </a:r>
            <a:endParaRPr lang="en-US" sz="1400" dirty="0"/>
          </a:p>
        </p:txBody>
      </p:sp>
      <p:sp>
        <p:nvSpPr>
          <p:cNvPr id="11" name="Shape 9"/>
          <p:cNvSpPr/>
          <p:nvPr/>
        </p:nvSpPr>
        <p:spPr>
          <a:xfrm>
            <a:off x="411480" y="2176272"/>
            <a:ext cx="310896" cy="310896"/>
          </a:xfrm>
          <a:prstGeom prst="rect">
            <a:avLst/>
          </a:prstGeom>
          <a:solidFill>
            <a:srgbClr val="E8B04B"/>
          </a:solidFill>
          <a:ln w="12700">
            <a:solidFill>
              <a:srgbClr val="E8B04B"/>
            </a:solidFill>
            <a:prstDash val="solid"/>
          </a:ln>
        </p:spPr>
      </p:sp>
      <p:sp>
        <p:nvSpPr>
          <p:cNvPr id="12" name="Text 10"/>
          <p:cNvSpPr/>
          <p:nvPr/>
        </p:nvSpPr>
        <p:spPr>
          <a:xfrm>
            <a:off x="411480" y="2176272"/>
            <a:ext cx="310896" cy="310896"/>
          </a:xfrm>
          <a:prstGeom prst="rect">
            <a:avLst/>
          </a:prstGeom>
          <a:noFill/>
          <a:ln/>
        </p:spPr>
        <p:txBody>
          <a:bodyPr wrap="square" lIns="0" tIns="0" rIns="0" bIns="0" rtlCol="0" anchor="ctr"/>
          <a:lstStyle/>
          <a:p>
            <a:pPr algn="ctr" indent="0" marL="0">
              <a:buNone/>
            </a:pPr>
            <a:r>
              <a:rPr lang="en-US" sz="1200" b="1" dirty="0">
                <a:solidFill>
                  <a:srgbClr val="F7F9FC"/>
                </a:solidFill>
              </a:rPr>
              <a:t>3</a:t>
            </a:r>
            <a:endParaRPr lang="en-US" sz="1200" dirty="0"/>
          </a:p>
        </p:txBody>
      </p:sp>
      <p:sp>
        <p:nvSpPr>
          <p:cNvPr id="13" name="Text 11"/>
          <p:cNvSpPr/>
          <p:nvPr/>
        </p:nvSpPr>
        <p:spPr>
          <a:xfrm>
            <a:off x="841248" y="2139696"/>
            <a:ext cx="8046720" cy="402336"/>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Consumer Response Analysis</a:t>
            </a:r>
            <a:endParaRPr lang="en-US" sz="1400" dirty="0"/>
          </a:p>
        </p:txBody>
      </p:sp>
      <p:sp>
        <p:nvSpPr>
          <p:cNvPr id="14" name="Shape 12"/>
          <p:cNvSpPr/>
          <p:nvPr/>
        </p:nvSpPr>
        <p:spPr>
          <a:xfrm>
            <a:off x="411480" y="2834640"/>
            <a:ext cx="310896" cy="310896"/>
          </a:xfrm>
          <a:prstGeom prst="rect">
            <a:avLst/>
          </a:prstGeom>
          <a:solidFill>
            <a:srgbClr val="1E2761"/>
          </a:solidFill>
          <a:ln w="12700">
            <a:solidFill>
              <a:srgbClr val="1E2761"/>
            </a:solidFill>
            <a:prstDash val="solid"/>
          </a:ln>
        </p:spPr>
      </p:sp>
      <p:sp>
        <p:nvSpPr>
          <p:cNvPr id="15" name="Text 13"/>
          <p:cNvSpPr/>
          <p:nvPr/>
        </p:nvSpPr>
        <p:spPr>
          <a:xfrm>
            <a:off x="411480" y="2834640"/>
            <a:ext cx="310896" cy="310896"/>
          </a:xfrm>
          <a:prstGeom prst="rect">
            <a:avLst/>
          </a:prstGeom>
          <a:noFill/>
          <a:ln/>
        </p:spPr>
        <p:txBody>
          <a:bodyPr wrap="square" lIns="0" tIns="0" rIns="0" bIns="0" rtlCol="0" anchor="ctr"/>
          <a:lstStyle/>
          <a:p>
            <a:pPr algn="ctr" indent="0" marL="0">
              <a:buNone/>
            </a:pPr>
            <a:r>
              <a:rPr lang="en-US" sz="1200" b="1" dirty="0">
                <a:solidFill>
                  <a:srgbClr val="F7F9FC"/>
                </a:solidFill>
              </a:rPr>
              <a:t>4</a:t>
            </a:r>
            <a:endParaRPr lang="en-US" sz="1200" dirty="0"/>
          </a:p>
        </p:txBody>
      </p:sp>
      <p:sp>
        <p:nvSpPr>
          <p:cNvPr id="16" name="Text 14"/>
          <p:cNvSpPr/>
          <p:nvPr/>
        </p:nvSpPr>
        <p:spPr>
          <a:xfrm>
            <a:off x="841248" y="2798064"/>
            <a:ext cx="8046720" cy="402336"/>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Key Insights &amp; Patterns</a:t>
            </a:r>
            <a:endParaRPr lang="en-US" sz="1400" dirty="0"/>
          </a:p>
        </p:txBody>
      </p:sp>
      <p:sp>
        <p:nvSpPr>
          <p:cNvPr id="17" name="Shape 15"/>
          <p:cNvSpPr/>
          <p:nvPr/>
        </p:nvSpPr>
        <p:spPr>
          <a:xfrm>
            <a:off x="411480" y="3493008"/>
            <a:ext cx="310896" cy="310896"/>
          </a:xfrm>
          <a:prstGeom prst="rect">
            <a:avLst/>
          </a:prstGeom>
          <a:solidFill>
            <a:srgbClr val="E8B04B"/>
          </a:solidFill>
          <a:ln w="12700">
            <a:solidFill>
              <a:srgbClr val="E8B04B"/>
            </a:solidFill>
            <a:prstDash val="solid"/>
          </a:ln>
        </p:spPr>
      </p:sp>
      <p:sp>
        <p:nvSpPr>
          <p:cNvPr id="18" name="Text 16"/>
          <p:cNvSpPr/>
          <p:nvPr/>
        </p:nvSpPr>
        <p:spPr>
          <a:xfrm>
            <a:off x="411480" y="3493008"/>
            <a:ext cx="310896" cy="310896"/>
          </a:xfrm>
          <a:prstGeom prst="rect">
            <a:avLst/>
          </a:prstGeom>
          <a:noFill/>
          <a:ln/>
        </p:spPr>
        <p:txBody>
          <a:bodyPr wrap="square" lIns="0" tIns="0" rIns="0" bIns="0" rtlCol="0" anchor="ctr"/>
          <a:lstStyle/>
          <a:p>
            <a:pPr algn="ctr" indent="0" marL="0">
              <a:buNone/>
            </a:pPr>
            <a:r>
              <a:rPr lang="en-US" sz="1200" b="1" dirty="0">
                <a:solidFill>
                  <a:srgbClr val="F7F9FC"/>
                </a:solidFill>
              </a:rPr>
              <a:t>5</a:t>
            </a:r>
            <a:endParaRPr lang="en-US" sz="1200" dirty="0"/>
          </a:p>
        </p:txBody>
      </p:sp>
      <p:sp>
        <p:nvSpPr>
          <p:cNvPr id="19" name="Text 17"/>
          <p:cNvSpPr/>
          <p:nvPr/>
        </p:nvSpPr>
        <p:spPr>
          <a:xfrm>
            <a:off x="841248" y="3456432"/>
            <a:ext cx="8046720" cy="402336"/>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Strategic Recommendations</a:t>
            </a:r>
            <a:endParaRPr lang="en-US" sz="1400" dirty="0"/>
          </a:p>
        </p:txBody>
      </p:sp>
      <p:sp>
        <p:nvSpPr>
          <p:cNvPr id="20" name="Shape 18"/>
          <p:cNvSpPr/>
          <p:nvPr/>
        </p:nvSpPr>
        <p:spPr>
          <a:xfrm>
            <a:off x="411480" y="4151376"/>
            <a:ext cx="310896" cy="310896"/>
          </a:xfrm>
          <a:prstGeom prst="rect">
            <a:avLst/>
          </a:prstGeom>
          <a:solidFill>
            <a:srgbClr val="1E2761"/>
          </a:solidFill>
          <a:ln w="12700">
            <a:solidFill>
              <a:srgbClr val="1E2761"/>
            </a:solidFill>
            <a:prstDash val="solid"/>
          </a:ln>
        </p:spPr>
      </p:sp>
      <p:sp>
        <p:nvSpPr>
          <p:cNvPr id="21" name="Text 19"/>
          <p:cNvSpPr/>
          <p:nvPr/>
        </p:nvSpPr>
        <p:spPr>
          <a:xfrm>
            <a:off x="411480" y="4151376"/>
            <a:ext cx="310896" cy="310896"/>
          </a:xfrm>
          <a:prstGeom prst="rect">
            <a:avLst/>
          </a:prstGeom>
          <a:noFill/>
          <a:ln/>
        </p:spPr>
        <p:txBody>
          <a:bodyPr wrap="square" lIns="0" tIns="0" rIns="0" bIns="0" rtlCol="0" anchor="ctr"/>
          <a:lstStyle/>
          <a:p>
            <a:pPr algn="ctr" indent="0" marL="0">
              <a:buNone/>
            </a:pPr>
            <a:r>
              <a:rPr lang="en-US" sz="1200" b="1" dirty="0">
                <a:solidFill>
                  <a:srgbClr val="F7F9FC"/>
                </a:solidFill>
              </a:rPr>
              <a:t>6</a:t>
            </a:r>
            <a:endParaRPr lang="en-US" sz="1200" dirty="0"/>
          </a:p>
        </p:txBody>
      </p:sp>
      <p:sp>
        <p:nvSpPr>
          <p:cNvPr id="22" name="Text 20"/>
          <p:cNvSpPr/>
          <p:nvPr/>
        </p:nvSpPr>
        <p:spPr>
          <a:xfrm>
            <a:off x="841248" y="4114800"/>
            <a:ext cx="8046720" cy="402336"/>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Risk Assessment &amp; Kill Switch Signals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Market &amp; Demographic Context</a:t>
            </a:r>
            <a:endParaRPr lang="en-US" sz="2200" dirty="0"/>
          </a:p>
        </p:txBody>
      </p:sp>
      <p:sp>
        <p:nvSpPr>
          <p:cNvPr id="5" name="Text 3"/>
          <p:cNvSpPr/>
          <p:nvPr/>
        </p:nvSpPr>
        <p:spPr>
          <a:xfrm>
            <a:off x="411480" y="749808"/>
            <a:ext cx="8503920" cy="365760"/>
          </a:xfrm>
          <a:prstGeom prst="rect">
            <a:avLst/>
          </a:prstGeom>
          <a:noFill/>
          <a:ln/>
        </p:spPr>
        <p:txBody>
          <a:bodyPr wrap="square" rtlCol="0" anchor="ctr"/>
          <a:lstStyle/>
          <a:p>
            <a:pPr indent="0" marL="0">
              <a:buNone/>
            </a:pPr>
            <a:r>
              <a:rPr lang="en-US" sz="1500" b="1" i="1" dirty="0">
                <a:solidFill>
                  <a:srgbClr val="1E2761"/>
                </a:solidFill>
              </a:rPr>
              <a:t>High-stress metropolitan cultures demand functional wellness, but not at identity cost</a:t>
            </a:r>
            <a:endParaRPr lang="en-US" sz="1500" dirty="0"/>
          </a:p>
        </p:txBody>
      </p:sp>
      <p:sp>
        <p:nvSpPr>
          <p:cNvPr id="6" name="Shape 4"/>
          <p:cNvSpPr/>
          <p:nvPr/>
        </p:nvSpPr>
        <p:spPr>
          <a:xfrm>
            <a:off x="411480" y="1234440"/>
            <a:ext cx="2670048" cy="1261872"/>
          </a:xfrm>
          <a:prstGeom prst="rect">
            <a:avLst/>
          </a:prstGeom>
          <a:solidFill>
            <a:srgbClr val="1E2761"/>
          </a:solidFill>
          <a:ln w="12700">
            <a:solidFill>
              <a:srgbClr val="1E2761"/>
            </a:solidFill>
            <a:prstDash val="solid"/>
          </a:ln>
        </p:spPr>
      </p:sp>
      <p:sp>
        <p:nvSpPr>
          <p:cNvPr id="7" name="Text 5"/>
          <p:cNvSpPr/>
          <p:nvPr/>
        </p:nvSpPr>
        <p:spPr>
          <a:xfrm>
            <a:off x="502920" y="1261872"/>
            <a:ext cx="2487168" cy="1207008"/>
          </a:xfrm>
          <a:prstGeom prst="rect">
            <a:avLst/>
          </a:prstGeom>
          <a:noFill/>
          <a:ln/>
        </p:spPr>
        <p:txBody>
          <a:bodyPr wrap="square"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Target category: Functional nutrition/cold-pressed juice positioned as productivity and biohacking tool</a:t>
            </a:r>
            <a:endParaRPr lang="en-US" sz="1300" dirty="0"/>
          </a:p>
        </p:txBody>
      </p:sp>
      <p:sp>
        <p:nvSpPr>
          <p:cNvPr id="8" name="Shape 6"/>
          <p:cNvSpPr/>
          <p:nvPr/>
        </p:nvSpPr>
        <p:spPr>
          <a:xfrm>
            <a:off x="3264408" y="1234440"/>
            <a:ext cx="2670048" cy="1261872"/>
          </a:xfrm>
          <a:prstGeom prst="rect">
            <a:avLst/>
          </a:prstGeom>
          <a:solidFill>
            <a:srgbClr val="1E2761"/>
          </a:solidFill>
          <a:ln w="12700">
            <a:solidFill>
              <a:srgbClr val="1E2761"/>
            </a:solidFill>
            <a:prstDash val="solid"/>
          </a:ln>
        </p:spPr>
      </p:sp>
      <p:sp>
        <p:nvSpPr>
          <p:cNvPr id="9" name="Text 7"/>
          <p:cNvSpPr/>
          <p:nvPr/>
        </p:nvSpPr>
        <p:spPr>
          <a:xfrm>
            <a:off x="3355848" y="1261872"/>
            <a:ext cx="2487168" cy="1207008"/>
          </a:xfrm>
          <a:prstGeom prst="rect">
            <a:avLst/>
          </a:prstGeom>
          <a:noFill/>
          <a:ln/>
        </p:spPr>
        <p:txBody>
          <a:bodyPr wrap="square"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White space identified: Juice as strict performance fuel vs. generic organic wellness claims</a:t>
            </a:r>
            <a:endParaRPr lang="en-US" sz="1300" dirty="0"/>
          </a:p>
        </p:txBody>
      </p:sp>
      <p:sp>
        <p:nvSpPr>
          <p:cNvPr id="10" name="Shape 8"/>
          <p:cNvSpPr/>
          <p:nvPr/>
        </p:nvSpPr>
        <p:spPr>
          <a:xfrm>
            <a:off x="6117336" y="1234440"/>
            <a:ext cx="2670048" cy="1261872"/>
          </a:xfrm>
          <a:prstGeom prst="rect">
            <a:avLst/>
          </a:prstGeom>
          <a:solidFill>
            <a:srgbClr val="1E2761"/>
          </a:solidFill>
          <a:ln w="12700">
            <a:solidFill>
              <a:srgbClr val="1E2761"/>
            </a:solidFill>
            <a:prstDash val="solid"/>
          </a:ln>
        </p:spPr>
      </p:sp>
      <p:sp>
        <p:nvSpPr>
          <p:cNvPr id="11" name="Text 9"/>
          <p:cNvSpPr/>
          <p:nvPr/>
        </p:nvSpPr>
        <p:spPr>
          <a:xfrm>
            <a:off x="6208776" y="1261872"/>
            <a:ext cx="2487168" cy="1207008"/>
          </a:xfrm>
          <a:prstGeom prst="rect">
            <a:avLst/>
          </a:prstGeom>
          <a:noFill/>
          <a:ln/>
        </p:spPr>
        <p:txBody>
          <a:bodyPr wrap="square"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Cultural context: Corporate metropolitan professionals seeking instant energy and seamless wellness integration</a:t>
            </a:r>
            <a:endParaRPr lang="en-US" sz="1300" dirty="0"/>
          </a:p>
        </p:txBody>
      </p:sp>
      <p:sp>
        <p:nvSpPr>
          <p:cNvPr id="12" name="Text 10"/>
          <p:cNvSpPr/>
          <p:nvPr/>
        </p:nvSpPr>
        <p:spPr>
          <a:xfrm>
            <a:off x="411480" y="2651760"/>
            <a:ext cx="8503920" cy="2240280"/>
          </a:xfrm>
          <a:prstGeom prst="rect">
            <a:avLst/>
          </a:prstGeom>
          <a:noFill/>
          <a:ln/>
        </p:spPr>
        <p:txBody>
          <a:bodyPr wrap="square" rtlCol="0" anchor="t"/>
          <a:lstStyle/>
          <a:p>
            <a:pPr indent="0" marL="0">
              <a:buNone/>
            </a:pPr>
            <a:r>
              <a:rPr lang="en-US" sz="1200" dirty="0">
                <a:solidFill>
                  <a:srgbClr val="334155"/>
                </a:solidFill>
                <a:latin typeface="Calibri" pitchFamily="34" charset="0"/>
                <a:ea typeface="Calibri" pitchFamily="34" charset="-122"/>
                <a:cs typeface="Calibri" pitchFamily="34" charset="-120"/>
              </a:rPr>
              <a:t>Boost enters a market demanding performance-enhancing urban fuel for back-to-back schedules. The competitive threat is generic 'organic' juices lacking targeted functional benefits. However, Vietnamese and Singaporean metropolitan consumers aged 21-35 experience high-stress corporate culture alongside deep sensitivity to class signaling and cultural authenticity.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Audience Psychology &amp; Deep-Dive</a:t>
            </a:r>
            <a:endParaRPr lang="en-US" sz="2200" dirty="0"/>
          </a:p>
        </p:txBody>
      </p:sp>
      <p:sp>
        <p:nvSpPr>
          <p:cNvPr id="5" name="Text 3"/>
          <p:cNvSpPr/>
          <p:nvPr/>
        </p:nvSpPr>
        <p:spPr>
          <a:xfrm>
            <a:off x="411480" y="749808"/>
            <a:ext cx="8503920" cy="365760"/>
          </a:xfrm>
          <a:prstGeom prst="rect">
            <a:avLst/>
          </a:prstGeom>
          <a:noFill/>
          <a:ln/>
        </p:spPr>
        <p:txBody>
          <a:bodyPr wrap="square" rtlCol="0" anchor="ctr"/>
          <a:lstStyle/>
          <a:p>
            <a:pPr indent="0" marL="0">
              <a:buNone/>
            </a:pPr>
            <a:r>
              <a:rPr lang="en-US" sz="1500" b="1" i="1" dirty="0">
                <a:solidFill>
                  <a:srgbClr val="1E2761"/>
                </a:solidFill>
              </a:rPr>
              <a:t>Only 10% of target demographic receptive—and conditional</a:t>
            </a:r>
            <a:endParaRPr lang="en-US" sz="1500" dirty="0"/>
          </a:p>
        </p:txBody>
      </p:sp>
      <p:sp>
        <p:nvSpPr>
          <p:cNvPr id="6" name="Shape 4"/>
          <p:cNvSpPr/>
          <p:nvPr/>
        </p:nvSpPr>
        <p:spPr>
          <a:xfrm>
            <a:off x="411480" y="1234440"/>
            <a:ext cx="2682240" cy="3639312"/>
          </a:xfrm>
          <a:prstGeom prst="rect">
            <a:avLst/>
          </a:prstGeom>
          <a:solidFill>
            <a:srgbClr val="F0F4F8"/>
          </a:solidFill>
          <a:ln w="12700">
            <a:solidFill>
              <a:srgbClr val="E2E8F0"/>
            </a:solidFill>
            <a:prstDash val="solid"/>
          </a:ln>
        </p:spPr>
      </p:sp>
      <p:sp>
        <p:nvSpPr>
          <p:cNvPr id="7" name="Shape 5"/>
          <p:cNvSpPr/>
          <p:nvPr/>
        </p:nvSpPr>
        <p:spPr>
          <a:xfrm>
            <a:off x="411480" y="1234440"/>
            <a:ext cx="2682240" cy="292608"/>
          </a:xfrm>
          <a:prstGeom prst="rect">
            <a:avLst/>
          </a:prstGeom>
          <a:solidFill>
            <a:srgbClr val="1E2761"/>
          </a:solidFill>
          <a:ln w="12700">
            <a:solidFill>
              <a:srgbClr val="1E2761"/>
            </a:solidFill>
            <a:prstDash val="solid"/>
          </a:ln>
        </p:spPr>
      </p:sp>
      <p:sp>
        <p:nvSpPr>
          <p:cNvPr id="8" name="Text 6"/>
          <p:cNvSpPr/>
          <p:nvPr/>
        </p:nvSpPr>
        <p:spPr>
          <a:xfrm>
            <a:off x="484632" y="1234440"/>
            <a:ext cx="2535936" cy="292608"/>
          </a:xfrm>
          <a:prstGeom prst="rect">
            <a:avLst/>
          </a:prstGeom>
          <a:noFill/>
          <a:ln/>
        </p:spPr>
        <p:txBody>
          <a:bodyPr wrap="square" lIns="0" tIns="0" rIns="0" bIns="0" rtlCol="0" anchor="ctr"/>
          <a:lstStyle/>
          <a:p>
            <a:pPr indent="0" marL="0">
              <a:buNone/>
            </a:pPr>
            <a:r>
              <a:rPr lang="en-US" sz="1100" b="1" dirty="0">
                <a:solidFill>
                  <a:srgbClr val="F7F9FC"/>
                </a:solidFill>
              </a:rPr>
              <a:t>The Optimization Convert</a:t>
            </a:r>
            <a:endParaRPr lang="en-US" sz="1100" dirty="0"/>
          </a:p>
        </p:txBody>
      </p:sp>
      <p:sp>
        <p:nvSpPr>
          <p:cNvPr id="9" name="Text 7"/>
          <p:cNvSpPr/>
          <p:nvPr/>
        </p:nvSpPr>
        <p:spPr>
          <a:xfrm>
            <a:off x="484632" y="1609344"/>
            <a:ext cx="2535936" cy="274320"/>
          </a:xfrm>
          <a:prstGeom prst="rect">
            <a:avLst/>
          </a:prstGeom>
          <a:noFill/>
          <a:ln/>
        </p:spPr>
        <p:txBody>
          <a:bodyPr wrap="square" rtlCol="0" anchor="ctr"/>
          <a:lstStyle/>
          <a:p>
            <a:pPr indent="0" marL="0">
              <a:buNone/>
            </a:pPr>
            <a:r>
              <a:rPr lang="en-US" sz="1000" b="1" dirty="0">
                <a:solidFill>
                  <a:srgbClr val="E8B04B"/>
                </a:solidFill>
              </a:rPr>
              <a:t>Age: 24-32</a:t>
            </a:r>
            <a:endParaRPr lang="en-US" sz="1000" dirty="0"/>
          </a:p>
        </p:txBody>
      </p:sp>
      <p:sp>
        <p:nvSpPr>
          <p:cNvPr id="10" name="Text 8"/>
          <p:cNvSpPr/>
          <p:nvPr/>
        </p:nvSpPr>
        <p:spPr>
          <a:xfrm>
            <a:off x="484632" y="1938528"/>
            <a:ext cx="2535936" cy="283464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Startup/tech professionals financially secure enough to intellectualize premium pricing. Immersed in biohacking discourse, appreciates marketing craft, but purchases occasionally for high-stakes performance, not daily. Agent 25/Da Nang represents sole positive signal: Temperature 7/10, Intent 'click' not 'purchase.'</a:t>
            </a:r>
            <a:endParaRPr lang="en-US" sz="1100" dirty="0"/>
          </a:p>
        </p:txBody>
      </p:sp>
      <p:sp>
        <p:nvSpPr>
          <p:cNvPr id="11" name="Shape 9"/>
          <p:cNvSpPr/>
          <p:nvPr/>
        </p:nvSpPr>
        <p:spPr>
          <a:xfrm>
            <a:off x="3185160" y="1234440"/>
            <a:ext cx="2682240" cy="3639312"/>
          </a:xfrm>
          <a:prstGeom prst="rect">
            <a:avLst/>
          </a:prstGeom>
          <a:solidFill>
            <a:srgbClr val="F0F4F8"/>
          </a:solidFill>
          <a:ln w="12700">
            <a:solidFill>
              <a:srgbClr val="E2E8F0"/>
            </a:solidFill>
            <a:prstDash val="solid"/>
          </a:ln>
        </p:spPr>
      </p:sp>
      <p:sp>
        <p:nvSpPr>
          <p:cNvPr id="12" name="Shape 10"/>
          <p:cNvSpPr/>
          <p:nvPr/>
        </p:nvSpPr>
        <p:spPr>
          <a:xfrm>
            <a:off x="3185160" y="1234440"/>
            <a:ext cx="2682240" cy="292608"/>
          </a:xfrm>
          <a:prstGeom prst="rect">
            <a:avLst/>
          </a:prstGeom>
          <a:solidFill>
            <a:srgbClr val="1E2761"/>
          </a:solidFill>
          <a:ln w="12700">
            <a:solidFill>
              <a:srgbClr val="1E2761"/>
            </a:solidFill>
            <a:prstDash val="solid"/>
          </a:ln>
        </p:spPr>
      </p:sp>
      <p:sp>
        <p:nvSpPr>
          <p:cNvPr id="13" name="Text 11"/>
          <p:cNvSpPr/>
          <p:nvPr/>
        </p:nvSpPr>
        <p:spPr>
          <a:xfrm>
            <a:off x="3258312" y="1234440"/>
            <a:ext cx="2535936" cy="292608"/>
          </a:xfrm>
          <a:prstGeom prst="rect">
            <a:avLst/>
          </a:prstGeom>
          <a:noFill/>
          <a:ln/>
        </p:spPr>
        <p:txBody>
          <a:bodyPr wrap="square" lIns="0" tIns="0" rIns="0" bIns="0" rtlCol="0" anchor="ctr"/>
          <a:lstStyle/>
          <a:p>
            <a:pPr indent="0" marL="0">
              <a:buNone/>
            </a:pPr>
            <a:r>
              <a:rPr lang="en-US" sz="1100" b="1" dirty="0">
                <a:solidFill>
                  <a:srgbClr val="F7F9FC"/>
                </a:solidFill>
              </a:rPr>
              <a:t>The Strategic Skeptic</a:t>
            </a:r>
            <a:endParaRPr lang="en-US" sz="1100" dirty="0"/>
          </a:p>
        </p:txBody>
      </p:sp>
      <p:sp>
        <p:nvSpPr>
          <p:cNvPr id="14" name="Text 12"/>
          <p:cNvSpPr/>
          <p:nvPr/>
        </p:nvSpPr>
        <p:spPr>
          <a:xfrm>
            <a:off x="3258312" y="1609344"/>
            <a:ext cx="2535936" cy="274320"/>
          </a:xfrm>
          <a:prstGeom prst="rect">
            <a:avLst/>
          </a:prstGeom>
          <a:noFill/>
          <a:ln/>
        </p:spPr>
        <p:txBody>
          <a:bodyPr wrap="square" rtlCol="0" anchor="ctr"/>
          <a:lstStyle/>
          <a:p>
            <a:pPr indent="0" marL="0">
              <a:buNone/>
            </a:pPr>
            <a:r>
              <a:rPr lang="en-US" sz="1000" b="1" dirty="0">
                <a:solidFill>
                  <a:srgbClr val="E8B04B"/>
                </a:solidFill>
              </a:rPr>
              <a:t>Age: 22-28</a:t>
            </a:r>
            <a:endParaRPr lang="en-US" sz="1000" dirty="0"/>
          </a:p>
        </p:txBody>
      </p:sp>
      <p:sp>
        <p:nvSpPr>
          <p:cNvPr id="15" name="Text 13"/>
          <p:cNvSpPr/>
          <p:nvPr/>
        </p:nvSpPr>
        <p:spPr>
          <a:xfrm>
            <a:off x="3258312" y="1938528"/>
            <a:ext cx="2535936" cy="283464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Knowledge workers with intellectual appreciation for campaign mechanics but personal purchase resistance. Reads science language as 'margin expansion theater.' Will convert only if repositioned from daily necessity to strategic occasion fuel (exam week, critical presentations). Agent 24/Hanoi: Temperature 6/10, Intent 'glance.'</a:t>
            </a:r>
            <a:endParaRPr lang="en-US" sz="1100" dirty="0"/>
          </a:p>
        </p:txBody>
      </p:sp>
      <p:sp>
        <p:nvSpPr>
          <p:cNvPr id="16" name="Shape 14"/>
          <p:cNvSpPr/>
          <p:nvPr/>
        </p:nvSpPr>
        <p:spPr>
          <a:xfrm>
            <a:off x="5958840" y="1234440"/>
            <a:ext cx="2682240" cy="3639312"/>
          </a:xfrm>
          <a:prstGeom prst="rect">
            <a:avLst/>
          </a:prstGeom>
          <a:solidFill>
            <a:srgbClr val="F0F4F8"/>
          </a:solidFill>
          <a:ln w="12700">
            <a:solidFill>
              <a:srgbClr val="E2E8F0"/>
            </a:solidFill>
            <a:prstDash val="solid"/>
          </a:ln>
        </p:spPr>
      </p:sp>
      <p:sp>
        <p:nvSpPr>
          <p:cNvPr id="17" name="Shape 15"/>
          <p:cNvSpPr/>
          <p:nvPr/>
        </p:nvSpPr>
        <p:spPr>
          <a:xfrm>
            <a:off x="5958840" y="1234440"/>
            <a:ext cx="2682240" cy="292608"/>
          </a:xfrm>
          <a:prstGeom prst="rect">
            <a:avLst/>
          </a:prstGeom>
          <a:solidFill>
            <a:srgbClr val="1E2761"/>
          </a:solidFill>
          <a:ln w="12700">
            <a:solidFill>
              <a:srgbClr val="1E2761"/>
            </a:solidFill>
            <a:prstDash val="solid"/>
          </a:ln>
        </p:spPr>
      </p:sp>
      <p:sp>
        <p:nvSpPr>
          <p:cNvPr id="18" name="Text 16"/>
          <p:cNvSpPr/>
          <p:nvPr/>
        </p:nvSpPr>
        <p:spPr>
          <a:xfrm>
            <a:off x="6031992" y="1234440"/>
            <a:ext cx="2535936" cy="292608"/>
          </a:xfrm>
          <a:prstGeom prst="rect">
            <a:avLst/>
          </a:prstGeom>
          <a:noFill/>
          <a:ln/>
        </p:spPr>
        <p:txBody>
          <a:bodyPr wrap="square" lIns="0" tIns="0" rIns="0" bIns="0" rtlCol="0" anchor="ctr"/>
          <a:lstStyle/>
          <a:p>
            <a:pPr indent="0" marL="0">
              <a:buNone/>
            </a:pPr>
            <a:r>
              <a:rPr lang="en-US" sz="1100" b="1" dirty="0">
                <a:solidFill>
                  <a:srgbClr val="F7F9FC"/>
                </a:solidFill>
              </a:rPr>
              <a:t>The Excluded Majority</a:t>
            </a:r>
            <a:endParaRPr lang="en-US" sz="1100" dirty="0"/>
          </a:p>
        </p:txBody>
      </p:sp>
      <p:sp>
        <p:nvSpPr>
          <p:cNvPr id="19" name="Text 17"/>
          <p:cNvSpPr/>
          <p:nvPr/>
        </p:nvSpPr>
        <p:spPr>
          <a:xfrm>
            <a:off x="6031992" y="1609344"/>
            <a:ext cx="2535936" cy="274320"/>
          </a:xfrm>
          <a:prstGeom prst="rect">
            <a:avLst/>
          </a:prstGeom>
          <a:noFill/>
          <a:ln/>
        </p:spPr>
        <p:txBody>
          <a:bodyPr wrap="square" rtlCol="0" anchor="ctr"/>
          <a:lstStyle/>
          <a:p>
            <a:pPr indent="0" marL="0">
              <a:buNone/>
            </a:pPr>
            <a:r>
              <a:rPr lang="en-US" sz="1000" b="1" dirty="0">
                <a:solidFill>
                  <a:srgbClr val="E8B04B"/>
                </a:solidFill>
              </a:rPr>
              <a:t>Age: 21-35</a:t>
            </a:r>
            <a:endParaRPr lang="en-US" sz="1000" dirty="0"/>
          </a:p>
        </p:txBody>
      </p:sp>
      <p:sp>
        <p:nvSpPr>
          <p:cNvPr id="20" name="Text 18"/>
          <p:cNvSpPr/>
          <p:nvPr/>
        </p:nvSpPr>
        <p:spPr>
          <a:xfrm>
            <a:off x="6031992" y="1938528"/>
            <a:ext cx="2535936" cy="283464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70% of sample. Experiences pricing as accusation of inadequacy, triggering shame-based defensiveness and physical stress responses. Vocabulary barriers ('fancy English science words') compound economic exclusion. Reads campaign as imported cultural colonization, not aspiration. Agent 28/HCMC: hands shaking, needs to stop talking.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Consumer Response Analysis</a:t>
            </a:r>
            <a:endParaRPr lang="en-US" sz="2200" dirty="0"/>
          </a:p>
        </p:txBody>
      </p:sp>
      <p:sp>
        <p:nvSpPr>
          <p:cNvPr id="5" name="Text 3"/>
          <p:cNvSpPr/>
          <p:nvPr/>
        </p:nvSpPr>
        <p:spPr>
          <a:xfrm>
            <a:off x="411480" y="749808"/>
            <a:ext cx="8503920" cy="365760"/>
          </a:xfrm>
          <a:prstGeom prst="rect">
            <a:avLst/>
          </a:prstGeom>
          <a:noFill/>
          <a:ln/>
        </p:spPr>
        <p:txBody>
          <a:bodyPr wrap="square" rtlCol="0" anchor="ctr"/>
          <a:lstStyle/>
          <a:p>
            <a:pPr indent="0" marL="0">
              <a:buNone/>
            </a:pPr>
            <a:r>
              <a:rPr lang="en-US" sz="1500" b="1" i="1" dirty="0">
                <a:solidFill>
                  <a:srgbClr val="1E2761"/>
                </a:solidFill>
              </a:rPr>
              <a:t>Receptivity crisis: 90% of sample shows active resistance signals</a:t>
            </a:r>
            <a:endParaRPr lang="en-US" sz="1500" dirty="0"/>
          </a:p>
        </p:txBody>
      </p:sp>
      <p:sp>
        <p:nvSpPr>
          <p:cNvPr id="6" name="Shape 4"/>
          <p:cNvSpPr/>
          <p:nvPr/>
        </p:nvSpPr>
        <p:spPr>
          <a:xfrm>
            <a:off x="411480" y="1234440"/>
            <a:ext cx="8503920" cy="795528"/>
          </a:xfrm>
          <a:prstGeom prst="rect">
            <a:avLst/>
          </a:prstGeom>
          <a:solidFill>
            <a:srgbClr val="F8FAFC"/>
          </a:solidFill>
          <a:ln w="12700">
            <a:solidFill>
              <a:srgbClr val="E2E8F0"/>
            </a:solidFill>
            <a:prstDash val="solid"/>
          </a:ln>
        </p:spPr>
      </p:sp>
      <p:sp>
        <p:nvSpPr>
          <p:cNvPr id="7" name="Shape 5"/>
          <p:cNvSpPr/>
          <p:nvPr/>
        </p:nvSpPr>
        <p:spPr>
          <a:xfrm>
            <a:off x="411480" y="1234440"/>
            <a:ext cx="54864" cy="795528"/>
          </a:xfrm>
          <a:prstGeom prst="rect">
            <a:avLst/>
          </a:prstGeom>
          <a:solidFill>
            <a:srgbClr val="E8B04B"/>
          </a:solidFill>
          <a:ln w="12700">
            <a:solidFill>
              <a:srgbClr val="E8B04B"/>
            </a:solidFill>
            <a:prstDash val="solid"/>
          </a:ln>
        </p:spPr>
      </p:sp>
      <p:sp>
        <p:nvSpPr>
          <p:cNvPr id="8" name="Text 6"/>
          <p:cNvSpPr/>
          <p:nvPr/>
        </p:nvSpPr>
        <p:spPr>
          <a:xfrm>
            <a:off x="566928" y="1289304"/>
            <a:ext cx="1645920" cy="292608"/>
          </a:xfrm>
          <a:prstGeom prst="rect">
            <a:avLst/>
          </a:prstGeom>
          <a:noFill/>
          <a:ln/>
        </p:spPr>
        <p:txBody>
          <a:bodyPr wrap="square" rtlCol="0" anchor="ctr"/>
          <a:lstStyle/>
          <a:p>
            <a:pPr indent="0" marL="0">
              <a:buNone/>
            </a:pPr>
            <a:r>
              <a:rPr lang="en-US" sz="1000" b="1" dirty="0">
                <a:solidFill>
                  <a:srgbClr val="8896A8"/>
                </a:solidFill>
              </a:rPr>
              <a:t>Purchase Intent (Positive)</a:t>
            </a:r>
            <a:endParaRPr lang="en-US" sz="1000" dirty="0"/>
          </a:p>
        </p:txBody>
      </p:sp>
      <p:sp>
        <p:nvSpPr>
          <p:cNvPr id="9" name="Text 7"/>
          <p:cNvSpPr/>
          <p:nvPr/>
        </p:nvSpPr>
        <p:spPr>
          <a:xfrm>
            <a:off x="2331720" y="1271016"/>
            <a:ext cx="1097280" cy="347472"/>
          </a:xfrm>
          <a:prstGeom prst="rect">
            <a:avLst/>
          </a:prstGeom>
          <a:noFill/>
          <a:ln/>
        </p:spPr>
        <p:txBody>
          <a:bodyPr wrap="square" rtlCol="0" anchor="ctr"/>
          <a:lstStyle/>
          <a:p>
            <a:pPr algn="ctr" indent="0" marL="0">
              <a:buNone/>
            </a:pPr>
            <a:r>
              <a:rPr lang="en-US" sz="1800" b="1" dirty="0">
                <a:solidFill>
                  <a:srgbClr val="1E2761"/>
                </a:solidFill>
              </a:rPr>
              <a:t>10%</a:t>
            </a:r>
            <a:endParaRPr lang="en-US" sz="1800" dirty="0"/>
          </a:p>
        </p:txBody>
      </p:sp>
      <p:sp>
        <p:nvSpPr>
          <p:cNvPr id="10" name="Text 8"/>
          <p:cNvSpPr/>
          <p:nvPr/>
        </p:nvSpPr>
        <p:spPr>
          <a:xfrm>
            <a:off x="566928" y="1636776"/>
            <a:ext cx="8138160" cy="329184"/>
          </a:xfrm>
          <a:prstGeom prst="rect">
            <a:avLst/>
          </a:prstGeom>
          <a:noFill/>
          <a:ln/>
        </p:spPr>
        <p:txBody>
          <a:bodyPr wrap="square" rtlCol="0" anchor="ctr"/>
          <a:lstStyle/>
          <a:p>
            <a:pPr indent="0" marL="0">
              <a:buNone/>
            </a:pPr>
            <a:r>
              <a:rPr lang="en-US" sz="1100" dirty="0">
                <a:solidFill>
                  <a:srgbClr val="334155"/>
                </a:solidFill>
              </a:rPr>
              <a:t>Single agent (25/Da Nang) showed conversion intent, but conditional and occasion-based, not daily ritual despite campaign positioning.</a:t>
            </a:r>
            <a:endParaRPr lang="en-US" sz="1100" dirty="0"/>
          </a:p>
        </p:txBody>
      </p:sp>
      <p:sp>
        <p:nvSpPr>
          <p:cNvPr id="11" name="Shape 9"/>
          <p:cNvSpPr/>
          <p:nvPr/>
        </p:nvSpPr>
        <p:spPr>
          <a:xfrm>
            <a:off x="411480" y="2121408"/>
            <a:ext cx="8503920" cy="795528"/>
          </a:xfrm>
          <a:prstGeom prst="rect">
            <a:avLst/>
          </a:prstGeom>
          <a:solidFill>
            <a:srgbClr val="F8FAFC"/>
          </a:solidFill>
          <a:ln w="12700">
            <a:solidFill>
              <a:srgbClr val="E2E8F0"/>
            </a:solidFill>
            <a:prstDash val="solid"/>
          </a:ln>
        </p:spPr>
      </p:sp>
      <p:sp>
        <p:nvSpPr>
          <p:cNvPr id="12" name="Shape 10"/>
          <p:cNvSpPr/>
          <p:nvPr/>
        </p:nvSpPr>
        <p:spPr>
          <a:xfrm>
            <a:off x="411480" y="2121408"/>
            <a:ext cx="54864" cy="795528"/>
          </a:xfrm>
          <a:prstGeom prst="rect">
            <a:avLst/>
          </a:prstGeom>
          <a:solidFill>
            <a:srgbClr val="E8B04B"/>
          </a:solidFill>
          <a:ln w="12700">
            <a:solidFill>
              <a:srgbClr val="E8B04B"/>
            </a:solidFill>
            <a:prstDash val="solid"/>
          </a:ln>
        </p:spPr>
      </p:sp>
      <p:sp>
        <p:nvSpPr>
          <p:cNvPr id="13" name="Text 11"/>
          <p:cNvSpPr/>
          <p:nvPr/>
        </p:nvSpPr>
        <p:spPr>
          <a:xfrm>
            <a:off x="566928" y="2176272"/>
            <a:ext cx="1645920" cy="292608"/>
          </a:xfrm>
          <a:prstGeom prst="rect">
            <a:avLst/>
          </a:prstGeom>
          <a:noFill/>
          <a:ln/>
        </p:spPr>
        <p:txBody>
          <a:bodyPr wrap="square" rtlCol="0" anchor="ctr"/>
          <a:lstStyle/>
          <a:p>
            <a:pPr indent="0" marL="0">
              <a:buNone/>
            </a:pPr>
            <a:r>
              <a:rPr lang="en-US" sz="1000" b="1" dirty="0">
                <a:solidFill>
                  <a:srgbClr val="8896A8"/>
                </a:solidFill>
              </a:rPr>
              <a:t>Financial Shame Response</a:t>
            </a:r>
            <a:endParaRPr lang="en-US" sz="1000" dirty="0"/>
          </a:p>
        </p:txBody>
      </p:sp>
      <p:sp>
        <p:nvSpPr>
          <p:cNvPr id="14" name="Text 12"/>
          <p:cNvSpPr/>
          <p:nvPr/>
        </p:nvSpPr>
        <p:spPr>
          <a:xfrm>
            <a:off x="2331720" y="2157984"/>
            <a:ext cx="1097280" cy="347472"/>
          </a:xfrm>
          <a:prstGeom prst="rect">
            <a:avLst/>
          </a:prstGeom>
          <a:noFill/>
          <a:ln/>
        </p:spPr>
        <p:txBody>
          <a:bodyPr wrap="square" rtlCol="0" anchor="ctr"/>
          <a:lstStyle/>
          <a:p>
            <a:pPr algn="ctr" indent="0" marL="0">
              <a:buNone/>
            </a:pPr>
            <a:r>
              <a:rPr lang="en-US" sz="1800" b="1" dirty="0">
                <a:solidFill>
                  <a:srgbClr val="1E2761"/>
                </a:solidFill>
              </a:rPr>
              <a:t>70%</a:t>
            </a:r>
            <a:endParaRPr lang="en-US" sz="1800" dirty="0"/>
          </a:p>
        </p:txBody>
      </p:sp>
      <p:sp>
        <p:nvSpPr>
          <p:cNvPr id="15" name="Text 13"/>
          <p:cNvSpPr/>
          <p:nvPr/>
        </p:nvSpPr>
        <p:spPr>
          <a:xfrm>
            <a:off x="566928" y="2523744"/>
            <a:ext cx="8138160" cy="329184"/>
          </a:xfrm>
          <a:prstGeom prst="rect">
            <a:avLst/>
          </a:prstGeom>
          <a:noFill/>
          <a:ln/>
        </p:spPr>
        <p:txBody>
          <a:bodyPr wrap="square" rtlCol="0" anchor="ctr"/>
          <a:lstStyle/>
          <a:p>
            <a:pPr indent="0" marL="0">
              <a:buNone/>
            </a:pPr>
            <a:r>
              <a:rPr lang="en-US" sz="1100" dirty="0">
                <a:solidFill>
                  <a:srgbClr val="334155"/>
                </a:solidFill>
              </a:rPr>
              <a:t>Majority experienced pricing as identity threat, manifesting in body-level stress (shaking hands, need to disengage from conversation).</a:t>
            </a:r>
            <a:endParaRPr lang="en-US" sz="1100" dirty="0"/>
          </a:p>
        </p:txBody>
      </p:sp>
      <p:sp>
        <p:nvSpPr>
          <p:cNvPr id="16" name="Shape 14"/>
          <p:cNvSpPr/>
          <p:nvPr/>
        </p:nvSpPr>
        <p:spPr>
          <a:xfrm>
            <a:off x="411480" y="3008376"/>
            <a:ext cx="8503920" cy="795528"/>
          </a:xfrm>
          <a:prstGeom prst="rect">
            <a:avLst/>
          </a:prstGeom>
          <a:solidFill>
            <a:srgbClr val="F8FAFC"/>
          </a:solidFill>
          <a:ln w="12700">
            <a:solidFill>
              <a:srgbClr val="E2E8F0"/>
            </a:solidFill>
            <a:prstDash val="solid"/>
          </a:ln>
        </p:spPr>
      </p:sp>
      <p:sp>
        <p:nvSpPr>
          <p:cNvPr id="17" name="Shape 15"/>
          <p:cNvSpPr/>
          <p:nvPr/>
        </p:nvSpPr>
        <p:spPr>
          <a:xfrm>
            <a:off x="411480" y="3008376"/>
            <a:ext cx="54864" cy="795528"/>
          </a:xfrm>
          <a:prstGeom prst="rect">
            <a:avLst/>
          </a:prstGeom>
          <a:solidFill>
            <a:srgbClr val="E8B04B"/>
          </a:solidFill>
          <a:ln w="12700">
            <a:solidFill>
              <a:srgbClr val="E8B04B"/>
            </a:solidFill>
            <a:prstDash val="solid"/>
          </a:ln>
        </p:spPr>
      </p:sp>
      <p:sp>
        <p:nvSpPr>
          <p:cNvPr id="18" name="Text 16"/>
          <p:cNvSpPr/>
          <p:nvPr/>
        </p:nvSpPr>
        <p:spPr>
          <a:xfrm>
            <a:off x="566928" y="3063240"/>
            <a:ext cx="1645920" cy="292608"/>
          </a:xfrm>
          <a:prstGeom prst="rect">
            <a:avLst/>
          </a:prstGeom>
          <a:noFill/>
          <a:ln/>
        </p:spPr>
        <p:txBody>
          <a:bodyPr wrap="square" rtlCol="0" anchor="ctr"/>
          <a:lstStyle/>
          <a:p>
            <a:pPr indent="0" marL="0">
              <a:buNone/>
            </a:pPr>
            <a:r>
              <a:rPr lang="en-US" sz="1000" b="1" dirty="0">
                <a:solidFill>
                  <a:srgbClr val="8896A8"/>
                </a:solidFill>
              </a:rPr>
              <a:t>Cultural Alienation</a:t>
            </a:r>
            <a:endParaRPr lang="en-US" sz="1000" dirty="0"/>
          </a:p>
        </p:txBody>
      </p:sp>
      <p:sp>
        <p:nvSpPr>
          <p:cNvPr id="19" name="Text 17"/>
          <p:cNvSpPr/>
          <p:nvPr/>
        </p:nvSpPr>
        <p:spPr>
          <a:xfrm>
            <a:off x="2331720" y="3044952"/>
            <a:ext cx="1097280" cy="347472"/>
          </a:xfrm>
          <a:prstGeom prst="rect">
            <a:avLst/>
          </a:prstGeom>
          <a:noFill/>
          <a:ln/>
        </p:spPr>
        <p:txBody>
          <a:bodyPr wrap="square" rtlCol="0" anchor="ctr"/>
          <a:lstStyle/>
          <a:p>
            <a:pPr algn="ctr" indent="0" marL="0">
              <a:buNone/>
            </a:pPr>
            <a:r>
              <a:rPr lang="en-US" sz="1800" b="1" dirty="0">
                <a:solidFill>
                  <a:srgbClr val="1E2761"/>
                </a:solidFill>
              </a:rPr>
              <a:t>High</a:t>
            </a:r>
            <a:endParaRPr lang="en-US" sz="1800" dirty="0"/>
          </a:p>
        </p:txBody>
      </p:sp>
      <p:sp>
        <p:nvSpPr>
          <p:cNvPr id="20" name="Text 18"/>
          <p:cNvSpPr/>
          <p:nvPr/>
        </p:nvSpPr>
        <p:spPr>
          <a:xfrm>
            <a:off x="566928" y="3410712"/>
            <a:ext cx="8138160" cy="329184"/>
          </a:xfrm>
          <a:prstGeom prst="rect">
            <a:avLst/>
          </a:prstGeom>
          <a:noFill/>
          <a:ln/>
        </p:spPr>
        <p:txBody>
          <a:bodyPr wrap="square" rtlCol="0" anchor="ctr"/>
          <a:lstStyle/>
          <a:p>
            <a:pPr indent="0" marL="0">
              <a:buNone/>
            </a:pPr>
            <a:r>
              <a:rPr lang="en-US" sz="1100" dirty="0">
                <a:solidFill>
                  <a:srgbClr val="334155"/>
                </a:solidFill>
              </a:rPr>
              <a:t>Localist segments read Equinox/Tier-A office references as imported category error, not aspiration; 'feels foreign, not Vietnamese.'</a:t>
            </a:r>
            <a:endParaRPr lang="en-US" sz="1100" dirty="0"/>
          </a:p>
        </p:txBody>
      </p:sp>
      <p:sp>
        <p:nvSpPr>
          <p:cNvPr id="21" name="Shape 19"/>
          <p:cNvSpPr/>
          <p:nvPr/>
        </p:nvSpPr>
        <p:spPr>
          <a:xfrm>
            <a:off x="411480" y="3895344"/>
            <a:ext cx="8503920" cy="795528"/>
          </a:xfrm>
          <a:prstGeom prst="rect">
            <a:avLst/>
          </a:prstGeom>
          <a:solidFill>
            <a:srgbClr val="F8FAFC"/>
          </a:solidFill>
          <a:ln w="12700">
            <a:solidFill>
              <a:srgbClr val="E2E8F0"/>
            </a:solidFill>
            <a:prstDash val="solid"/>
          </a:ln>
        </p:spPr>
      </p:sp>
      <p:sp>
        <p:nvSpPr>
          <p:cNvPr id="22" name="Shape 20"/>
          <p:cNvSpPr/>
          <p:nvPr/>
        </p:nvSpPr>
        <p:spPr>
          <a:xfrm>
            <a:off x="411480" y="3895344"/>
            <a:ext cx="54864" cy="795528"/>
          </a:xfrm>
          <a:prstGeom prst="rect">
            <a:avLst/>
          </a:prstGeom>
          <a:solidFill>
            <a:srgbClr val="E8B04B"/>
          </a:solidFill>
          <a:ln w="12700">
            <a:solidFill>
              <a:srgbClr val="E8B04B"/>
            </a:solidFill>
            <a:prstDash val="solid"/>
          </a:ln>
        </p:spPr>
      </p:sp>
      <p:sp>
        <p:nvSpPr>
          <p:cNvPr id="23" name="Text 21"/>
          <p:cNvSpPr/>
          <p:nvPr/>
        </p:nvSpPr>
        <p:spPr>
          <a:xfrm>
            <a:off x="566928" y="3950208"/>
            <a:ext cx="1645920" cy="292608"/>
          </a:xfrm>
          <a:prstGeom prst="rect">
            <a:avLst/>
          </a:prstGeom>
          <a:noFill/>
          <a:ln/>
        </p:spPr>
        <p:txBody>
          <a:bodyPr wrap="square" rtlCol="0" anchor="ctr"/>
          <a:lstStyle/>
          <a:p>
            <a:pPr indent="0" marL="0">
              <a:buNone/>
            </a:pPr>
            <a:r>
              <a:rPr lang="en-US" sz="1000" b="1" dirty="0">
                <a:solidFill>
                  <a:srgbClr val="8896A8"/>
                </a:solidFill>
              </a:rPr>
              <a:t>Science Language Barrier</a:t>
            </a:r>
            <a:endParaRPr lang="en-US" sz="1000" dirty="0"/>
          </a:p>
        </p:txBody>
      </p:sp>
      <p:sp>
        <p:nvSpPr>
          <p:cNvPr id="24" name="Text 22"/>
          <p:cNvSpPr/>
          <p:nvPr/>
        </p:nvSpPr>
        <p:spPr>
          <a:xfrm>
            <a:off x="2331720" y="3931920"/>
            <a:ext cx="1097280" cy="347472"/>
          </a:xfrm>
          <a:prstGeom prst="rect">
            <a:avLst/>
          </a:prstGeom>
          <a:noFill/>
          <a:ln/>
        </p:spPr>
        <p:txBody>
          <a:bodyPr wrap="square" rtlCol="0" anchor="ctr"/>
          <a:lstStyle/>
          <a:p>
            <a:pPr algn="ctr" indent="0" marL="0">
              <a:buNone/>
            </a:pPr>
            <a:r>
              <a:rPr lang="en-US" sz="1800" b="1" dirty="0">
                <a:solidFill>
                  <a:srgbClr val="1E2761"/>
                </a:solidFill>
              </a:rPr>
              <a:t>60%+</a:t>
            </a:r>
            <a:endParaRPr lang="en-US" sz="1800" dirty="0"/>
          </a:p>
        </p:txBody>
      </p:sp>
      <p:sp>
        <p:nvSpPr>
          <p:cNvPr id="25" name="Text 23"/>
          <p:cNvSpPr/>
          <p:nvPr/>
        </p:nvSpPr>
        <p:spPr>
          <a:xfrm>
            <a:off x="566928" y="4297680"/>
            <a:ext cx="8138160" cy="329184"/>
          </a:xfrm>
          <a:prstGeom prst="rect">
            <a:avLst/>
          </a:prstGeom>
          <a:noFill/>
          <a:ln/>
        </p:spPr>
        <p:txBody>
          <a:bodyPr wrap="square" rtlCol="0" anchor="ctr"/>
          <a:lstStyle/>
          <a:p>
            <a:pPr indent="0" marL="0">
              <a:buNone/>
            </a:pPr>
            <a:r>
              <a:rPr lang="en-US" sz="1100" dirty="0">
                <a:solidFill>
                  <a:srgbClr val="334155"/>
                </a:solidFill>
              </a:rPr>
              <a:t>Technical vocabulary (nitrates, enzymatic activity) functions as socioeconomic screening, triggering anxiety about appearing unsophisticated rather than building trust.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Key Insights &amp; Patterns</a:t>
            </a:r>
            <a:endParaRPr lang="en-US" sz="2200" dirty="0"/>
          </a:p>
        </p:txBody>
      </p:sp>
      <p:sp>
        <p:nvSpPr>
          <p:cNvPr id="5" name="Text 3"/>
          <p:cNvSpPr/>
          <p:nvPr/>
        </p:nvSpPr>
        <p:spPr>
          <a:xfrm>
            <a:off x="411480" y="749808"/>
            <a:ext cx="8503920" cy="365760"/>
          </a:xfrm>
          <a:prstGeom prst="rect">
            <a:avLst/>
          </a:prstGeom>
          <a:noFill/>
          <a:ln/>
        </p:spPr>
        <p:txBody>
          <a:bodyPr wrap="square" rtlCol="0" anchor="ctr"/>
          <a:lstStyle/>
          <a:p>
            <a:pPr indent="0" marL="0">
              <a:buNone/>
            </a:pPr>
            <a:r>
              <a:rPr lang="en-US" sz="1500" b="1" i="1" dirty="0">
                <a:solidFill>
                  <a:srgbClr val="1E2761"/>
                </a:solidFill>
              </a:rPr>
              <a:t>Three critical fracture lines destroying campaign effectiveness</a:t>
            </a:r>
            <a:endParaRPr lang="en-US" sz="1500" dirty="0"/>
          </a:p>
        </p:txBody>
      </p:sp>
      <p:sp>
        <p:nvSpPr>
          <p:cNvPr id="6" name="Shape 4"/>
          <p:cNvSpPr/>
          <p:nvPr/>
        </p:nvSpPr>
        <p:spPr>
          <a:xfrm>
            <a:off x="411480" y="1234440"/>
            <a:ext cx="8503920" cy="795528"/>
          </a:xfrm>
          <a:prstGeom prst="rect">
            <a:avLst/>
          </a:prstGeom>
          <a:solidFill>
            <a:srgbClr val="F8FAFC"/>
          </a:solidFill>
          <a:ln w="12700">
            <a:solidFill>
              <a:srgbClr val="E2E8F0"/>
            </a:solidFill>
            <a:prstDash val="solid"/>
          </a:ln>
        </p:spPr>
      </p:sp>
      <p:sp>
        <p:nvSpPr>
          <p:cNvPr id="7" name="Shape 5"/>
          <p:cNvSpPr/>
          <p:nvPr/>
        </p:nvSpPr>
        <p:spPr>
          <a:xfrm>
            <a:off x="411480" y="1234440"/>
            <a:ext cx="54864" cy="795528"/>
          </a:xfrm>
          <a:prstGeom prst="rect">
            <a:avLst/>
          </a:prstGeom>
          <a:solidFill>
            <a:srgbClr val="E8B04B"/>
          </a:solidFill>
          <a:ln w="12700">
            <a:solidFill>
              <a:srgbClr val="E8B04B"/>
            </a:solidFill>
            <a:prstDash val="solid"/>
          </a:ln>
        </p:spPr>
      </p:sp>
      <p:sp>
        <p:nvSpPr>
          <p:cNvPr id="8" name="Text 6"/>
          <p:cNvSpPr/>
          <p:nvPr/>
        </p:nvSpPr>
        <p:spPr>
          <a:xfrm>
            <a:off x="566928" y="1289304"/>
            <a:ext cx="8229600" cy="274320"/>
          </a:xfrm>
          <a:prstGeom prst="rect">
            <a:avLst/>
          </a:prstGeom>
          <a:noFill/>
          <a:ln/>
        </p:spPr>
        <p:txBody>
          <a:bodyPr wrap="square" rtlCol="0" anchor="ctr"/>
          <a:lstStyle/>
          <a:p>
            <a:pPr indent="0" marL="0">
              <a:buNone/>
            </a:pPr>
            <a:r>
              <a:rPr lang="en-US" sz="1200" b="1" dirty="0">
                <a:solidFill>
                  <a:srgbClr val="1E2761"/>
                </a:solidFill>
              </a:rPr>
              <a:t>Innovation Validation vs. Access Theatre</a:t>
            </a:r>
            <a:endParaRPr lang="en-US" sz="1200" dirty="0"/>
          </a:p>
        </p:txBody>
      </p:sp>
      <p:sp>
        <p:nvSpPr>
          <p:cNvPr id="9" name="Text 7"/>
          <p:cNvSpPr/>
          <p:nvPr/>
        </p:nvSpPr>
        <p:spPr>
          <a:xfrm>
            <a:off x="566928" y="1609344"/>
            <a:ext cx="8229600" cy="365760"/>
          </a:xfrm>
          <a:prstGeom prst="rect">
            <a:avLst/>
          </a:prstGeom>
          <a:noFill/>
          <a:ln/>
        </p:spPr>
        <p:txBody>
          <a:bodyPr wrap="square" rtlCol="0" anchor="ctr"/>
          <a:lstStyle/>
          <a:p>
            <a:pPr indent="0" marL="0">
              <a:buNone/>
            </a:pPr>
            <a:r>
              <a:rPr lang="en-US" sz="1100" dirty="0">
                <a:solidFill>
                  <a:srgbClr val="334155"/>
                </a:solidFill>
              </a:rPr>
              <a:t>Pro-premium segment believes in trickle-down innovation ('early adopters validate category'). Majority experiences time lag as structural violence—'someone with money validates it, then maybe five years later we get cheaper outdated version.' Not a pricing debate; a temporal justice conflict.</a:t>
            </a:r>
            <a:endParaRPr lang="en-US" sz="1100" dirty="0"/>
          </a:p>
        </p:txBody>
      </p:sp>
      <p:sp>
        <p:nvSpPr>
          <p:cNvPr id="10" name="Shape 8"/>
          <p:cNvSpPr/>
          <p:nvPr/>
        </p:nvSpPr>
        <p:spPr>
          <a:xfrm>
            <a:off x="411480" y="2121408"/>
            <a:ext cx="8503920" cy="795528"/>
          </a:xfrm>
          <a:prstGeom prst="rect">
            <a:avLst/>
          </a:prstGeom>
          <a:solidFill>
            <a:srgbClr val="F8FAFC"/>
          </a:solidFill>
          <a:ln w="12700">
            <a:solidFill>
              <a:srgbClr val="E2E8F0"/>
            </a:solidFill>
            <a:prstDash val="solid"/>
          </a:ln>
        </p:spPr>
      </p:sp>
      <p:sp>
        <p:nvSpPr>
          <p:cNvPr id="11" name="Shape 9"/>
          <p:cNvSpPr/>
          <p:nvPr/>
        </p:nvSpPr>
        <p:spPr>
          <a:xfrm>
            <a:off x="411480" y="2121408"/>
            <a:ext cx="54864" cy="795528"/>
          </a:xfrm>
          <a:prstGeom prst="rect">
            <a:avLst/>
          </a:prstGeom>
          <a:solidFill>
            <a:srgbClr val="E8B04B"/>
          </a:solidFill>
          <a:ln w="12700">
            <a:solidFill>
              <a:srgbClr val="E8B04B"/>
            </a:solidFill>
            <a:prstDash val="solid"/>
          </a:ln>
        </p:spPr>
      </p:sp>
      <p:sp>
        <p:nvSpPr>
          <p:cNvPr id="12" name="Text 10"/>
          <p:cNvSpPr/>
          <p:nvPr/>
        </p:nvSpPr>
        <p:spPr>
          <a:xfrm>
            <a:off x="566928" y="2176272"/>
            <a:ext cx="8229600" cy="274320"/>
          </a:xfrm>
          <a:prstGeom prst="rect">
            <a:avLst/>
          </a:prstGeom>
          <a:noFill/>
          <a:ln/>
        </p:spPr>
        <p:txBody>
          <a:bodyPr wrap="square" rtlCol="0" anchor="ctr"/>
          <a:lstStyle/>
          <a:p>
            <a:pPr indent="0" marL="0">
              <a:buNone/>
            </a:pPr>
            <a:r>
              <a:rPr lang="en-US" sz="1200" b="1" dirty="0">
                <a:solidFill>
                  <a:srgbClr val="1E2761"/>
                </a:solidFill>
              </a:rPr>
              <a:t>Strategic Precision vs. Imported Alienation</a:t>
            </a:r>
            <a:endParaRPr lang="en-US" sz="1200" dirty="0"/>
          </a:p>
        </p:txBody>
      </p:sp>
      <p:sp>
        <p:nvSpPr>
          <p:cNvPr id="13" name="Text 11"/>
          <p:cNvSpPr/>
          <p:nvPr/>
        </p:nvSpPr>
        <p:spPr>
          <a:xfrm>
            <a:off x="566928" y="2496312"/>
            <a:ext cx="8229600" cy="365760"/>
          </a:xfrm>
          <a:prstGeom prst="rect">
            <a:avLst/>
          </a:prstGeom>
          <a:noFill/>
          <a:ln/>
        </p:spPr>
        <p:txBody>
          <a:bodyPr wrap="square" rtlCol="0" anchor="ctr"/>
          <a:lstStyle/>
          <a:p>
            <a:pPr indent="0" marL="0">
              <a:buNone/>
            </a:pPr>
            <a:r>
              <a:rPr lang="en-US" sz="1100" dirty="0">
                <a:solidFill>
                  <a:srgbClr val="334155"/>
                </a:solidFill>
              </a:rPr>
              <a:t>Cosmopolitan segment reads exclusion as honest market segmentation (sophisticated). Localist segment reads same exclusion as cultural colonization. Fault line: those who aspire to global professional identity vs. those experiencing it as foreign scheme.</a:t>
            </a:r>
            <a:endParaRPr lang="en-US" sz="1100" dirty="0"/>
          </a:p>
        </p:txBody>
      </p:sp>
      <p:sp>
        <p:nvSpPr>
          <p:cNvPr id="14" name="Shape 12"/>
          <p:cNvSpPr/>
          <p:nvPr/>
        </p:nvSpPr>
        <p:spPr>
          <a:xfrm>
            <a:off x="411480" y="3008376"/>
            <a:ext cx="8503920" cy="795528"/>
          </a:xfrm>
          <a:prstGeom prst="rect">
            <a:avLst/>
          </a:prstGeom>
          <a:solidFill>
            <a:srgbClr val="F8FAFC"/>
          </a:solidFill>
          <a:ln w="12700">
            <a:solidFill>
              <a:srgbClr val="E2E8F0"/>
            </a:solidFill>
            <a:prstDash val="solid"/>
          </a:ln>
        </p:spPr>
      </p:sp>
      <p:sp>
        <p:nvSpPr>
          <p:cNvPr id="15" name="Shape 13"/>
          <p:cNvSpPr/>
          <p:nvPr/>
        </p:nvSpPr>
        <p:spPr>
          <a:xfrm>
            <a:off x="411480" y="3008376"/>
            <a:ext cx="54864" cy="795528"/>
          </a:xfrm>
          <a:prstGeom prst="rect">
            <a:avLst/>
          </a:prstGeom>
          <a:solidFill>
            <a:srgbClr val="E8B04B"/>
          </a:solidFill>
          <a:ln w="12700">
            <a:solidFill>
              <a:srgbClr val="E8B04B"/>
            </a:solidFill>
            <a:prstDash val="solid"/>
          </a:ln>
        </p:spPr>
      </p:sp>
      <p:sp>
        <p:nvSpPr>
          <p:cNvPr id="16" name="Text 14"/>
          <p:cNvSpPr/>
          <p:nvPr/>
        </p:nvSpPr>
        <p:spPr>
          <a:xfrm>
            <a:off x="566928" y="3063240"/>
            <a:ext cx="8229600" cy="274320"/>
          </a:xfrm>
          <a:prstGeom prst="rect">
            <a:avLst/>
          </a:prstGeom>
          <a:noFill/>
          <a:ln/>
        </p:spPr>
        <p:txBody>
          <a:bodyPr wrap="square" rtlCol="0" anchor="ctr"/>
          <a:lstStyle/>
          <a:p>
            <a:pPr indent="0" marL="0">
              <a:buNone/>
            </a:pPr>
            <a:r>
              <a:rPr lang="en-US" sz="1200" b="1" dirty="0">
                <a:solidFill>
                  <a:srgbClr val="1E2761"/>
                </a:solidFill>
              </a:rPr>
              <a:t>Behavioral Mechanics vs. Stability Privilege</a:t>
            </a:r>
            <a:endParaRPr lang="en-US" sz="1200" dirty="0"/>
          </a:p>
        </p:txBody>
      </p:sp>
      <p:sp>
        <p:nvSpPr>
          <p:cNvPr id="17" name="Text 15"/>
          <p:cNvSpPr/>
          <p:nvPr/>
        </p:nvSpPr>
        <p:spPr>
          <a:xfrm>
            <a:off x="566928" y="3383280"/>
            <a:ext cx="8229600" cy="365760"/>
          </a:xfrm>
          <a:prstGeom prst="rect">
            <a:avLst/>
          </a:prstGeom>
          <a:noFill/>
          <a:ln/>
        </p:spPr>
        <p:txBody>
          <a:bodyPr wrap="square" rtlCol="0" anchor="ctr"/>
          <a:lstStyle/>
          <a:p>
            <a:pPr indent="0" marL="0">
              <a:buNone/>
            </a:pPr>
            <a:r>
              <a:rPr lang="en-US" sz="1100" dirty="0">
                <a:solidFill>
                  <a:srgbClr val="334155"/>
                </a:solidFill>
              </a:rPr>
              <a:t>'Boost Streak' gamification assumes schedule sovereignty. Precarious workers experience loss aversion mechanics as punishment for instability they can't control. Design cruelty: loyalty system weaponizes life circumstances that drive people away from premium purchases.</a:t>
            </a:r>
            <a:endParaRPr lang="en-US" sz="1100" dirty="0"/>
          </a:p>
        </p:txBody>
      </p:sp>
      <p:sp>
        <p:nvSpPr>
          <p:cNvPr id="18" name="Shape 16"/>
          <p:cNvSpPr/>
          <p:nvPr/>
        </p:nvSpPr>
        <p:spPr>
          <a:xfrm>
            <a:off x="411480" y="3895344"/>
            <a:ext cx="8503920" cy="795528"/>
          </a:xfrm>
          <a:prstGeom prst="rect">
            <a:avLst/>
          </a:prstGeom>
          <a:solidFill>
            <a:srgbClr val="F8FAFC"/>
          </a:solidFill>
          <a:ln w="12700">
            <a:solidFill>
              <a:srgbClr val="E2E8F0"/>
            </a:solidFill>
            <a:prstDash val="solid"/>
          </a:ln>
        </p:spPr>
      </p:sp>
      <p:sp>
        <p:nvSpPr>
          <p:cNvPr id="19" name="Shape 17"/>
          <p:cNvSpPr/>
          <p:nvPr/>
        </p:nvSpPr>
        <p:spPr>
          <a:xfrm>
            <a:off x="411480" y="3895344"/>
            <a:ext cx="54864" cy="795528"/>
          </a:xfrm>
          <a:prstGeom prst="rect">
            <a:avLst/>
          </a:prstGeom>
          <a:solidFill>
            <a:srgbClr val="E8B04B"/>
          </a:solidFill>
          <a:ln w="12700">
            <a:solidFill>
              <a:srgbClr val="E8B04B"/>
            </a:solidFill>
            <a:prstDash val="solid"/>
          </a:ln>
        </p:spPr>
      </p:sp>
      <p:sp>
        <p:nvSpPr>
          <p:cNvPr id="20" name="Text 18"/>
          <p:cNvSpPr/>
          <p:nvPr/>
        </p:nvSpPr>
        <p:spPr>
          <a:xfrm>
            <a:off x="566928" y="3950208"/>
            <a:ext cx="8229600" cy="274320"/>
          </a:xfrm>
          <a:prstGeom prst="rect">
            <a:avLst/>
          </a:prstGeom>
          <a:noFill/>
          <a:ln/>
        </p:spPr>
        <p:txBody>
          <a:bodyPr wrap="square" rtlCol="0" anchor="ctr"/>
          <a:lstStyle/>
          <a:p>
            <a:pPr indent="0" marL="0">
              <a:buNone/>
            </a:pPr>
            <a:r>
              <a:rPr lang="en-US" sz="1200" b="1" dirty="0">
                <a:solidFill>
                  <a:srgbClr val="1E2761"/>
                </a:solidFill>
              </a:rPr>
              <a:t>Science as Class Purity Test</a:t>
            </a:r>
            <a:endParaRPr lang="en-US" sz="1200" dirty="0"/>
          </a:p>
        </p:txBody>
      </p:sp>
      <p:sp>
        <p:nvSpPr>
          <p:cNvPr id="21" name="Text 19"/>
          <p:cNvSpPr/>
          <p:nvPr/>
        </p:nvSpPr>
        <p:spPr>
          <a:xfrm>
            <a:off x="566928" y="4270248"/>
            <a:ext cx="8229600" cy="365760"/>
          </a:xfrm>
          <a:prstGeom prst="rect">
            <a:avLst/>
          </a:prstGeom>
          <a:noFill/>
          <a:ln/>
        </p:spPr>
        <p:txBody>
          <a:bodyPr wrap="square" rtlCol="0" anchor="ctr"/>
          <a:lstStyle/>
          <a:p>
            <a:pPr indent="0" marL="0">
              <a:buNone/>
            </a:pPr>
            <a:r>
              <a:rPr lang="en-US" sz="1100" dirty="0">
                <a:solidFill>
                  <a:srgbClr val="334155"/>
                </a:solidFill>
              </a:rPr>
              <a:t>Agents comfortable with technical terminology aren't triggered by pricing. Those who describe claims as 'jargon' or 'fancy English words' experience linguistic exclusion compounding economic exclusion. Science transparency doesn't democratize—it screens for optimization-discourse fluency.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Strategic Recommendations</a:t>
            </a:r>
            <a:endParaRPr lang="en-US" sz="2200" dirty="0"/>
          </a:p>
        </p:txBody>
      </p:sp>
      <p:sp>
        <p:nvSpPr>
          <p:cNvPr id="5" name="Text 3"/>
          <p:cNvSpPr/>
          <p:nvPr/>
        </p:nvSpPr>
        <p:spPr>
          <a:xfrm>
            <a:off x="411480" y="749808"/>
            <a:ext cx="8503920" cy="365760"/>
          </a:xfrm>
          <a:prstGeom prst="rect">
            <a:avLst/>
          </a:prstGeom>
          <a:noFill/>
          <a:ln/>
        </p:spPr>
        <p:txBody>
          <a:bodyPr wrap="square" rtlCol="0" anchor="ctr"/>
          <a:lstStyle/>
          <a:p>
            <a:pPr indent="0" marL="0">
              <a:buNone/>
            </a:pPr>
            <a:r>
              <a:rPr lang="en-US" sz="1500" b="1" i="1" dirty="0">
                <a:solidFill>
                  <a:srgbClr val="1E2761"/>
                </a:solidFill>
              </a:rPr>
              <a:t>Strategic pivots required to salvage campaign viability</a:t>
            </a:r>
            <a:endParaRPr lang="en-US" sz="1500" dirty="0"/>
          </a:p>
        </p:txBody>
      </p:sp>
      <p:sp>
        <p:nvSpPr>
          <p:cNvPr id="6" name="Shape 4"/>
          <p:cNvSpPr/>
          <p:nvPr/>
        </p:nvSpPr>
        <p:spPr>
          <a:xfrm>
            <a:off x="411480" y="1234440"/>
            <a:ext cx="8503920" cy="795528"/>
          </a:xfrm>
          <a:prstGeom prst="rect">
            <a:avLst/>
          </a:prstGeom>
          <a:solidFill>
            <a:srgbClr val="F8FAFC"/>
          </a:solidFill>
          <a:ln w="12700">
            <a:solidFill>
              <a:srgbClr val="E2E8F0"/>
            </a:solidFill>
            <a:prstDash val="solid"/>
          </a:ln>
        </p:spPr>
      </p:sp>
      <p:sp>
        <p:nvSpPr>
          <p:cNvPr id="7" name="Shape 5"/>
          <p:cNvSpPr/>
          <p:nvPr/>
        </p:nvSpPr>
        <p:spPr>
          <a:xfrm>
            <a:off x="411480" y="1234440"/>
            <a:ext cx="54864" cy="795528"/>
          </a:xfrm>
          <a:prstGeom prst="rect">
            <a:avLst/>
          </a:prstGeom>
          <a:solidFill>
            <a:srgbClr val="DC2626"/>
          </a:solidFill>
          <a:ln w="12700">
            <a:solidFill>
              <a:srgbClr val="DC2626"/>
            </a:solidFill>
            <a:prstDash val="solid"/>
          </a:ln>
        </p:spPr>
      </p:sp>
      <p:sp>
        <p:nvSpPr>
          <p:cNvPr id="8" name="Shape 6"/>
          <p:cNvSpPr/>
          <p:nvPr/>
        </p:nvSpPr>
        <p:spPr>
          <a:xfrm>
            <a:off x="7790688" y="1408176"/>
            <a:ext cx="804672" cy="246888"/>
          </a:xfrm>
          <a:prstGeom prst="rect">
            <a:avLst/>
          </a:prstGeom>
          <a:solidFill>
            <a:srgbClr val="DC2626"/>
          </a:solidFill>
          <a:ln w="12700">
            <a:solidFill>
              <a:srgbClr val="DC2626"/>
            </a:solidFill>
            <a:prstDash val="solid"/>
          </a:ln>
        </p:spPr>
      </p:sp>
      <p:sp>
        <p:nvSpPr>
          <p:cNvPr id="9" name="Text 7"/>
          <p:cNvSpPr/>
          <p:nvPr/>
        </p:nvSpPr>
        <p:spPr>
          <a:xfrm>
            <a:off x="7790688" y="1408176"/>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High</a:t>
            </a:r>
            <a:endParaRPr lang="en-US" sz="900" dirty="0"/>
          </a:p>
        </p:txBody>
      </p:sp>
      <p:sp>
        <p:nvSpPr>
          <p:cNvPr id="10" name="Text 8"/>
          <p:cNvSpPr/>
          <p:nvPr/>
        </p:nvSpPr>
        <p:spPr>
          <a:xfrm>
            <a:off x="566928" y="1289304"/>
            <a:ext cx="7040880" cy="274320"/>
          </a:xfrm>
          <a:prstGeom prst="rect">
            <a:avLst/>
          </a:prstGeom>
          <a:noFill/>
          <a:ln/>
        </p:spPr>
        <p:txBody>
          <a:bodyPr wrap="square" rtlCol="0" anchor="ctr"/>
          <a:lstStyle/>
          <a:p>
            <a:pPr indent="0" marL="0">
              <a:buNone/>
            </a:pPr>
            <a:r>
              <a:rPr lang="en-US" sz="1200" b="1" dirty="0">
                <a:solidFill>
                  <a:srgbClr val="1E2761"/>
                </a:solidFill>
              </a:rPr>
              <a:t>Reposition from Daily Ritual to Strategic Ammunition</a:t>
            </a:r>
            <a:endParaRPr lang="en-US" sz="1200" dirty="0"/>
          </a:p>
        </p:txBody>
      </p:sp>
      <p:sp>
        <p:nvSpPr>
          <p:cNvPr id="11" name="Text 9"/>
          <p:cNvSpPr/>
          <p:nvPr/>
        </p:nvSpPr>
        <p:spPr>
          <a:xfrm>
            <a:off x="566928" y="1618488"/>
            <a:ext cx="8229600" cy="347472"/>
          </a:xfrm>
          <a:prstGeom prst="rect">
            <a:avLst/>
          </a:prstGeom>
          <a:noFill/>
          <a:ln/>
        </p:spPr>
        <p:txBody>
          <a:bodyPr wrap="square" rtlCol="0" anchor="ctr"/>
          <a:lstStyle/>
          <a:p>
            <a:pPr indent="0" marL="0">
              <a:buNone/>
            </a:pPr>
            <a:r>
              <a:rPr lang="en-US" sz="1100" dirty="0">
                <a:solidFill>
                  <a:srgbClr val="334155"/>
                </a:solidFill>
              </a:rPr>
              <a:t>Abandon 'Boost Streak' daily habit gamification; reframe as high-stakes performance fuel for critical occasions (investor pitch, exam week, major presentation) to match actual receptive purchase pattern.</a:t>
            </a:r>
            <a:endParaRPr lang="en-US" sz="1100" dirty="0"/>
          </a:p>
        </p:txBody>
      </p:sp>
      <p:sp>
        <p:nvSpPr>
          <p:cNvPr id="12" name="Shape 10"/>
          <p:cNvSpPr/>
          <p:nvPr/>
        </p:nvSpPr>
        <p:spPr>
          <a:xfrm>
            <a:off x="411480" y="2121408"/>
            <a:ext cx="8503920" cy="795528"/>
          </a:xfrm>
          <a:prstGeom prst="rect">
            <a:avLst/>
          </a:prstGeom>
          <a:solidFill>
            <a:srgbClr val="F8FAFC"/>
          </a:solidFill>
          <a:ln w="12700">
            <a:solidFill>
              <a:srgbClr val="E2E8F0"/>
            </a:solidFill>
            <a:prstDash val="solid"/>
          </a:ln>
        </p:spPr>
      </p:sp>
      <p:sp>
        <p:nvSpPr>
          <p:cNvPr id="13" name="Shape 11"/>
          <p:cNvSpPr/>
          <p:nvPr/>
        </p:nvSpPr>
        <p:spPr>
          <a:xfrm>
            <a:off x="411480" y="2121408"/>
            <a:ext cx="54864" cy="795528"/>
          </a:xfrm>
          <a:prstGeom prst="rect">
            <a:avLst/>
          </a:prstGeom>
          <a:solidFill>
            <a:srgbClr val="DC2626"/>
          </a:solidFill>
          <a:ln w="12700">
            <a:solidFill>
              <a:srgbClr val="DC2626"/>
            </a:solidFill>
            <a:prstDash val="solid"/>
          </a:ln>
        </p:spPr>
      </p:sp>
      <p:sp>
        <p:nvSpPr>
          <p:cNvPr id="14" name="Shape 12"/>
          <p:cNvSpPr/>
          <p:nvPr/>
        </p:nvSpPr>
        <p:spPr>
          <a:xfrm>
            <a:off x="7790688" y="2295144"/>
            <a:ext cx="804672" cy="246888"/>
          </a:xfrm>
          <a:prstGeom prst="rect">
            <a:avLst/>
          </a:prstGeom>
          <a:solidFill>
            <a:srgbClr val="DC2626"/>
          </a:solidFill>
          <a:ln w="12700">
            <a:solidFill>
              <a:srgbClr val="DC2626"/>
            </a:solidFill>
            <a:prstDash val="solid"/>
          </a:ln>
        </p:spPr>
      </p:sp>
      <p:sp>
        <p:nvSpPr>
          <p:cNvPr id="15" name="Text 13"/>
          <p:cNvSpPr/>
          <p:nvPr/>
        </p:nvSpPr>
        <p:spPr>
          <a:xfrm>
            <a:off x="7790688" y="2295144"/>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High</a:t>
            </a:r>
            <a:endParaRPr lang="en-US" sz="900" dirty="0"/>
          </a:p>
        </p:txBody>
      </p:sp>
      <p:sp>
        <p:nvSpPr>
          <p:cNvPr id="16" name="Text 14"/>
          <p:cNvSpPr/>
          <p:nvPr/>
        </p:nvSpPr>
        <p:spPr>
          <a:xfrm>
            <a:off x="566928" y="2176272"/>
            <a:ext cx="7040880" cy="274320"/>
          </a:xfrm>
          <a:prstGeom prst="rect">
            <a:avLst/>
          </a:prstGeom>
          <a:noFill/>
          <a:ln/>
        </p:spPr>
        <p:txBody>
          <a:bodyPr wrap="square" rtlCol="0" anchor="ctr"/>
          <a:lstStyle/>
          <a:p>
            <a:pPr indent="0" marL="0">
              <a:buNone/>
            </a:pPr>
            <a:r>
              <a:rPr lang="en-US" sz="1200" b="1" dirty="0">
                <a:solidFill>
                  <a:srgbClr val="1E2761"/>
                </a:solidFill>
              </a:rPr>
              <a:t>Reduce Vocabulary Barrier via Plain-Language Science</a:t>
            </a:r>
            <a:endParaRPr lang="en-US" sz="1200" dirty="0"/>
          </a:p>
        </p:txBody>
      </p:sp>
      <p:sp>
        <p:nvSpPr>
          <p:cNvPr id="17" name="Text 15"/>
          <p:cNvSpPr/>
          <p:nvPr/>
        </p:nvSpPr>
        <p:spPr>
          <a:xfrm>
            <a:off x="566928" y="2505456"/>
            <a:ext cx="8229600" cy="347472"/>
          </a:xfrm>
          <a:prstGeom prst="rect">
            <a:avLst/>
          </a:prstGeom>
          <a:noFill/>
          <a:ln/>
        </p:spPr>
        <p:txBody>
          <a:bodyPr wrap="square" rtlCol="0" anchor="ctr"/>
          <a:lstStyle/>
          <a:p>
            <a:pPr indent="0" marL="0">
              <a:buNone/>
            </a:pPr>
            <a:r>
              <a:rPr lang="en-US" sz="1100" dirty="0">
                <a:solidFill>
                  <a:srgbClr val="334155"/>
                </a:solidFill>
              </a:rPr>
              <a:t>Translate technical claims into accessible explanations without cosmopolitan optimization jargon; test messaging with localist segments to eliminate class-signaling triggers.</a:t>
            </a:r>
            <a:endParaRPr lang="en-US" sz="1100" dirty="0"/>
          </a:p>
        </p:txBody>
      </p:sp>
      <p:sp>
        <p:nvSpPr>
          <p:cNvPr id="18" name="Shape 16"/>
          <p:cNvSpPr/>
          <p:nvPr/>
        </p:nvSpPr>
        <p:spPr>
          <a:xfrm>
            <a:off x="411480" y="3008376"/>
            <a:ext cx="8503920" cy="795528"/>
          </a:xfrm>
          <a:prstGeom prst="rect">
            <a:avLst/>
          </a:prstGeom>
          <a:solidFill>
            <a:srgbClr val="F8FAFC"/>
          </a:solidFill>
          <a:ln w="12700">
            <a:solidFill>
              <a:srgbClr val="E2E8F0"/>
            </a:solidFill>
            <a:prstDash val="solid"/>
          </a:ln>
        </p:spPr>
      </p:sp>
      <p:sp>
        <p:nvSpPr>
          <p:cNvPr id="19" name="Shape 17"/>
          <p:cNvSpPr/>
          <p:nvPr/>
        </p:nvSpPr>
        <p:spPr>
          <a:xfrm>
            <a:off x="411480" y="3008376"/>
            <a:ext cx="54864" cy="795528"/>
          </a:xfrm>
          <a:prstGeom prst="rect">
            <a:avLst/>
          </a:prstGeom>
          <a:solidFill>
            <a:srgbClr val="DC2626"/>
          </a:solidFill>
          <a:ln w="12700">
            <a:solidFill>
              <a:srgbClr val="DC2626"/>
            </a:solidFill>
            <a:prstDash val="solid"/>
          </a:ln>
        </p:spPr>
      </p:sp>
      <p:sp>
        <p:nvSpPr>
          <p:cNvPr id="20" name="Shape 18"/>
          <p:cNvSpPr/>
          <p:nvPr/>
        </p:nvSpPr>
        <p:spPr>
          <a:xfrm>
            <a:off x="7790688" y="3182112"/>
            <a:ext cx="804672" cy="246888"/>
          </a:xfrm>
          <a:prstGeom prst="rect">
            <a:avLst/>
          </a:prstGeom>
          <a:solidFill>
            <a:srgbClr val="DC2626"/>
          </a:solidFill>
          <a:ln w="12700">
            <a:solidFill>
              <a:srgbClr val="DC2626"/>
            </a:solidFill>
            <a:prstDash val="solid"/>
          </a:ln>
        </p:spPr>
      </p:sp>
      <p:sp>
        <p:nvSpPr>
          <p:cNvPr id="21" name="Text 19"/>
          <p:cNvSpPr/>
          <p:nvPr/>
        </p:nvSpPr>
        <p:spPr>
          <a:xfrm>
            <a:off x="7790688" y="3182112"/>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High</a:t>
            </a:r>
            <a:endParaRPr lang="en-US" sz="900" dirty="0"/>
          </a:p>
        </p:txBody>
      </p:sp>
      <p:sp>
        <p:nvSpPr>
          <p:cNvPr id="22" name="Text 20"/>
          <p:cNvSpPr/>
          <p:nvPr/>
        </p:nvSpPr>
        <p:spPr>
          <a:xfrm>
            <a:off x="566928" y="3063240"/>
            <a:ext cx="7040880" cy="274320"/>
          </a:xfrm>
          <a:prstGeom prst="rect">
            <a:avLst/>
          </a:prstGeom>
          <a:noFill/>
          <a:ln/>
        </p:spPr>
        <p:txBody>
          <a:bodyPr wrap="square" rtlCol="0" anchor="ctr"/>
          <a:lstStyle/>
          <a:p>
            <a:pPr indent="0" marL="0">
              <a:buNone/>
            </a:pPr>
            <a:r>
              <a:rPr lang="en-US" sz="1200" b="1" dirty="0">
                <a:solidFill>
                  <a:srgbClr val="1E2761"/>
                </a:solidFill>
              </a:rPr>
              <a:t>Address Cultural Authenticity Deficit</a:t>
            </a:r>
            <a:endParaRPr lang="en-US" sz="1200" dirty="0"/>
          </a:p>
        </p:txBody>
      </p:sp>
      <p:sp>
        <p:nvSpPr>
          <p:cNvPr id="23" name="Text 21"/>
          <p:cNvSpPr/>
          <p:nvPr/>
        </p:nvSpPr>
        <p:spPr>
          <a:xfrm>
            <a:off x="566928" y="3392424"/>
            <a:ext cx="8229600" cy="347472"/>
          </a:xfrm>
          <a:prstGeom prst="rect">
            <a:avLst/>
          </a:prstGeom>
          <a:noFill/>
          <a:ln/>
        </p:spPr>
        <p:txBody>
          <a:bodyPr wrap="square" rtlCol="0" anchor="ctr"/>
          <a:lstStyle/>
          <a:p>
            <a:pPr indent="0" marL="0">
              <a:buNone/>
            </a:pPr>
            <a:r>
              <a:rPr lang="en-US" sz="1100" dirty="0">
                <a:solidFill>
                  <a:srgbClr val="334155"/>
                </a:solidFill>
              </a:rPr>
              <a:t>Localize reference points from 'Equinox/Tier-A offices' to Vietnamese/Singaporean workplace/lifestyle contexts; feature local professionals in realistic achievement scenarios, not imported aspirational theater.</a:t>
            </a:r>
            <a:endParaRPr lang="en-US" sz="1100" dirty="0"/>
          </a:p>
        </p:txBody>
      </p:sp>
      <p:sp>
        <p:nvSpPr>
          <p:cNvPr id="24" name="Shape 22"/>
          <p:cNvSpPr/>
          <p:nvPr/>
        </p:nvSpPr>
        <p:spPr>
          <a:xfrm>
            <a:off x="411480" y="3895344"/>
            <a:ext cx="8503920" cy="795528"/>
          </a:xfrm>
          <a:prstGeom prst="rect">
            <a:avLst/>
          </a:prstGeom>
          <a:solidFill>
            <a:srgbClr val="F8FAFC"/>
          </a:solidFill>
          <a:ln w="12700">
            <a:solidFill>
              <a:srgbClr val="E2E8F0"/>
            </a:solidFill>
            <a:prstDash val="solid"/>
          </a:ln>
        </p:spPr>
      </p:sp>
      <p:sp>
        <p:nvSpPr>
          <p:cNvPr id="25" name="Shape 23"/>
          <p:cNvSpPr/>
          <p:nvPr/>
        </p:nvSpPr>
        <p:spPr>
          <a:xfrm>
            <a:off x="411480" y="3895344"/>
            <a:ext cx="54864" cy="795528"/>
          </a:xfrm>
          <a:prstGeom prst="rect">
            <a:avLst/>
          </a:prstGeom>
          <a:solidFill>
            <a:srgbClr val="E8B04B"/>
          </a:solidFill>
          <a:ln w="12700">
            <a:solidFill>
              <a:srgbClr val="E8B04B"/>
            </a:solidFill>
            <a:prstDash val="solid"/>
          </a:ln>
        </p:spPr>
      </p:sp>
      <p:sp>
        <p:nvSpPr>
          <p:cNvPr id="26" name="Shape 24"/>
          <p:cNvSpPr/>
          <p:nvPr/>
        </p:nvSpPr>
        <p:spPr>
          <a:xfrm>
            <a:off x="7790688" y="4069080"/>
            <a:ext cx="804672" cy="246888"/>
          </a:xfrm>
          <a:prstGeom prst="rect">
            <a:avLst/>
          </a:prstGeom>
          <a:solidFill>
            <a:srgbClr val="E8B04B"/>
          </a:solidFill>
          <a:ln w="12700">
            <a:solidFill>
              <a:srgbClr val="E8B04B"/>
            </a:solidFill>
            <a:prstDash val="solid"/>
          </a:ln>
        </p:spPr>
      </p:sp>
      <p:sp>
        <p:nvSpPr>
          <p:cNvPr id="27" name="Text 25"/>
          <p:cNvSpPr/>
          <p:nvPr/>
        </p:nvSpPr>
        <p:spPr>
          <a:xfrm>
            <a:off x="7790688" y="4069080"/>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Medium</a:t>
            </a:r>
            <a:endParaRPr lang="en-US" sz="900" dirty="0"/>
          </a:p>
        </p:txBody>
      </p:sp>
      <p:sp>
        <p:nvSpPr>
          <p:cNvPr id="28" name="Text 26"/>
          <p:cNvSpPr/>
          <p:nvPr/>
        </p:nvSpPr>
        <p:spPr>
          <a:xfrm>
            <a:off x="566928" y="3950208"/>
            <a:ext cx="7040880" cy="274320"/>
          </a:xfrm>
          <a:prstGeom prst="rect">
            <a:avLst/>
          </a:prstGeom>
          <a:noFill/>
          <a:ln/>
        </p:spPr>
        <p:txBody>
          <a:bodyPr wrap="square" rtlCol="0" anchor="ctr"/>
          <a:lstStyle/>
          <a:p>
            <a:pPr indent="0" marL="0">
              <a:buNone/>
            </a:pPr>
            <a:r>
              <a:rPr lang="en-US" sz="1200" b="1" dirty="0">
                <a:solidFill>
                  <a:srgbClr val="1E2761"/>
                </a:solidFill>
              </a:rPr>
              <a:t>Build Transparency Around Pricing Logic</a:t>
            </a:r>
            <a:endParaRPr lang="en-US" sz="1200" dirty="0"/>
          </a:p>
        </p:txBody>
      </p:sp>
      <p:sp>
        <p:nvSpPr>
          <p:cNvPr id="29" name="Text 27"/>
          <p:cNvSpPr/>
          <p:nvPr/>
        </p:nvSpPr>
        <p:spPr>
          <a:xfrm>
            <a:off x="566928" y="4279392"/>
            <a:ext cx="8229600" cy="347472"/>
          </a:xfrm>
          <a:prstGeom prst="rect">
            <a:avLst/>
          </a:prstGeom>
          <a:noFill/>
          <a:ln/>
        </p:spPr>
        <p:txBody>
          <a:bodyPr wrap="square" rtlCol="0" anchor="ctr"/>
          <a:lstStyle/>
          <a:p>
            <a:pPr indent="0" marL="0">
              <a:buNone/>
            </a:pPr>
            <a:r>
              <a:rPr lang="en-US" sz="1100" dirty="0">
                <a:solidFill>
                  <a:srgbClr val="334155"/>
                </a:solidFill>
              </a:rPr>
              <a:t>Paradoxically, revealing cost-of-goods vs. margin increases trust with Strategic Skeptic segment; consider content explaining cold-pressed production economics to defuse 'margin theater' perception.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w="12700">
            <a:solidFill>
              <a:srgbClr val="1E2761"/>
            </a:solidFill>
            <a:prstDash val="solid"/>
          </a:ln>
        </p:spPr>
      </p:sp>
      <p:sp>
        <p:nvSpPr>
          <p:cNvPr id="3" name="Shape 1"/>
          <p:cNvSpPr/>
          <p:nvPr/>
        </p:nvSpPr>
        <p:spPr>
          <a:xfrm>
            <a:off x="0" y="0"/>
            <a:ext cx="182880" cy="5143500"/>
          </a:xfrm>
          <a:prstGeom prst="rect">
            <a:avLst/>
          </a:prstGeom>
          <a:solidFill>
            <a:srgbClr val="E8B04B"/>
          </a:solidFill>
          <a:ln w="12700">
            <a:solidFill>
              <a:srgbClr val="E8B04B"/>
            </a:solidFill>
            <a:prstDash val="solid"/>
          </a:ln>
        </p:spPr>
      </p:sp>
      <p:sp>
        <p:nvSpPr>
          <p:cNvPr id="4" name="Text 2"/>
          <p:cNvSpPr/>
          <p:nvPr/>
        </p:nvSpPr>
        <p:spPr>
          <a:xfrm>
            <a:off x="365760" y="91440"/>
            <a:ext cx="8503920" cy="475488"/>
          </a:xfrm>
          <a:prstGeom prst="rect">
            <a:avLst/>
          </a:prstGeom>
          <a:noFill/>
          <a:ln/>
        </p:spPr>
        <p:txBody>
          <a:bodyPr wrap="square" lIns="0" tIns="0" rIns="0" bIns="0" rtlCol="0" anchor="ctr"/>
          <a:lstStyle/>
          <a:p>
            <a:pPr indent="0" marL="0">
              <a:buNone/>
            </a:pPr>
            <a:r>
              <a:rPr lang="en-US" sz="2200" b="1" dirty="0">
                <a:solidFill>
                  <a:srgbClr val="F7F9FC"/>
                </a:solidFill>
                <a:latin typeface="Calibri" pitchFamily="34" charset="0"/>
                <a:ea typeface="Calibri" pitchFamily="34" charset="-122"/>
                <a:cs typeface="Calibri" pitchFamily="34" charset="-120"/>
              </a:rPr>
              <a:t>Risk Assessment &amp; Kill Switch Signals</a:t>
            </a:r>
            <a:endParaRPr lang="en-US" sz="2200" dirty="0"/>
          </a:p>
        </p:txBody>
      </p:sp>
      <p:sp>
        <p:nvSpPr>
          <p:cNvPr id="5" name="Text 3"/>
          <p:cNvSpPr/>
          <p:nvPr/>
        </p:nvSpPr>
        <p:spPr>
          <a:xfrm>
            <a:off x="411480" y="749808"/>
            <a:ext cx="8503920" cy="365760"/>
          </a:xfrm>
          <a:prstGeom prst="rect">
            <a:avLst/>
          </a:prstGeom>
          <a:noFill/>
          <a:ln/>
        </p:spPr>
        <p:txBody>
          <a:bodyPr wrap="square" rtlCol="0" anchor="ctr"/>
          <a:lstStyle/>
          <a:p>
            <a:pPr indent="0" marL="0">
              <a:buNone/>
            </a:pPr>
            <a:r>
              <a:rPr lang="en-US" sz="1500" b="1" i="1" dirty="0">
                <a:solidFill>
                  <a:srgbClr val="1E2761"/>
                </a:solidFill>
              </a:rPr>
              <a:t>Critical kill signals requiring immediate monitoring</a:t>
            </a:r>
            <a:endParaRPr lang="en-US" sz="1500" dirty="0"/>
          </a:p>
        </p:txBody>
      </p:sp>
      <p:sp>
        <p:nvSpPr>
          <p:cNvPr id="6" name="Shape 4"/>
          <p:cNvSpPr/>
          <p:nvPr/>
        </p:nvSpPr>
        <p:spPr>
          <a:xfrm>
            <a:off x="411480" y="1234440"/>
            <a:ext cx="8503920" cy="795528"/>
          </a:xfrm>
          <a:prstGeom prst="rect">
            <a:avLst/>
          </a:prstGeom>
          <a:solidFill>
            <a:srgbClr val="F8FAFC"/>
          </a:solidFill>
          <a:ln w="12700">
            <a:solidFill>
              <a:srgbClr val="E2E8F0"/>
            </a:solidFill>
            <a:prstDash val="solid"/>
          </a:ln>
        </p:spPr>
      </p:sp>
      <p:sp>
        <p:nvSpPr>
          <p:cNvPr id="7" name="Shape 5"/>
          <p:cNvSpPr/>
          <p:nvPr/>
        </p:nvSpPr>
        <p:spPr>
          <a:xfrm>
            <a:off x="411480" y="1234440"/>
            <a:ext cx="54864" cy="795528"/>
          </a:xfrm>
          <a:prstGeom prst="rect">
            <a:avLst/>
          </a:prstGeom>
          <a:solidFill>
            <a:srgbClr val="DC2626"/>
          </a:solidFill>
          <a:ln w="12700">
            <a:solidFill>
              <a:srgbClr val="DC2626"/>
            </a:solidFill>
            <a:prstDash val="solid"/>
          </a:ln>
        </p:spPr>
      </p:sp>
      <p:sp>
        <p:nvSpPr>
          <p:cNvPr id="8" name="Shape 6"/>
          <p:cNvSpPr/>
          <p:nvPr/>
        </p:nvSpPr>
        <p:spPr>
          <a:xfrm>
            <a:off x="7790688" y="1408176"/>
            <a:ext cx="804672" cy="246888"/>
          </a:xfrm>
          <a:prstGeom prst="rect">
            <a:avLst/>
          </a:prstGeom>
          <a:solidFill>
            <a:srgbClr val="DC2626"/>
          </a:solidFill>
          <a:ln w="12700">
            <a:solidFill>
              <a:srgbClr val="DC2626"/>
            </a:solidFill>
            <a:prstDash val="solid"/>
          </a:ln>
        </p:spPr>
      </p:sp>
      <p:sp>
        <p:nvSpPr>
          <p:cNvPr id="9" name="Text 7"/>
          <p:cNvSpPr/>
          <p:nvPr/>
        </p:nvSpPr>
        <p:spPr>
          <a:xfrm>
            <a:off x="7790688" y="1408176"/>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High</a:t>
            </a:r>
            <a:endParaRPr lang="en-US" sz="900" dirty="0"/>
          </a:p>
        </p:txBody>
      </p:sp>
      <p:sp>
        <p:nvSpPr>
          <p:cNvPr id="10" name="Text 8"/>
          <p:cNvSpPr/>
          <p:nvPr/>
        </p:nvSpPr>
        <p:spPr>
          <a:xfrm>
            <a:off x="566928" y="1289304"/>
            <a:ext cx="7040880" cy="274320"/>
          </a:xfrm>
          <a:prstGeom prst="rect">
            <a:avLst/>
          </a:prstGeom>
          <a:noFill/>
          <a:ln/>
        </p:spPr>
        <p:txBody>
          <a:bodyPr wrap="square" rtlCol="0" anchor="ctr"/>
          <a:lstStyle/>
          <a:p>
            <a:pPr indent="0" marL="0">
              <a:buNone/>
            </a:pPr>
            <a:r>
              <a:rPr lang="en-US" sz="1200" b="1" dirty="0">
                <a:solidFill>
                  <a:srgbClr val="1E2761"/>
                </a:solidFill>
              </a:rPr>
              <a:t>10% Receptivity Rate in Target Demo</a:t>
            </a:r>
            <a:endParaRPr lang="en-US" sz="1200" dirty="0"/>
          </a:p>
        </p:txBody>
      </p:sp>
      <p:sp>
        <p:nvSpPr>
          <p:cNvPr id="11" name="Text 9"/>
          <p:cNvSpPr/>
          <p:nvPr/>
        </p:nvSpPr>
        <p:spPr>
          <a:xfrm>
            <a:off x="566928" y="1618488"/>
            <a:ext cx="8229600" cy="347472"/>
          </a:xfrm>
          <a:prstGeom prst="rect">
            <a:avLst/>
          </a:prstGeom>
          <a:noFill/>
          <a:ln/>
        </p:spPr>
        <p:txBody>
          <a:bodyPr wrap="square" rtlCol="0" anchor="ctr"/>
          <a:lstStyle/>
          <a:p>
            <a:pPr indent="0" marL="0">
              <a:buNone/>
            </a:pPr>
            <a:r>
              <a:rPr lang="en-US" sz="1100" dirty="0">
                <a:solidFill>
                  <a:srgbClr val="334155"/>
                </a:solidFill>
              </a:rPr>
              <a:t>If post-launch trial shows single-digit conversion among Vietnamese/Singaporean metropolitan 21-35, campaign messaging fundamentally misaligned with market psychology.</a:t>
            </a:r>
            <a:endParaRPr lang="en-US" sz="1100" dirty="0"/>
          </a:p>
        </p:txBody>
      </p:sp>
      <p:sp>
        <p:nvSpPr>
          <p:cNvPr id="12" name="Shape 10"/>
          <p:cNvSpPr/>
          <p:nvPr/>
        </p:nvSpPr>
        <p:spPr>
          <a:xfrm>
            <a:off x="411480" y="2121408"/>
            <a:ext cx="8503920" cy="795528"/>
          </a:xfrm>
          <a:prstGeom prst="rect">
            <a:avLst/>
          </a:prstGeom>
          <a:solidFill>
            <a:srgbClr val="F8FAFC"/>
          </a:solidFill>
          <a:ln w="12700">
            <a:solidFill>
              <a:srgbClr val="E2E8F0"/>
            </a:solidFill>
            <a:prstDash val="solid"/>
          </a:ln>
        </p:spPr>
      </p:sp>
      <p:sp>
        <p:nvSpPr>
          <p:cNvPr id="13" name="Shape 11"/>
          <p:cNvSpPr/>
          <p:nvPr/>
        </p:nvSpPr>
        <p:spPr>
          <a:xfrm>
            <a:off x="411480" y="2121408"/>
            <a:ext cx="54864" cy="795528"/>
          </a:xfrm>
          <a:prstGeom prst="rect">
            <a:avLst/>
          </a:prstGeom>
          <a:solidFill>
            <a:srgbClr val="DC2626"/>
          </a:solidFill>
          <a:ln w="12700">
            <a:solidFill>
              <a:srgbClr val="DC2626"/>
            </a:solidFill>
            <a:prstDash val="solid"/>
          </a:ln>
        </p:spPr>
      </p:sp>
      <p:sp>
        <p:nvSpPr>
          <p:cNvPr id="14" name="Shape 12"/>
          <p:cNvSpPr/>
          <p:nvPr/>
        </p:nvSpPr>
        <p:spPr>
          <a:xfrm>
            <a:off x="7790688" y="2295144"/>
            <a:ext cx="804672" cy="246888"/>
          </a:xfrm>
          <a:prstGeom prst="rect">
            <a:avLst/>
          </a:prstGeom>
          <a:solidFill>
            <a:srgbClr val="DC2626"/>
          </a:solidFill>
          <a:ln w="12700">
            <a:solidFill>
              <a:srgbClr val="DC2626"/>
            </a:solidFill>
            <a:prstDash val="solid"/>
          </a:ln>
        </p:spPr>
      </p:sp>
      <p:sp>
        <p:nvSpPr>
          <p:cNvPr id="15" name="Text 13"/>
          <p:cNvSpPr/>
          <p:nvPr/>
        </p:nvSpPr>
        <p:spPr>
          <a:xfrm>
            <a:off x="7790688" y="2295144"/>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High</a:t>
            </a:r>
            <a:endParaRPr lang="en-US" sz="900" dirty="0"/>
          </a:p>
        </p:txBody>
      </p:sp>
      <p:sp>
        <p:nvSpPr>
          <p:cNvPr id="16" name="Text 14"/>
          <p:cNvSpPr/>
          <p:nvPr/>
        </p:nvSpPr>
        <p:spPr>
          <a:xfrm>
            <a:off x="566928" y="2176272"/>
            <a:ext cx="7040880" cy="274320"/>
          </a:xfrm>
          <a:prstGeom prst="rect">
            <a:avLst/>
          </a:prstGeom>
          <a:noFill/>
          <a:ln/>
        </p:spPr>
        <p:txBody>
          <a:bodyPr wrap="square" rtlCol="0" anchor="ctr"/>
          <a:lstStyle/>
          <a:p>
            <a:pPr indent="0" marL="0">
              <a:buNone/>
            </a:pPr>
            <a:r>
              <a:rPr lang="en-US" sz="1200" b="1" dirty="0">
                <a:solidFill>
                  <a:srgbClr val="1E2761"/>
                </a:solidFill>
              </a:rPr>
              <a:t>Financial Shame Triggering Brand Toxicity</a:t>
            </a:r>
            <a:endParaRPr lang="en-US" sz="1200" dirty="0"/>
          </a:p>
        </p:txBody>
      </p:sp>
      <p:sp>
        <p:nvSpPr>
          <p:cNvPr id="17" name="Text 15"/>
          <p:cNvSpPr/>
          <p:nvPr/>
        </p:nvSpPr>
        <p:spPr>
          <a:xfrm>
            <a:off x="566928" y="2505456"/>
            <a:ext cx="8229600" cy="347472"/>
          </a:xfrm>
          <a:prstGeom prst="rect">
            <a:avLst/>
          </a:prstGeom>
          <a:noFill/>
          <a:ln/>
        </p:spPr>
        <p:txBody>
          <a:bodyPr wrap="square" rtlCol="0" anchor="ctr"/>
          <a:lstStyle/>
          <a:p>
            <a:pPr indent="0" marL="0">
              <a:buNone/>
            </a:pPr>
            <a:r>
              <a:rPr lang="en-US" sz="1100" dirty="0">
                <a:solidFill>
                  <a:srgbClr val="334155"/>
                </a:solidFill>
              </a:rPr>
              <a:t>Social media sentiment analysis showing terms like 'elitist,' 'not for us,' 'imported,' or physiological stress language indicates pricing/positioning triggering active resentment.</a:t>
            </a:r>
            <a:endParaRPr lang="en-US" sz="1100" dirty="0"/>
          </a:p>
        </p:txBody>
      </p:sp>
      <p:sp>
        <p:nvSpPr>
          <p:cNvPr id="18" name="Shape 16"/>
          <p:cNvSpPr/>
          <p:nvPr/>
        </p:nvSpPr>
        <p:spPr>
          <a:xfrm>
            <a:off x="411480" y="3008376"/>
            <a:ext cx="8503920" cy="795528"/>
          </a:xfrm>
          <a:prstGeom prst="rect">
            <a:avLst/>
          </a:prstGeom>
          <a:solidFill>
            <a:srgbClr val="F8FAFC"/>
          </a:solidFill>
          <a:ln w="12700">
            <a:solidFill>
              <a:srgbClr val="E2E8F0"/>
            </a:solidFill>
            <a:prstDash val="solid"/>
          </a:ln>
        </p:spPr>
      </p:sp>
      <p:sp>
        <p:nvSpPr>
          <p:cNvPr id="19" name="Shape 17"/>
          <p:cNvSpPr/>
          <p:nvPr/>
        </p:nvSpPr>
        <p:spPr>
          <a:xfrm>
            <a:off x="411480" y="3008376"/>
            <a:ext cx="54864" cy="795528"/>
          </a:xfrm>
          <a:prstGeom prst="rect">
            <a:avLst/>
          </a:prstGeom>
          <a:solidFill>
            <a:srgbClr val="E8B04B"/>
          </a:solidFill>
          <a:ln w="12700">
            <a:solidFill>
              <a:srgbClr val="E8B04B"/>
            </a:solidFill>
            <a:prstDash val="solid"/>
          </a:ln>
        </p:spPr>
      </p:sp>
      <p:sp>
        <p:nvSpPr>
          <p:cNvPr id="20" name="Shape 18"/>
          <p:cNvSpPr/>
          <p:nvPr/>
        </p:nvSpPr>
        <p:spPr>
          <a:xfrm>
            <a:off x="7790688" y="3182112"/>
            <a:ext cx="804672" cy="246888"/>
          </a:xfrm>
          <a:prstGeom prst="rect">
            <a:avLst/>
          </a:prstGeom>
          <a:solidFill>
            <a:srgbClr val="E8B04B"/>
          </a:solidFill>
          <a:ln w="12700">
            <a:solidFill>
              <a:srgbClr val="E8B04B"/>
            </a:solidFill>
            <a:prstDash val="solid"/>
          </a:ln>
        </p:spPr>
      </p:sp>
      <p:sp>
        <p:nvSpPr>
          <p:cNvPr id="21" name="Text 19"/>
          <p:cNvSpPr/>
          <p:nvPr/>
        </p:nvSpPr>
        <p:spPr>
          <a:xfrm>
            <a:off x="7790688" y="3182112"/>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Medium</a:t>
            </a:r>
            <a:endParaRPr lang="en-US" sz="900" dirty="0"/>
          </a:p>
        </p:txBody>
      </p:sp>
      <p:sp>
        <p:nvSpPr>
          <p:cNvPr id="22" name="Text 20"/>
          <p:cNvSpPr/>
          <p:nvPr/>
        </p:nvSpPr>
        <p:spPr>
          <a:xfrm>
            <a:off x="566928" y="3063240"/>
            <a:ext cx="7040880" cy="274320"/>
          </a:xfrm>
          <a:prstGeom prst="rect">
            <a:avLst/>
          </a:prstGeom>
          <a:noFill/>
          <a:ln/>
        </p:spPr>
        <p:txBody>
          <a:bodyPr wrap="square" rtlCol="0" anchor="ctr"/>
          <a:lstStyle/>
          <a:p>
            <a:pPr indent="0" marL="0">
              <a:buNone/>
            </a:pPr>
            <a:r>
              <a:rPr lang="en-US" sz="1200" b="1" dirty="0">
                <a:solidFill>
                  <a:srgbClr val="1E2761"/>
                </a:solidFill>
              </a:rPr>
              <a:t>Gamification Mechanics Backfire</a:t>
            </a:r>
            <a:endParaRPr lang="en-US" sz="1200" dirty="0"/>
          </a:p>
        </p:txBody>
      </p:sp>
      <p:sp>
        <p:nvSpPr>
          <p:cNvPr id="23" name="Text 21"/>
          <p:cNvSpPr/>
          <p:nvPr/>
        </p:nvSpPr>
        <p:spPr>
          <a:xfrm>
            <a:off x="566928" y="3392424"/>
            <a:ext cx="8229600" cy="347472"/>
          </a:xfrm>
          <a:prstGeom prst="rect">
            <a:avLst/>
          </a:prstGeom>
          <a:noFill/>
          <a:ln/>
        </p:spPr>
        <p:txBody>
          <a:bodyPr wrap="square" rtlCol="0" anchor="ctr"/>
          <a:lstStyle/>
          <a:p>
            <a:pPr indent="0" marL="0">
              <a:buNone/>
            </a:pPr>
            <a:r>
              <a:rPr lang="en-US" sz="1100" dirty="0">
                <a:solidFill>
                  <a:srgbClr val="334155"/>
                </a:solidFill>
              </a:rPr>
              <a:t>'Boost Streak' abandonment rates above 60% within first week signal loss aversion punishing unstable schedules rather than building loyalty.</a:t>
            </a:r>
            <a:endParaRPr lang="en-US" sz="1100" dirty="0"/>
          </a:p>
        </p:txBody>
      </p:sp>
      <p:sp>
        <p:nvSpPr>
          <p:cNvPr id="24" name="Shape 22"/>
          <p:cNvSpPr/>
          <p:nvPr/>
        </p:nvSpPr>
        <p:spPr>
          <a:xfrm>
            <a:off x="411480" y="3895344"/>
            <a:ext cx="8503920" cy="795528"/>
          </a:xfrm>
          <a:prstGeom prst="rect">
            <a:avLst/>
          </a:prstGeom>
          <a:solidFill>
            <a:srgbClr val="F8FAFC"/>
          </a:solidFill>
          <a:ln w="12700">
            <a:solidFill>
              <a:srgbClr val="E2E8F0"/>
            </a:solidFill>
            <a:prstDash val="solid"/>
          </a:ln>
        </p:spPr>
      </p:sp>
      <p:sp>
        <p:nvSpPr>
          <p:cNvPr id="25" name="Shape 23"/>
          <p:cNvSpPr/>
          <p:nvPr/>
        </p:nvSpPr>
        <p:spPr>
          <a:xfrm>
            <a:off x="411480" y="3895344"/>
            <a:ext cx="54864" cy="795528"/>
          </a:xfrm>
          <a:prstGeom prst="rect">
            <a:avLst/>
          </a:prstGeom>
          <a:solidFill>
            <a:srgbClr val="E8B04B"/>
          </a:solidFill>
          <a:ln w="12700">
            <a:solidFill>
              <a:srgbClr val="E8B04B"/>
            </a:solidFill>
            <a:prstDash val="solid"/>
          </a:ln>
        </p:spPr>
      </p:sp>
      <p:sp>
        <p:nvSpPr>
          <p:cNvPr id="26" name="Shape 24"/>
          <p:cNvSpPr/>
          <p:nvPr/>
        </p:nvSpPr>
        <p:spPr>
          <a:xfrm>
            <a:off x="7790688" y="4069080"/>
            <a:ext cx="804672" cy="246888"/>
          </a:xfrm>
          <a:prstGeom prst="rect">
            <a:avLst/>
          </a:prstGeom>
          <a:solidFill>
            <a:srgbClr val="E8B04B"/>
          </a:solidFill>
          <a:ln w="12700">
            <a:solidFill>
              <a:srgbClr val="E8B04B"/>
            </a:solidFill>
            <a:prstDash val="solid"/>
          </a:ln>
        </p:spPr>
      </p:sp>
      <p:sp>
        <p:nvSpPr>
          <p:cNvPr id="27" name="Text 25"/>
          <p:cNvSpPr/>
          <p:nvPr/>
        </p:nvSpPr>
        <p:spPr>
          <a:xfrm>
            <a:off x="7790688" y="4069080"/>
            <a:ext cx="804672" cy="246888"/>
          </a:xfrm>
          <a:prstGeom prst="rect">
            <a:avLst/>
          </a:prstGeom>
          <a:noFill/>
          <a:ln/>
        </p:spPr>
        <p:txBody>
          <a:bodyPr wrap="square" lIns="0" tIns="0" rIns="0" bIns="0" rtlCol="0" anchor="ctr"/>
          <a:lstStyle/>
          <a:p>
            <a:pPr algn="ctr" indent="0" marL="0">
              <a:buNone/>
            </a:pPr>
            <a:r>
              <a:rPr lang="en-US" sz="900" b="1" dirty="0">
                <a:solidFill>
                  <a:srgbClr val="F7F9FC"/>
                </a:solidFill>
              </a:rPr>
              <a:t>Medium</a:t>
            </a:r>
            <a:endParaRPr lang="en-US" sz="900" dirty="0"/>
          </a:p>
        </p:txBody>
      </p:sp>
      <p:sp>
        <p:nvSpPr>
          <p:cNvPr id="28" name="Text 26"/>
          <p:cNvSpPr/>
          <p:nvPr/>
        </p:nvSpPr>
        <p:spPr>
          <a:xfrm>
            <a:off x="566928" y="3950208"/>
            <a:ext cx="7040880" cy="274320"/>
          </a:xfrm>
          <a:prstGeom prst="rect">
            <a:avLst/>
          </a:prstGeom>
          <a:noFill/>
          <a:ln/>
        </p:spPr>
        <p:txBody>
          <a:bodyPr wrap="square" rtlCol="0" anchor="ctr"/>
          <a:lstStyle/>
          <a:p>
            <a:pPr indent="0" marL="0">
              <a:buNone/>
            </a:pPr>
            <a:r>
              <a:rPr lang="en-US" sz="1200" b="1" dirty="0">
                <a:solidFill>
                  <a:srgbClr val="1E2761"/>
                </a:solidFill>
              </a:rPr>
              <a:t>Cultural Authenticity Rejection</a:t>
            </a:r>
            <a:endParaRPr lang="en-US" sz="1200" dirty="0"/>
          </a:p>
        </p:txBody>
      </p:sp>
      <p:sp>
        <p:nvSpPr>
          <p:cNvPr id="29" name="Text 27"/>
          <p:cNvSpPr/>
          <p:nvPr/>
        </p:nvSpPr>
        <p:spPr>
          <a:xfrm>
            <a:off x="566928" y="4279392"/>
            <a:ext cx="8229600" cy="347472"/>
          </a:xfrm>
          <a:prstGeom prst="rect">
            <a:avLst/>
          </a:prstGeom>
          <a:noFill/>
          <a:ln/>
        </p:spPr>
        <p:txBody>
          <a:bodyPr wrap="square" rtlCol="0" anchor="ctr"/>
          <a:lstStyle/>
          <a:p>
            <a:pPr indent="0" marL="0">
              <a:buNone/>
            </a:pPr>
            <a:r>
              <a:rPr lang="en-US" sz="1100" dirty="0">
                <a:solidFill>
                  <a:srgbClr val="334155"/>
                </a:solidFill>
              </a:rPr>
              <a:t>Localist segment feedback describing campaign as 'foreign scheme' or 'not Vietnamese/Singaporean' indicates cosmopolitan-only appeal, cutting addressable market by 50%+.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E8B04B"/>
          </a:solidFill>
          <a:ln w="12700">
            <a:solidFill>
              <a:srgbClr val="E8B04B"/>
            </a:solidFill>
            <a:prstDash val="solid"/>
          </a:ln>
        </p:spPr>
      </p:sp>
      <p:sp>
        <p:nvSpPr>
          <p:cNvPr id="3" name="Text 1"/>
          <p:cNvSpPr/>
          <p:nvPr/>
        </p:nvSpPr>
        <p:spPr>
          <a:xfrm>
            <a:off x="411480" y="1005840"/>
            <a:ext cx="8321040" cy="960120"/>
          </a:xfrm>
          <a:prstGeom prst="rect">
            <a:avLst/>
          </a:prstGeom>
          <a:noFill/>
          <a:ln/>
        </p:spPr>
        <p:txBody>
          <a:bodyPr wrap="square" rtlCol="0" anchor="ctr"/>
          <a:lstStyle/>
          <a:p>
            <a:pPr algn="ctr" indent="0" marL="0">
              <a:buNone/>
            </a:pPr>
            <a:r>
              <a:rPr lang="en-US" sz="5200" b="1" dirty="0">
                <a:solidFill>
                  <a:srgbClr val="F7F9FC"/>
                </a:solidFill>
                <a:latin typeface="Calibri" pitchFamily="34" charset="0"/>
                <a:ea typeface="Calibri" pitchFamily="34" charset="-122"/>
                <a:cs typeface="Calibri" pitchFamily="34" charset="-120"/>
              </a:rPr>
              <a:t>PANTHEON™</a:t>
            </a:r>
            <a:endParaRPr lang="en-US" sz="5200" dirty="0"/>
          </a:p>
        </p:txBody>
      </p:sp>
      <p:sp>
        <p:nvSpPr>
          <p:cNvPr id="4" name="Shape 2"/>
          <p:cNvSpPr/>
          <p:nvPr/>
        </p:nvSpPr>
        <p:spPr>
          <a:xfrm>
            <a:off x="2834640" y="2057400"/>
            <a:ext cx="3474720" cy="41148"/>
          </a:xfrm>
          <a:prstGeom prst="rect">
            <a:avLst/>
          </a:prstGeom>
          <a:solidFill>
            <a:srgbClr val="E8B04B"/>
          </a:solidFill>
          <a:ln w="12700">
            <a:solidFill>
              <a:srgbClr val="E8B04B"/>
            </a:solidFill>
            <a:prstDash val="solid"/>
          </a:ln>
        </p:spPr>
      </p:sp>
      <p:sp>
        <p:nvSpPr>
          <p:cNvPr id="5" name="Text 3"/>
          <p:cNvSpPr/>
          <p:nvPr/>
        </p:nvSpPr>
        <p:spPr>
          <a:xfrm>
            <a:off x="411480" y="2176272"/>
            <a:ext cx="8321040" cy="402336"/>
          </a:xfrm>
          <a:prstGeom prst="rect">
            <a:avLst/>
          </a:prstGeom>
          <a:noFill/>
          <a:ln/>
        </p:spPr>
        <p:txBody>
          <a:bodyPr wrap="square" rtlCol="0" anchor="ctr"/>
          <a:lstStyle/>
          <a:p>
            <a:pPr algn="ctr" indent="0" marL="0">
              <a:buNone/>
            </a:pPr>
            <a:r>
              <a:rPr lang="en-US" sz="1400" i="1" dirty="0">
                <a:solidFill>
                  <a:srgbClr val="CADCFC"/>
                </a:solidFill>
              </a:rPr>
              <a:t>Synthetic Focus Group Research Engine</a:t>
            </a:r>
            <a:endParaRPr lang="en-US" sz="1400" dirty="0"/>
          </a:p>
        </p:txBody>
      </p:sp>
      <p:sp>
        <p:nvSpPr>
          <p:cNvPr id="6" name="Text 4"/>
          <p:cNvSpPr/>
          <p:nvPr/>
        </p:nvSpPr>
        <p:spPr>
          <a:xfrm>
            <a:off x="411480" y="2697480"/>
            <a:ext cx="8321040" cy="320040"/>
          </a:xfrm>
          <a:prstGeom prst="rect">
            <a:avLst/>
          </a:prstGeom>
          <a:noFill/>
          <a:ln/>
        </p:spPr>
        <p:txBody>
          <a:bodyPr wrap="square" rtlCol="0" anchor="ctr"/>
          <a:lstStyle/>
          <a:p>
            <a:pPr algn="ctr" indent="0" marL="0">
              <a:buNone/>
            </a:pPr>
            <a:r>
              <a:rPr lang="en-US" sz="1100" dirty="0">
                <a:solidFill>
                  <a:srgbClr val="8896A8"/>
                </a:solidFill>
              </a:rPr>
              <a:t>Powered by Anthropic Claude · Modal Serverless · Supabase</a:t>
            </a:r>
            <a:endParaRPr lang="en-US" sz="1100" dirty="0"/>
          </a:p>
        </p:txBody>
      </p:sp>
      <p:sp>
        <p:nvSpPr>
          <p:cNvPr id="7" name="Text 5"/>
          <p:cNvSpPr/>
          <p:nvPr/>
        </p:nvSpPr>
        <p:spPr>
          <a:xfrm>
            <a:off x="1097280" y="4160520"/>
            <a:ext cx="6949440" cy="658368"/>
          </a:xfrm>
          <a:prstGeom prst="rect">
            <a:avLst/>
          </a:prstGeom>
          <a:noFill/>
          <a:ln/>
        </p:spPr>
        <p:txBody>
          <a:bodyPr wrap="square" rtlCol="0" anchor="ctr"/>
          <a:lstStyle/>
          <a:p>
            <a:pPr algn="ctr" indent="0" marL="0">
              <a:buNone/>
            </a:pPr>
            <a:r>
              <a:rPr lang="en-US" sz="900" i="1" dirty="0">
                <a:solidFill>
                  <a:srgbClr val="8896A8"/>
                </a:solidFill>
              </a:rPr>
              <a:t>This report was generated using synthetic focus group simulation. All respondents are AI-synthesized personas. Results are for strategic guidance only.</a:t>
            </a:r>
            <a:endParaRPr lang="en-US" sz="900" dirty="0"/>
          </a:p>
        </p:txBody>
      </p:sp>
      <p:sp>
        <p:nvSpPr>
          <p:cNvPr id="8" name="Text 6"/>
          <p:cNvSpPr/>
          <p:nvPr/>
        </p:nvSpPr>
        <p:spPr>
          <a:xfrm>
            <a:off x="6583680" y="4681728"/>
            <a:ext cx="2377440" cy="274320"/>
          </a:xfrm>
          <a:prstGeom prst="rect">
            <a:avLst/>
          </a:prstGeom>
          <a:noFill/>
          <a:ln/>
        </p:spPr>
        <p:txBody>
          <a:bodyPr wrap="square" rtlCol="0" anchor="ctr"/>
          <a:lstStyle/>
          <a:p>
            <a:pPr algn="r" indent="0" marL="0">
              <a:buNone/>
            </a:pPr>
            <a:r>
              <a:rPr lang="en-US" sz="1000" dirty="0">
                <a:solidFill>
                  <a:srgbClr val="8896A8"/>
                </a:solidFill>
              </a:rPr>
              <a:t>March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Boost "The Urban Pulse": Vietnamese &amp; Singaporean Consumer Insights</dc:title>
  <dc:subject>PptxGenJS Presentation</dc:subject>
  <dc:creator>PANTHEON</dc:creator>
  <cp:lastModifiedBy>PANTHEON</cp:lastModifiedBy>
  <cp:revision>1</cp:revision>
  <dcterms:created xsi:type="dcterms:W3CDTF">2026-03-07T06:04:39Z</dcterms:created>
  <dcterms:modified xsi:type="dcterms:W3CDTF">2026-03-07T06:04:39Z</dcterms:modified>
</cp:coreProperties>
</file>