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E8B04B"/>
          </a:solidFill>
          <a:ln w="12700">
            <a:solidFill>
              <a:srgbClr val="E8B04B"/>
            </a:solidFill>
            <a:prstDash val="solid"/>
          </a:ln>
        </p:spPr>
      </p:sp>
      <p:sp>
        <p:nvSpPr>
          <p:cNvPr id="3" name="Text 1"/>
          <p:cNvSpPr/>
          <p:nvPr/>
        </p:nvSpPr>
        <p:spPr>
          <a:xfrm>
            <a:off x="6400800" y="201168"/>
            <a:ext cx="2560320" cy="347472"/>
          </a:xfrm>
          <a:prstGeom prst="rect">
            <a:avLst/>
          </a:prstGeom>
          <a:noFill/>
          <a:ln/>
        </p:spPr>
        <p:txBody>
          <a:bodyPr wrap="square" rtlCol="0" anchor="ctr"/>
          <a:lstStyle/>
          <a:p>
            <a:pPr algn="r" indent="0" marL="0">
              <a:buNone/>
            </a:pPr>
            <a:r>
              <a:rPr lang="en-US" sz="1100" b="1" dirty="0">
                <a:solidFill>
                  <a:srgbClr val="E8B04B"/>
                </a:solidFill>
                <a:latin typeface="Calibri" pitchFamily="34" charset="0"/>
                <a:ea typeface="Calibri" pitchFamily="34" charset="-122"/>
                <a:cs typeface="Calibri" pitchFamily="34" charset="-120"/>
              </a:rPr>
              <a:t>PANTHEON™</a:t>
            </a:r>
            <a:endParaRPr lang="en-US" sz="1100" dirty="0"/>
          </a:p>
        </p:txBody>
      </p:sp>
      <p:sp>
        <p:nvSpPr>
          <p:cNvPr id="4" name="Text 2"/>
          <p:cNvSpPr/>
          <p:nvPr/>
        </p:nvSpPr>
        <p:spPr>
          <a:xfrm>
            <a:off x="411480" y="914400"/>
            <a:ext cx="8503920" cy="1417320"/>
          </a:xfrm>
          <a:prstGeom prst="rect">
            <a:avLst/>
          </a:prstGeom>
          <a:noFill/>
          <a:ln/>
        </p:spPr>
        <p:txBody>
          <a:bodyPr wrap="square" rtlCol="0" anchor="ctr"/>
          <a:lstStyle/>
          <a:p>
            <a:pPr indent="0" marL="0">
              <a:buNone/>
            </a:pPr>
            <a:r>
              <a:rPr lang="en-US" sz="3600" b="1" dirty="0">
                <a:solidFill>
                  <a:srgbClr val="F7F9FC"/>
                </a:solidFill>
                <a:latin typeface="Calibri" pitchFamily="34" charset="0"/>
                <a:ea typeface="Calibri" pitchFamily="34" charset="-122"/>
                <a:cs typeface="Calibri" pitchFamily="34" charset="-120"/>
              </a:rPr>
              <a:t>Ya Kun Kaya Toast Medan: Heritage Recognition Strategy</a:t>
            </a:r>
            <a:endParaRPr lang="en-US" sz="3600" dirty="0"/>
          </a:p>
        </p:txBody>
      </p:sp>
      <p:sp>
        <p:nvSpPr>
          <p:cNvPr id="5" name="Shape 3"/>
          <p:cNvSpPr/>
          <p:nvPr/>
        </p:nvSpPr>
        <p:spPr>
          <a:xfrm>
            <a:off x="411480" y="2487168"/>
            <a:ext cx="2560320" cy="41148"/>
          </a:xfrm>
          <a:prstGeom prst="rect">
            <a:avLst/>
          </a:prstGeom>
          <a:solidFill>
            <a:srgbClr val="E8B04B"/>
          </a:solidFill>
          <a:ln w="12700">
            <a:solidFill>
              <a:srgbClr val="E8B04B"/>
            </a:solidFill>
            <a:prstDash val="solid"/>
          </a:ln>
        </p:spPr>
      </p:sp>
      <p:sp>
        <p:nvSpPr>
          <p:cNvPr id="6" name="Text 4"/>
          <p:cNvSpPr/>
          <p:nvPr/>
        </p:nvSpPr>
        <p:spPr>
          <a:xfrm>
            <a:off x="411480" y="2624328"/>
            <a:ext cx="8412480" cy="713232"/>
          </a:xfrm>
          <a:prstGeom prst="rect">
            <a:avLst/>
          </a:prstGeom>
          <a:noFill/>
          <a:ln/>
        </p:spPr>
        <p:txBody>
          <a:bodyPr wrap="square" rtlCol="0" anchor="t"/>
          <a:lstStyle/>
          <a:p>
            <a:pPr indent="0" marL="0">
              <a:buNone/>
            </a:pPr>
            <a:r>
              <a:rPr lang="en-US" sz="1500" i="1" dirty="0">
                <a:solidFill>
                  <a:srgbClr val="CADCFC"/>
                </a:solidFill>
                <a:latin typeface="Calibri" pitchFamily="34" charset="0"/>
                <a:ea typeface="Calibri" pitchFamily="34" charset="-122"/>
                <a:cs typeface="Calibri" pitchFamily="34" charset="-120"/>
              </a:rPr>
              <a:t>Launch Ya Kun in Medan by framing Singapore kopitiam heritage as shared Hainanese/Peranakan inheritance, not foreign import.</a:t>
            </a:r>
            <a:endParaRPr lang="en-US" sz="1500" dirty="0"/>
          </a:p>
        </p:txBody>
      </p:sp>
      <p:sp>
        <p:nvSpPr>
          <p:cNvPr id="7" name="Text 5"/>
          <p:cNvSpPr/>
          <p:nvPr/>
        </p:nvSpPr>
        <p:spPr>
          <a:xfrm>
            <a:off x="411480" y="3456432"/>
            <a:ext cx="7772400" cy="320040"/>
          </a:xfrm>
          <a:prstGeom prst="rect">
            <a:avLst/>
          </a:prstGeom>
          <a:noFill/>
          <a:ln/>
        </p:spPr>
        <p:txBody>
          <a:bodyPr wrap="square" rtlCol="0" anchor="ctr"/>
          <a:lstStyle/>
          <a:p>
            <a:pPr indent="0" marL="0">
              <a:buNone/>
            </a:pPr>
            <a:r>
              <a:rPr lang="en-US" sz="1100" dirty="0">
                <a:solidFill>
                  <a:srgbClr val="8896A8"/>
                </a:solidFill>
              </a:rPr>
              <a:t>Target Demographic: Medanese Upper Middle Class, 25-45|Indonesian Metropolitan 21-35</a:t>
            </a:r>
            <a:endParaRPr lang="en-US" sz="1100" dirty="0"/>
          </a:p>
        </p:txBody>
      </p:sp>
      <p:sp>
        <p:nvSpPr>
          <p:cNvPr id="8" name="Text 6"/>
          <p:cNvSpPr/>
          <p:nvPr/>
        </p:nvSpPr>
        <p:spPr>
          <a:xfrm>
            <a:off x="6583680" y="4681728"/>
            <a:ext cx="2377440" cy="274320"/>
          </a:xfrm>
          <a:prstGeom prst="rect">
            <a:avLst/>
          </a:prstGeom>
          <a:noFill/>
          <a:ln/>
        </p:spPr>
        <p:txBody>
          <a:bodyPr wrap="square" rtlCol="0" anchor="ctr"/>
          <a:lstStyle/>
          <a:p>
            <a:pPr algn="r" indent="0" marL="0">
              <a:buNone/>
            </a:pPr>
            <a:r>
              <a:rPr lang="en-US" sz="1000" dirty="0">
                <a:solidFill>
                  <a:srgbClr val="8896A8"/>
                </a:solidFill>
              </a:rPr>
              <a:t>March 2026</a:t>
            </a:r>
            <a:endParaRPr lang="en-US" sz="1000" dirty="0"/>
          </a:p>
        </p:txBody>
      </p:sp>
      <p:sp>
        <p:nvSpPr>
          <p:cNvPr id="9" name="Text 7"/>
          <p:cNvSpPr/>
          <p:nvPr/>
        </p:nvSpPr>
        <p:spPr>
          <a:xfrm>
            <a:off x="411480" y="4681728"/>
            <a:ext cx="4572000" cy="274320"/>
          </a:xfrm>
          <a:prstGeom prst="rect">
            <a:avLst/>
          </a:prstGeom>
          <a:noFill/>
          <a:ln/>
        </p:spPr>
        <p:txBody>
          <a:bodyPr wrap="square" rtlCol="0" anchor="ctr"/>
          <a:lstStyle/>
          <a:p>
            <a:pPr indent="0" marL="0">
              <a:buNone/>
            </a:pPr>
            <a:r>
              <a:rPr lang="en-US" sz="1000" dirty="0">
                <a:solidFill>
                  <a:srgbClr val="8896A8"/>
                </a:solidFill>
              </a:rPr>
              <a:t>Synthetic Focus Group Research</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0"/>
            <a:ext cx="182880" cy="5143500"/>
          </a:xfrm>
          <a:prstGeom prst="rect">
            <a:avLst/>
          </a:prstGeom>
          <a:solidFill>
            <a:srgbClr val="E8B04B"/>
          </a:solidFill>
          <a:ln w="12700">
            <a:solidFill>
              <a:srgbClr val="E8B04B"/>
            </a:solidFill>
            <a:prstDash val="solid"/>
          </a:ln>
        </p:spPr>
      </p:sp>
      <p:sp>
        <p:nvSpPr>
          <p:cNvPr id="4" name="Text 2"/>
          <p:cNvSpPr/>
          <p:nvPr/>
        </p:nvSpPr>
        <p:spPr>
          <a:xfrm>
            <a:off x="365760" y="91440"/>
            <a:ext cx="8503920" cy="475488"/>
          </a:xfrm>
          <a:prstGeom prst="rect">
            <a:avLst/>
          </a:prstGeom>
          <a:noFill/>
          <a:ln/>
        </p:spPr>
        <p:txBody>
          <a:bodyPr wrap="square" lIns="0" tIns="0" rIns="0" bIns="0" rtlCol="0" anchor="ctr"/>
          <a:lstStyle/>
          <a:p>
            <a:pPr indent="0" marL="0">
              <a:buNone/>
            </a:pPr>
            <a:r>
              <a:rPr lang="en-US" sz="2200" b="1" dirty="0">
                <a:solidFill>
                  <a:srgbClr val="F7F9FC"/>
                </a:solidFill>
                <a:latin typeface="Calibri" pitchFamily="34" charset="0"/>
                <a:ea typeface="Calibri" pitchFamily="34" charset="-122"/>
                <a:cs typeface="Calibri" pitchFamily="34" charset="-120"/>
              </a:rPr>
              <a:t>Executive Summary</a:t>
            </a:r>
            <a:endParaRPr lang="en-US" sz="2200" dirty="0"/>
          </a:p>
        </p:txBody>
      </p:sp>
      <p:sp>
        <p:nvSpPr>
          <p:cNvPr id="5" name="Text 3"/>
          <p:cNvSpPr/>
          <p:nvPr/>
        </p:nvSpPr>
        <p:spPr>
          <a:xfrm>
            <a:off x="411480" y="749808"/>
            <a:ext cx="8503920" cy="384048"/>
          </a:xfrm>
          <a:prstGeom prst="rect">
            <a:avLst/>
          </a:prstGeom>
          <a:noFill/>
          <a:ln/>
        </p:spPr>
        <p:txBody>
          <a:bodyPr wrap="square" rtlCol="0" anchor="ctr"/>
          <a:lstStyle/>
          <a:p>
            <a:pPr indent="0" marL="0">
              <a:buNone/>
            </a:pPr>
            <a:r>
              <a:rPr lang="en-US" sz="1500" b="1" i="1" dirty="0">
                <a:solidFill>
                  <a:srgbClr val="1E2761"/>
                </a:solidFill>
                <a:latin typeface="Calibri" pitchFamily="34" charset="0"/>
                <a:ea typeface="Calibri" pitchFamily="34" charset="-122"/>
                <a:cs typeface="Calibri" pitchFamily="34" charset="-120"/>
              </a:rPr>
              <a:t>This campaign works exclusively for consumers exhausted by performing success who need permission to claim inheritance without apology</a:t>
            </a:r>
            <a:endParaRPr lang="en-US" sz="1500" dirty="0"/>
          </a:p>
        </p:txBody>
      </p:sp>
      <p:sp>
        <p:nvSpPr>
          <p:cNvPr id="6" name="Shape 4"/>
          <p:cNvSpPr/>
          <p:nvPr/>
        </p:nvSpPr>
        <p:spPr>
          <a:xfrm>
            <a:off x="411480" y="1298448"/>
            <a:ext cx="54864" cy="365760"/>
          </a:xfrm>
          <a:prstGeom prst="rect">
            <a:avLst/>
          </a:prstGeom>
          <a:solidFill>
            <a:srgbClr val="E8B04B"/>
          </a:solidFill>
          <a:ln w="12700">
            <a:solidFill>
              <a:srgbClr val="E8B04B"/>
            </a:solidFill>
            <a:prstDash val="solid"/>
          </a:ln>
        </p:spPr>
      </p:sp>
      <p:sp>
        <p:nvSpPr>
          <p:cNvPr id="7" name="Text 5"/>
          <p:cNvSpPr/>
          <p:nvPr/>
        </p:nvSpPr>
        <p:spPr>
          <a:xfrm>
            <a:off x="566928" y="1261872"/>
            <a:ext cx="8229600" cy="512064"/>
          </a:xfrm>
          <a:prstGeom prst="rect">
            <a:avLst/>
          </a:prstGeom>
          <a:noFill/>
          <a:ln/>
        </p:spPr>
        <p:txBody>
          <a:bodyPr wrap="square" rtlCol="0" anchor="ctr"/>
          <a:lstStyle/>
          <a:p>
            <a:pPr indent="0" marL="0">
              <a:buNone/>
            </a:pPr>
            <a:r>
              <a:rPr lang="en-US" sz="1300" dirty="0">
                <a:solidFill>
                  <a:srgbClr val="334155"/>
                </a:solidFill>
                <a:latin typeface="Calibri" pitchFamily="34" charset="0"/>
                <a:ea typeface="Calibri" pitchFamily="34" charset="-122"/>
                <a:cs typeface="Calibri" pitchFamily="34" charset="-120"/>
              </a:rPr>
              <a:t>Core audience is 'Quietly Burdened Inheritors' (35-44, upper-middle) experiencing status-performance fatigue and seeking identity consolidation without choosing between tradition and modernity</a:t>
            </a:r>
            <a:endParaRPr lang="en-US" sz="1300" dirty="0"/>
          </a:p>
        </p:txBody>
      </p:sp>
      <p:sp>
        <p:nvSpPr>
          <p:cNvPr id="8" name="Shape 6"/>
          <p:cNvSpPr/>
          <p:nvPr/>
        </p:nvSpPr>
        <p:spPr>
          <a:xfrm>
            <a:off x="411480" y="1984248"/>
            <a:ext cx="54864" cy="365760"/>
          </a:xfrm>
          <a:prstGeom prst="rect">
            <a:avLst/>
          </a:prstGeom>
          <a:solidFill>
            <a:srgbClr val="E8B04B"/>
          </a:solidFill>
          <a:ln w="12700">
            <a:solidFill>
              <a:srgbClr val="E8B04B"/>
            </a:solidFill>
            <a:prstDash val="solid"/>
          </a:ln>
        </p:spPr>
      </p:sp>
      <p:sp>
        <p:nvSpPr>
          <p:cNvPr id="9" name="Text 7"/>
          <p:cNvSpPr/>
          <p:nvPr/>
        </p:nvSpPr>
        <p:spPr>
          <a:xfrm>
            <a:off x="566928" y="1947672"/>
            <a:ext cx="8229600" cy="512064"/>
          </a:xfrm>
          <a:prstGeom prst="rect">
            <a:avLst/>
          </a:prstGeom>
          <a:noFill/>
          <a:ln/>
        </p:spPr>
        <p:txBody>
          <a:bodyPr wrap="square" rtlCol="0" anchor="ctr"/>
          <a:lstStyle/>
          <a:p>
            <a:pPr indent="0" marL="0">
              <a:buNone/>
            </a:pPr>
            <a:r>
              <a:rPr lang="en-US" sz="1300" dirty="0">
                <a:solidFill>
                  <a:srgbClr val="334155"/>
                </a:solidFill>
                <a:latin typeface="Calibri" pitchFamily="34" charset="0"/>
                <a:ea typeface="Calibri" pitchFamily="34" charset="-122"/>
                <a:cs typeface="Calibri" pitchFamily="34" charset="-120"/>
              </a:rPr>
              <a:t>Secondary audience are 'Analytical Aspirants' (26-35, metropolitan) requiring evidence-based legitimacy and visible social proof from established consumers before emotional investment</a:t>
            </a:r>
            <a:endParaRPr lang="en-US" sz="1300" dirty="0"/>
          </a:p>
        </p:txBody>
      </p:sp>
      <p:sp>
        <p:nvSpPr>
          <p:cNvPr id="10" name="Shape 8"/>
          <p:cNvSpPr/>
          <p:nvPr/>
        </p:nvSpPr>
        <p:spPr>
          <a:xfrm>
            <a:off x="411480" y="2670048"/>
            <a:ext cx="54864" cy="365760"/>
          </a:xfrm>
          <a:prstGeom prst="rect">
            <a:avLst/>
          </a:prstGeom>
          <a:solidFill>
            <a:srgbClr val="E8B04B"/>
          </a:solidFill>
          <a:ln w="12700">
            <a:solidFill>
              <a:srgbClr val="E8B04B"/>
            </a:solidFill>
            <a:prstDash val="solid"/>
          </a:ln>
        </p:spPr>
      </p:sp>
      <p:sp>
        <p:nvSpPr>
          <p:cNvPr id="11" name="Text 9"/>
          <p:cNvSpPr/>
          <p:nvPr/>
        </p:nvSpPr>
        <p:spPr>
          <a:xfrm>
            <a:off x="566928" y="2633472"/>
            <a:ext cx="8229600" cy="512064"/>
          </a:xfrm>
          <a:prstGeom prst="rect">
            <a:avLst/>
          </a:prstGeom>
          <a:noFill/>
          <a:ln/>
        </p:spPr>
        <p:txBody>
          <a:bodyPr wrap="square" rtlCol="0" anchor="ctr"/>
          <a:lstStyle/>
          <a:p>
            <a:pPr indent="0" marL="0">
              <a:buNone/>
            </a:pPr>
            <a:r>
              <a:rPr lang="en-US" sz="1300" dirty="0">
                <a:solidFill>
                  <a:srgbClr val="334155"/>
                </a:solidFill>
                <a:latin typeface="Calibri" pitchFamily="34" charset="0"/>
                <a:ea typeface="Calibri" pitchFamily="34" charset="-122"/>
                <a:cs typeface="Calibri" pitchFamily="34" charset="-120"/>
              </a:rPr>
              <a:t>Campaign's refusal of urgency language and arrival rhetoric signals it won't force consumers to perform discovery, offering recognition as relief rather than education</a:t>
            </a:r>
            <a:endParaRPr lang="en-US" sz="1300" dirty="0"/>
          </a:p>
        </p:txBody>
      </p:sp>
      <p:sp>
        <p:nvSpPr>
          <p:cNvPr id="12" name="Shape 10"/>
          <p:cNvSpPr/>
          <p:nvPr/>
        </p:nvSpPr>
        <p:spPr>
          <a:xfrm>
            <a:off x="411480" y="3355848"/>
            <a:ext cx="54864" cy="365760"/>
          </a:xfrm>
          <a:prstGeom prst="rect">
            <a:avLst/>
          </a:prstGeom>
          <a:solidFill>
            <a:srgbClr val="E8B04B"/>
          </a:solidFill>
          <a:ln w="12700">
            <a:solidFill>
              <a:srgbClr val="E8B04B"/>
            </a:solidFill>
            <a:prstDash val="solid"/>
          </a:ln>
        </p:spPr>
      </p:sp>
      <p:sp>
        <p:nvSpPr>
          <p:cNvPr id="13" name="Text 11"/>
          <p:cNvSpPr/>
          <p:nvPr/>
        </p:nvSpPr>
        <p:spPr>
          <a:xfrm>
            <a:off x="566928" y="3319272"/>
            <a:ext cx="8229600" cy="512064"/>
          </a:xfrm>
          <a:prstGeom prst="rect">
            <a:avLst/>
          </a:prstGeom>
          <a:noFill/>
          <a:ln/>
        </p:spPr>
        <p:txBody>
          <a:bodyPr wrap="square" rtlCol="0" anchor="ctr"/>
          <a:lstStyle/>
          <a:p>
            <a:pPr indent="0" marL="0">
              <a:buNone/>
            </a:pPr>
            <a:r>
              <a:rPr lang="en-US" sz="1300" dirty="0">
                <a:solidFill>
                  <a:srgbClr val="334155"/>
                </a:solidFill>
                <a:latin typeface="Calibri" pitchFamily="34" charset="0"/>
                <a:ea typeface="Calibri" pitchFamily="34" charset="-122"/>
                <a:cs typeface="Calibri" pitchFamily="34" charset="-120"/>
              </a:rPr>
              <a:t>Critical fracture exists between heritage-as-right (values-driven consumers with material sacrifices) versus heritage-as-commodity (aesthetic-driven consumers with class privilege)</a:t>
            </a:r>
            <a:endParaRPr lang="en-US" sz="1300" dirty="0"/>
          </a:p>
        </p:txBody>
      </p:sp>
      <p:sp>
        <p:nvSpPr>
          <p:cNvPr id="14" name="Shape 12"/>
          <p:cNvSpPr/>
          <p:nvPr/>
        </p:nvSpPr>
        <p:spPr>
          <a:xfrm>
            <a:off x="411480" y="4041648"/>
            <a:ext cx="54864" cy="365760"/>
          </a:xfrm>
          <a:prstGeom prst="rect">
            <a:avLst/>
          </a:prstGeom>
          <a:solidFill>
            <a:srgbClr val="E8B04B"/>
          </a:solidFill>
          <a:ln w="12700">
            <a:solidFill>
              <a:srgbClr val="E8B04B"/>
            </a:solidFill>
            <a:prstDash val="solid"/>
          </a:ln>
        </p:spPr>
      </p:sp>
      <p:sp>
        <p:nvSpPr>
          <p:cNvPr id="15" name="Text 13"/>
          <p:cNvSpPr/>
          <p:nvPr/>
        </p:nvSpPr>
        <p:spPr>
          <a:xfrm>
            <a:off x="566928" y="4005072"/>
            <a:ext cx="8229600" cy="512064"/>
          </a:xfrm>
          <a:prstGeom prst="rect">
            <a:avLst/>
          </a:prstGeom>
          <a:noFill/>
          <a:ln/>
        </p:spPr>
        <p:txBody>
          <a:bodyPr wrap="square" rtlCol="0" anchor="ctr"/>
          <a:lstStyle/>
          <a:p>
            <a:pPr indent="0" marL="0">
              <a:buNone/>
            </a:pPr>
            <a:r>
              <a:rPr lang="en-US" sz="1300" dirty="0">
                <a:solidFill>
                  <a:srgbClr val="334155"/>
                </a:solidFill>
                <a:latin typeface="Calibri" pitchFamily="34" charset="0"/>
                <a:ea typeface="Calibri" pitchFamily="34" charset="-122"/>
                <a:cs typeface="Calibri" pitchFamily="34" charset="-120"/>
              </a:rPr>
              <a:t>Success depends on making merchant-class PTM participation visible at 7am 'Jam Tujuh Pagi' moments to grant STM permission to participate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0"/>
            <a:ext cx="182880" cy="5143500"/>
          </a:xfrm>
          <a:prstGeom prst="rect">
            <a:avLst/>
          </a:prstGeom>
          <a:solidFill>
            <a:srgbClr val="E8B04B"/>
          </a:solidFill>
          <a:ln w="12700">
            <a:solidFill>
              <a:srgbClr val="E8B04B"/>
            </a:solidFill>
            <a:prstDash val="solid"/>
          </a:ln>
        </p:spPr>
      </p:sp>
      <p:sp>
        <p:nvSpPr>
          <p:cNvPr id="4" name="Text 2"/>
          <p:cNvSpPr/>
          <p:nvPr/>
        </p:nvSpPr>
        <p:spPr>
          <a:xfrm>
            <a:off x="365760" y="91440"/>
            <a:ext cx="8503920" cy="475488"/>
          </a:xfrm>
          <a:prstGeom prst="rect">
            <a:avLst/>
          </a:prstGeom>
          <a:noFill/>
          <a:ln/>
        </p:spPr>
        <p:txBody>
          <a:bodyPr wrap="square" lIns="0" tIns="0" rIns="0" bIns="0" rtlCol="0" anchor="ctr"/>
          <a:lstStyle/>
          <a:p>
            <a:pPr indent="0" marL="0">
              <a:buNone/>
            </a:pPr>
            <a:r>
              <a:rPr lang="en-US" sz="2200" b="1" dirty="0">
                <a:solidFill>
                  <a:srgbClr val="F7F9FC"/>
                </a:solidFill>
                <a:latin typeface="Calibri" pitchFamily="34" charset="0"/>
                <a:ea typeface="Calibri" pitchFamily="34" charset="-122"/>
                <a:cs typeface="Calibri" pitchFamily="34" charset="-120"/>
              </a:rPr>
              <a:t>Agenda</a:t>
            </a:r>
            <a:endParaRPr lang="en-US" sz="2200" dirty="0"/>
          </a:p>
        </p:txBody>
      </p:sp>
      <p:sp>
        <p:nvSpPr>
          <p:cNvPr id="5" name="Shape 3"/>
          <p:cNvSpPr/>
          <p:nvPr/>
        </p:nvSpPr>
        <p:spPr>
          <a:xfrm>
            <a:off x="411480" y="859536"/>
            <a:ext cx="310896" cy="310896"/>
          </a:xfrm>
          <a:prstGeom prst="rect">
            <a:avLst/>
          </a:prstGeom>
          <a:solidFill>
            <a:srgbClr val="E8B04B"/>
          </a:solidFill>
          <a:ln w="12700">
            <a:solidFill>
              <a:srgbClr val="E8B04B"/>
            </a:solidFill>
            <a:prstDash val="solid"/>
          </a:ln>
        </p:spPr>
      </p:sp>
      <p:sp>
        <p:nvSpPr>
          <p:cNvPr id="6" name="Text 4"/>
          <p:cNvSpPr/>
          <p:nvPr/>
        </p:nvSpPr>
        <p:spPr>
          <a:xfrm>
            <a:off x="411480" y="859536"/>
            <a:ext cx="310896" cy="310896"/>
          </a:xfrm>
          <a:prstGeom prst="rect">
            <a:avLst/>
          </a:prstGeom>
          <a:noFill/>
          <a:ln/>
        </p:spPr>
        <p:txBody>
          <a:bodyPr wrap="square" lIns="0" tIns="0" rIns="0" bIns="0" rtlCol="0" anchor="ctr"/>
          <a:lstStyle/>
          <a:p>
            <a:pPr algn="ctr" indent="0" marL="0">
              <a:buNone/>
            </a:pPr>
            <a:r>
              <a:rPr lang="en-US" sz="1200" b="1" dirty="0">
                <a:solidFill>
                  <a:srgbClr val="F7F9FC"/>
                </a:solidFill>
              </a:rPr>
              <a:t>1</a:t>
            </a:r>
            <a:endParaRPr lang="en-US" sz="1200" dirty="0"/>
          </a:p>
        </p:txBody>
      </p:sp>
      <p:sp>
        <p:nvSpPr>
          <p:cNvPr id="7" name="Text 5"/>
          <p:cNvSpPr/>
          <p:nvPr/>
        </p:nvSpPr>
        <p:spPr>
          <a:xfrm>
            <a:off x="841248" y="822960"/>
            <a:ext cx="8046720" cy="402336"/>
          </a:xfrm>
          <a:prstGeom prst="rect">
            <a:avLst/>
          </a:prstGeom>
          <a:noFill/>
          <a:ln/>
        </p:spPr>
        <p:txBody>
          <a:bodyPr wrap="square" rtlCol="0" anchor="ctr"/>
          <a:lstStyle/>
          <a:p>
            <a:pPr indent="0" marL="0">
              <a:buNone/>
            </a:pPr>
            <a:r>
              <a:rPr lang="en-US" sz="1400" dirty="0">
                <a:solidFill>
                  <a:srgbClr val="334155"/>
                </a:solidFill>
                <a:latin typeface="Calibri" pitchFamily="34" charset="0"/>
                <a:ea typeface="Calibri" pitchFamily="34" charset="-122"/>
                <a:cs typeface="Calibri" pitchFamily="34" charset="-120"/>
              </a:rPr>
              <a:t>Market &amp; Demographic Context</a:t>
            </a:r>
            <a:endParaRPr lang="en-US" sz="1400" dirty="0"/>
          </a:p>
        </p:txBody>
      </p:sp>
      <p:sp>
        <p:nvSpPr>
          <p:cNvPr id="8" name="Shape 6"/>
          <p:cNvSpPr/>
          <p:nvPr/>
        </p:nvSpPr>
        <p:spPr>
          <a:xfrm>
            <a:off x="411480" y="1517904"/>
            <a:ext cx="310896" cy="310896"/>
          </a:xfrm>
          <a:prstGeom prst="rect">
            <a:avLst/>
          </a:prstGeom>
          <a:solidFill>
            <a:srgbClr val="1E2761"/>
          </a:solidFill>
          <a:ln w="12700">
            <a:solidFill>
              <a:srgbClr val="1E2761"/>
            </a:solidFill>
            <a:prstDash val="solid"/>
          </a:ln>
        </p:spPr>
      </p:sp>
      <p:sp>
        <p:nvSpPr>
          <p:cNvPr id="9" name="Text 7"/>
          <p:cNvSpPr/>
          <p:nvPr/>
        </p:nvSpPr>
        <p:spPr>
          <a:xfrm>
            <a:off x="411480" y="1517904"/>
            <a:ext cx="310896" cy="310896"/>
          </a:xfrm>
          <a:prstGeom prst="rect">
            <a:avLst/>
          </a:prstGeom>
          <a:noFill/>
          <a:ln/>
        </p:spPr>
        <p:txBody>
          <a:bodyPr wrap="square" lIns="0" tIns="0" rIns="0" bIns="0" rtlCol="0" anchor="ctr"/>
          <a:lstStyle/>
          <a:p>
            <a:pPr algn="ctr" indent="0" marL="0">
              <a:buNone/>
            </a:pPr>
            <a:r>
              <a:rPr lang="en-US" sz="1200" b="1" dirty="0">
                <a:solidFill>
                  <a:srgbClr val="F7F9FC"/>
                </a:solidFill>
              </a:rPr>
              <a:t>2</a:t>
            </a:r>
            <a:endParaRPr lang="en-US" sz="1200" dirty="0"/>
          </a:p>
        </p:txBody>
      </p:sp>
      <p:sp>
        <p:nvSpPr>
          <p:cNvPr id="10" name="Text 8"/>
          <p:cNvSpPr/>
          <p:nvPr/>
        </p:nvSpPr>
        <p:spPr>
          <a:xfrm>
            <a:off x="841248" y="1481328"/>
            <a:ext cx="8046720" cy="402336"/>
          </a:xfrm>
          <a:prstGeom prst="rect">
            <a:avLst/>
          </a:prstGeom>
          <a:noFill/>
          <a:ln/>
        </p:spPr>
        <p:txBody>
          <a:bodyPr wrap="square" rtlCol="0" anchor="ctr"/>
          <a:lstStyle/>
          <a:p>
            <a:pPr indent="0" marL="0">
              <a:buNone/>
            </a:pPr>
            <a:r>
              <a:rPr lang="en-US" sz="1400" dirty="0">
                <a:solidFill>
                  <a:srgbClr val="334155"/>
                </a:solidFill>
                <a:latin typeface="Calibri" pitchFamily="34" charset="0"/>
                <a:ea typeface="Calibri" pitchFamily="34" charset="-122"/>
                <a:cs typeface="Calibri" pitchFamily="34" charset="-120"/>
              </a:rPr>
              <a:t>Audience Psychology &amp; Deep-Dive</a:t>
            </a:r>
            <a:endParaRPr lang="en-US" sz="1400" dirty="0"/>
          </a:p>
        </p:txBody>
      </p:sp>
      <p:sp>
        <p:nvSpPr>
          <p:cNvPr id="11" name="Shape 9"/>
          <p:cNvSpPr/>
          <p:nvPr/>
        </p:nvSpPr>
        <p:spPr>
          <a:xfrm>
            <a:off x="411480" y="2176272"/>
            <a:ext cx="310896" cy="310896"/>
          </a:xfrm>
          <a:prstGeom prst="rect">
            <a:avLst/>
          </a:prstGeom>
          <a:solidFill>
            <a:srgbClr val="E8B04B"/>
          </a:solidFill>
          <a:ln w="12700">
            <a:solidFill>
              <a:srgbClr val="E8B04B"/>
            </a:solidFill>
            <a:prstDash val="solid"/>
          </a:ln>
        </p:spPr>
      </p:sp>
      <p:sp>
        <p:nvSpPr>
          <p:cNvPr id="12" name="Text 10"/>
          <p:cNvSpPr/>
          <p:nvPr/>
        </p:nvSpPr>
        <p:spPr>
          <a:xfrm>
            <a:off x="411480" y="2176272"/>
            <a:ext cx="310896" cy="310896"/>
          </a:xfrm>
          <a:prstGeom prst="rect">
            <a:avLst/>
          </a:prstGeom>
          <a:noFill/>
          <a:ln/>
        </p:spPr>
        <p:txBody>
          <a:bodyPr wrap="square" lIns="0" tIns="0" rIns="0" bIns="0" rtlCol="0" anchor="ctr"/>
          <a:lstStyle/>
          <a:p>
            <a:pPr algn="ctr" indent="0" marL="0">
              <a:buNone/>
            </a:pPr>
            <a:r>
              <a:rPr lang="en-US" sz="1200" b="1" dirty="0">
                <a:solidFill>
                  <a:srgbClr val="F7F9FC"/>
                </a:solidFill>
              </a:rPr>
              <a:t>3</a:t>
            </a:r>
            <a:endParaRPr lang="en-US" sz="1200" dirty="0"/>
          </a:p>
        </p:txBody>
      </p:sp>
      <p:sp>
        <p:nvSpPr>
          <p:cNvPr id="13" name="Text 11"/>
          <p:cNvSpPr/>
          <p:nvPr/>
        </p:nvSpPr>
        <p:spPr>
          <a:xfrm>
            <a:off x="841248" y="2139696"/>
            <a:ext cx="8046720" cy="402336"/>
          </a:xfrm>
          <a:prstGeom prst="rect">
            <a:avLst/>
          </a:prstGeom>
          <a:noFill/>
          <a:ln/>
        </p:spPr>
        <p:txBody>
          <a:bodyPr wrap="square" rtlCol="0" anchor="ctr"/>
          <a:lstStyle/>
          <a:p>
            <a:pPr indent="0" marL="0">
              <a:buNone/>
            </a:pPr>
            <a:r>
              <a:rPr lang="en-US" sz="1400" dirty="0">
                <a:solidFill>
                  <a:srgbClr val="334155"/>
                </a:solidFill>
                <a:latin typeface="Calibri" pitchFamily="34" charset="0"/>
                <a:ea typeface="Calibri" pitchFamily="34" charset="-122"/>
                <a:cs typeface="Calibri" pitchFamily="34" charset="-120"/>
              </a:rPr>
              <a:t>Consumer Response Analysis</a:t>
            </a:r>
            <a:endParaRPr lang="en-US" sz="1400" dirty="0"/>
          </a:p>
        </p:txBody>
      </p:sp>
      <p:sp>
        <p:nvSpPr>
          <p:cNvPr id="14" name="Shape 12"/>
          <p:cNvSpPr/>
          <p:nvPr/>
        </p:nvSpPr>
        <p:spPr>
          <a:xfrm>
            <a:off x="411480" y="2834640"/>
            <a:ext cx="310896" cy="310896"/>
          </a:xfrm>
          <a:prstGeom prst="rect">
            <a:avLst/>
          </a:prstGeom>
          <a:solidFill>
            <a:srgbClr val="1E2761"/>
          </a:solidFill>
          <a:ln w="12700">
            <a:solidFill>
              <a:srgbClr val="1E2761"/>
            </a:solidFill>
            <a:prstDash val="solid"/>
          </a:ln>
        </p:spPr>
      </p:sp>
      <p:sp>
        <p:nvSpPr>
          <p:cNvPr id="15" name="Text 13"/>
          <p:cNvSpPr/>
          <p:nvPr/>
        </p:nvSpPr>
        <p:spPr>
          <a:xfrm>
            <a:off x="411480" y="2834640"/>
            <a:ext cx="310896" cy="310896"/>
          </a:xfrm>
          <a:prstGeom prst="rect">
            <a:avLst/>
          </a:prstGeom>
          <a:noFill/>
          <a:ln/>
        </p:spPr>
        <p:txBody>
          <a:bodyPr wrap="square" lIns="0" tIns="0" rIns="0" bIns="0" rtlCol="0" anchor="ctr"/>
          <a:lstStyle/>
          <a:p>
            <a:pPr algn="ctr" indent="0" marL="0">
              <a:buNone/>
            </a:pPr>
            <a:r>
              <a:rPr lang="en-US" sz="1200" b="1" dirty="0">
                <a:solidFill>
                  <a:srgbClr val="F7F9FC"/>
                </a:solidFill>
              </a:rPr>
              <a:t>4</a:t>
            </a:r>
            <a:endParaRPr lang="en-US" sz="1200" dirty="0"/>
          </a:p>
        </p:txBody>
      </p:sp>
      <p:sp>
        <p:nvSpPr>
          <p:cNvPr id="16" name="Text 14"/>
          <p:cNvSpPr/>
          <p:nvPr/>
        </p:nvSpPr>
        <p:spPr>
          <a:xfrm>
            <a:off x="841248" y="2798064"/>
            <a:ext cx="8046720" cy="402336"/>
          </a:xfrm>
          <a:prstGeom prst="rect">
            <a:avLst/>
          </a:prstGeom>
          <a:noFill/>
          <a:ln/>
        </p:spPr>
        <p:txBody>
          <a:bodyPr wrap="square" rtlCol="0" anchor="ctr"/>
          <a:lstStyle/>
          <a:p>
            <a:pPr indent="0" marL="0">
              <a:buNone/>
            </a:pPr>
            <a:r>
              <a:rPr lang="en-US" sz="1400" dirty="0">
                <a:solidFill>
                  <a:srgbClr val="334155"/>
                </a:solidFill>
                <a:latin typeface="Calibri" pitchFamily="34" charset="0"/>
                <a:ea typeface="Calibri" pitchFamily="34" charset="-122"/>
                <a:cs typeface="Calibri" pitchFamily="34" charset="-120"/>
              </a:rPr>
              <a:t>Key Insights &amp; Patterns</a:t>
            </a:r>
            <a:endParaRPr lang="en-US" sz="1400" dirty="0"/>
          </a:p>
        </p:txBody>
      </p:sp>
      <p:sp>
        <p:nvSpPr>
          <p:cNvPr id="17" name="Shape 15"/>
          <p:cNvSpPr/>
          <p:nvPr/>
        </p:nvSpPr>
        <p:spPr>
          <a:xfrm>
            <a:off x="411480" y="3493008"/>
            <a:ext cx="310896" cy="310896"/>
          </a:xfrm>
          <a:prstGeom prst="rect">
            <a:avLst/>
          </a:prstGeom>
          <a:solidFill>
            <a:srgbClr val="E8B04B"/>
          </a:solidFill>
          <a:ln w="12700">
            <a:solidFill>
              <a:srgbClr val="E8B04B"/>
            </a:solidFill>
            <a:prstDash val="solid"/>
          </a:ln>
        </p:spPr>
      </p:sp>
      <p:sp>
        <p:nvSpPr>
          <p:cNvPr id="18" name="Text 16"/>
          <p:cNvSpPr/>
          <p:nvPr/>
        </p:nvSpPr>
        <p:spPr>
          <a:xfrm>
            <a:off x="411480" y="3493008"/>
            <a:ext cx="310896" cy="310896"/>
          </a:xfrm>
          <a:prstGeom prst="rect">
            <a:avLst/>
          </a:prstGeom>
          <a:noFill/>
          <a:ln/>
        </p:spPr>
        <p:txBody>
          <a:bodyPr wrap="square" lIns="0" tIns="0" rIns="0" bIns="0" rtlCol="0" anchor="ctr"/>
          <a:lstStyle/>
          <a:p>
            <a:pPr algn="ctr" indent="0" marL="0">
              <a:buNone/>
            </a:pPr>
            <a:r>
              <a:rPr lang="en-US" sz="1200" b="1" dirty="0">
                <a:solidFill>
                  <a:srgbClr val="F7F9FC"/>
                </a:solidFill>
              </a:rPr>
              <a:t>5</a:t>
            </a:r>
            <a:endParaRPr lang="en-US" sz="1200" dirty="0"/>
          </a:p>
        </p:txBody>
      </p:sp>
      <p:sp>
        <p:nvSpPr>
          <p:cNvPr id="19" name="Text 17"/>
          <p:cNvSpPr/>
          <p:nvPr/>
        </p:nvSpPr>
        <p:spPr>
          <a:xfrm>
            <a:off x="841248" y="3456432"/>
            <a:ext cx="8046720" cy="402336"/>
          </a:xfrm>
          <a:prstGeom prst="rect">
            <a:avLst/>
          </a:prstGeom>
          <a:noFill/>
          <a:ln/>
        </p:spPr>
        <p:txBody>
          <a:bodyPr wrap="square" rtlCol="0" anchor="ctr"/>
          <a:lstStyle/>
          <a:p>
            <a:pPr indent="0" marL="0">
              <a:buNone/>
            </a:pPr>
            <a:r>
              <a:rPr lang="en-US" sz="1400" dirty="0">
                <a:solidFill>
                  <a:srgbClr val="334155"/>
                </a:solidFill>
                <a:latin typeface="Calibri" pitchFamily="34" charset="0"/>
                <a:ea typeface="Calibri" pitchFamily="34" charset="-122"/>
                <a:cs typeface="Calibri" pitchFamily="34" charset="-120"/>
              </a:rPr>
              <a:t>Strategic Recommendations</a:t>
            </a:r>
            <a:endParaRPr lang="en-US" sz="1400" dirty="0"/>
          </a:p>
        </p:txBody>
      </p:sp>
      <p:sp>
        <p:nvSpPr>
          <p:cNvPr id="20" name="Shape 18"/>
          <p:cNvSpPr/>
          <p:nvPr/>
        </p:nvSpPr>
        <p:spPr>
          <a:xfrm>
            <a:off x="411480" y="4151376"/>
            <a:ext cx="310896" cy="310896"/>
          </a:xfrm>
          <a:prstGeom prst="rect">
            <a:avLst/>
          </a:prstGeom>
          <a:solidFill>
            <a:srgbClr val="1E2761"/>
          </a:solidFill>
          <a:ln w="12700">
            <a:solidFill>
              <a:srgbClr val="1E2761"/>
            </a:solidFill>
            <a:prstDash val="solid"/>
          </a:ln>
        </p:spPr>
      </p:sp>
      <p:sp>
        <p:nvSpPr>
          <p:cNvPr id="21" name="Text 19"/>
          <p:cNvSpPr/>
          <p:nvPr/>
        </p:nvSpPr>
        <p:spPr>
          <a:xfrm>
            <a:off x="411480" y="4151376"/>
            <a:ext cx="310896" cy="310896"/>
          </a:xfrm>
          <a:prstGeom prst="rect">
            <a:avLst/>
          </a:prstGeom>
          <a:noFill/>
          <a:ln/>
        </p:spPr>
        <p:txBody>
          <a:bodyPr wrap="square" lIns="0" tIns="0" rIns="0" bIns="0" rtlCol="0" anchor="ctr"/>
          <a:lstStyle/>
          <a:p>
            <a:pPr algn="ctr" indent="0" marL="0">
              <a:buNone/>
            </a:pPr>
            <a:r>
              <a:rPr lang="en-US" sz="1200" b="1" dirty="0">
                <a:solidFill>
                  <a:srgbClr val="F7F9FC"/>
                </a:solidFill>
              </a:rPr>
              <a:t>6</a:t>
            </a:r>
            <a:endParaRPr lang="en-US" sz="1200" dirty="0"/>
          </a:p>
        </p:txBody>
      </p:sp>
      <p:sp>
        <p:nvSpPr>
          <p:cNvPr id="22" name="Text 20"/>
          <p:cNvSpPr/>
          <p:nvPr/>
        </p:nvSpPr>
        <p:spPr>
          <a:xfrm>
            <a:off x="841248" y="4114800"/>
            <a:ext cx="8046720" cy="402336"/>
          </a:xfrm>
          <a:prstGeom prst="rect">
            <a:avLst/>
          </a:prstGeom>
          <a:noFill/>
          <a:ln/>
        </p:spPr>
        <p:txBody>
          <a:bodyPr wrap="square" rtlCol="0" anchor="ctr"/>
          <a:lstStyle/>
          <a:p>
            <a:pPr indent="0" marL="0">
              <a:buNone/>
            </a:pPr>
            <a:r>
              <a:rPr lang="en-US" sz="1400" dirty="0">
                <a:solidFill>
                  <a:srgbClr val="334155"/>
                </a:solidFill>
                <a:latin typeface="Calibri" pitchFamily="34" charset="0"/>
                <a:ea typeface="Calibri" pitchFamily="34" charset="-122"/>
                <a:cs typeface="Calibri" pitchFamily="34" charset="-120"/>
              </a:rPr>
              <a:t>Risk Assessment &amp; Kill Switch Signals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0"/>
            <a:ext cx="182880" cy="5143500"/>
          </a:xfrm>
          <a:prstGeom prst="rect">
            <a:avLst/>
          </a:prstGeom>
          <a:solidFill>
            <a:srgbClr val="E8B04B"/>
          </a:solidFill>
          <a:ln w="12700">
            <a:solidFill>
              <a:srgbClr val="E8B04B"/>
            </a:solidFill>
            <a:prstDash val="solid"/>
          </a:ln>
        </p:spPr>
      </p:sp>
      <p:sp>
        <p:nvSpPr>
          <p:cNvPr id="4" name="Text 2"/>
          <p:cNvSpPr/>
          <p:nvPr/>
        </p:nvSpPr>
        <p:spPr>
          <a:xfrm>
            <a:off x="365760" y="91440"/>
            <a:ext cx="8503920" cy="475488"/>
          </a:xfrm>
          <a:prstGeom prst="rect">
            <a:avLst/>
          </a:prstGeom>
          <a:noFill/>
          <a:ln/>
        </p:spPr>
        <p:txBody>
          <a:bodyPr wrap="square" lIns="0" tIns="0" rIns="0" bIns="0" rtlCol="0" anchor="ctr"/>
          <a:lstStyle/>
          <a:p>
            <a:pPr indent="0" marL="0">
              <a:buNone/>
            </a:pPr>
            <a:r>
              <a:rPr lang="en-US" sz="2200" b="1" dirty="0">
                <a:solidFill>
                  <a:srgbClr val="F7F9FC"/>
                </a:solidFill>
                <a:latin typeface="Calibri" pitchFamily="34" charset="0"/>
                <a:ea typeface="Calibri" pitchFamily="34" charset="-122"/>
                <a:cs typeface="Calibri" pitchFamily="34" charset="-120"/>
              </a:rPr>
              <a:t>Market &amp; Demographic Context</a:t>
            </a:r>
            <a:endParaRPr lang="en-US" sz="2200" dirty="0"/>
          </a:p>
        </p:txBody>
      </p:sp>
      <p:sp>
        <p:nvSpPr>
          <p:cNvPr id="5" name="Text 3"/>
          <p:cNvSpPr/>
          <p:nvPr/>
        </p:nvSpPr>
        <p:spPr>
          <a:xfrm>
            <a:off x="411480" y="749808"/>
            <a:ext cx="8503920" cy="365760"/>
          </a:xfrm>
          <a:prstGeom prst="rect">
            <a:avLst/>
          </a:prstGeom>
          <a:noFill/>
          <a:ln/>
        </p:spPr>
        <p:txBody>
          <a:bodyPr wrap="square" rtlCol="0" anchor="ctr"/>
          <a:lstStyle/>
          <a:p>
            <a:pPr indent="0" marL="0">
              <a:buNone/>
            </a:pPr>
            <a:r>
              <a:rPr lang="en-US" sz="1500" b="1" i="1" dirty="0">
                <a:solidFill>
                  <a:srgbClr val="1E2761"/>
                </a:solidFill>
              </a:rPr>
              <a:t>Medan Kopitiam Landscape: Premium Heritage Whitespace</a:t>
            </a:r>
            <a:endParaRPr lang="en-US" sz="1500" dirty="0"/>
          </a:p>
        </p:txBody>
      </p:sp>
      <p:sp>
        <p:nvSpPr>
          <p:cNvPr id="6" name="Shape 4"/>
          <p:cNvSpPr/>
          <p:nvPr/>
        </p:nvSpPr>
        <p:spPr>
          <a:xfrm>
            <a:off x="411480" y="1234440"/>
            <a:ext cx="2670048" cy="1261872"/>
          </a:xfrm>
          <a:prstGeom prst="rect">
            <a:avLst/>
          </a:prstGeom>
          <a:solidFill>
            <a:srgbClr val="1E2761"/>
          </a:solidFill>
          <a:ln w="12700">
            <a:solidFill>
              <a:srgbClr val="1E2761"/>
            </a:solidFill>
            <a:prstDash val="solid"/>
          </a:ln>
        </p:spPr>
      </p:sp>
      <p:sp>
        <p:nvSpPr>
          <p:cNvPr id="7" name="Text 5"/>
          <p:cNvSpPr/>
          <p:nvPr/>
        </p:nvSpPr>
        <p:spPr>
          <a:xfrm>
            <a:off x="502920" y="1261872"/>
            <a:ext cx="2487168" cy="1207008"/>
          </a:xfrm>
          <a:prstGeom prst="rect">
            <a:avLst/>
          </a:prstGeom>
          <a:noFill/>
          <a:ln/>
        </p:spPr>
        <p:txBody>
          <a:bodyPr wrap="square"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80 years authentic Hainanese lineage (since 1944, founder Loi Ah Koon) vs. fast/nostalgic/VC-funded competitors</a:t>
            </a:r>
            <a:endParaRPr lang="en-US" sz="1300" dirty="0"/>
          </a:p>
        </p:txBody>
      </p:sp>
      <p:sp>
        <p:nvSpPr>
          <p:cNvPr id="8" name="Shape 6"/>
          <p:cNvSpPr/>
          <p:nvPr/>
        </p:nvSpPr>
        <p:spPr>
          <a:xfrm>
            <a:off x="3264408" y="1234440"/>
            <a:ext cx="2670048" cy="1261872"/>
          </a:xfrm>
          <a:prstGeom prst="rect">
            <a:avLst/>
          </a:prstGeom>
          <a:solidFill>
            <a:srgbClr val="1E2761"/>
          </a:solidFill>
          <a:ln w="12700">
            <a:solidFill>
              <a:srgbClr val="1E2761"/>
            </a:solidFill>
            <a:prstDash val="solid"/>
          </a:ln>
        </p:spPr>
      </p:sp>
      <p:sp>
        <p:nvSpPr>
          <p:cNvPr id="9" name="Text 7"/>
          <p:cNvSpPr/>
          <p:nvPr/>
        </p:nvSpPr>
        <p:spPr>
          <a:xfrm>
            <a:off x="3355848" y="1261872"/>
            <a:ext cx="2487168" cy="1207008"/>
          </a:xfrm>
          <a:prstGeom prst="rect">
            <a:avLst/>
          </a:prstGeom>
          <a:noFill/>
          <a:ln/>
        </p:spPr>
        <p:txBody>
          <a:bodyPr wrap="square"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Medan's Chinese-Indonesian community spans 5 dialect groups (Hainanese, Teochew, Hakka, Hokkien, Cantonese) sharing kopitiam cultural memory</a:t>
            </a:r>
            <a:endParaRPr lang="en-US" sz="1300" dirty="0"/>
          </a:p>
        </p:txBody>
      </p:sp>
      <p:sp>
        <p:nvSpPr>
          <p:cNvPr id="10" name="Shape 8"/>
          <p:cNvSpPr/>
          <p:nvPr/>
        </p:nvSpPr>
        <p:spPr>
          <a:xfrm>
            <a:off x="6117336" y="1234440"/>
            <a:ext cx="2670048" cy="1261872"/>
          </a:xfrm>
          <a:prstGeom prst="rect">
            <a:avLst/>
          </a:prstGeom>
          <a:solidFill>
            <a:srgbClr val="1E2761"/>
          </a:solidFill>
          <a:ln w="12700">
            <a:solidFill>
              <a:srgbClr val="1E2761"/>
            </a:solidFill>
            <a:prstDash val="solid"/>
          </a:ln>
        </p:spPr>
      </p:sp>
      <p:sp>
        <p:nvSpPr>
          <p:cNvPr id="11" name="Text 9"/>
          <p:cNvSpPr/>
          <p:nvPr/>
        </p:nvSpPr>
        <p:spPr>
          <a:xfrm>
            <a:off x="6208776" y="1261872"/>
            <a:ext cx="2487168" cy="1207008"/>
          </a:xfrm>
          <a:prstGeom prst="rect">
            <a:avLst/>
          </a:prstGeom>
          <a:noFill/>
          <a:ln/>
        </p:spPr>
        <p:txBody>
          <a:bodyPr wrap="square"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Competitive threats across 3 tiers: Local Heritage, Modern Chains, and Premium Cafes—but no one claims clan-specific kopitiam heritage</a:t>
            </a:r>
            <a:endParaRPr lang="en-US" sz="1300" dirty="0"/>
          </a:p>
        </p:txBody>
      </p:sp>
      <p:sp>
        <p:nvSpPr>
          <p:cNvPr id="12" name="Text 10"/>
          <p:cNvSpPr/>
          <p:nvPr/>
        </p:nvSpPr>
        <p:spPr>
          <a:xfrm>
            <a:off x="411480" y="2651760"/>
            <a:ext cx="8503920" cy="2240280"/>
          </a:xfrm>
          <a:prstGeom prst="rect">
            <a:avLst/>
          </a:prstGeom>
          <a:noFill/>
          <a:ln/>
        </p:spPr>
        <p:txBody>
          <a:bodyPr wrap="square" rtlCol="0" anchor="t"/>
          <a:lstStyle/>
          <a:p>
            <a:pPr indent="0" marL="0">
              <a:buNone/>
            </a:pPr>
            <a:r>
              <a:rPr lang="en-US" sz="1200" dirty="0">
                <a:solidFill>
                  <a:srgbClr val="334155"/>
                </a:solidFill>
                <a:latin typeface="Calibri" pitchFamily="34" charset="0"/>
                <a:ea typeface="Calibri" pitchFamily="34" charset="-122"/>
                <a:cs typeface="Calibri" pitchFamily="34" charset="-120"/>
              </a:rPr>
              <a:t>Ya Kun enters as aspirational Singapore heritage with premium positioning, but faces competition from local heritage players, modern chains, and premium cafes. The whitespace opportunity lies in claiming kopitiam heritage with clan specificity (Hainanese) without performance or apology, leveraging trans-temporal permanence and uncompromising standards as core differentiation.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0"/>
            <a:ext cx="182880" cy="5143500"/>
          </a:xfrm>
          <a:prstGeom prst="rect">
            <a:avLst/>
          </a:prstGeom>
          <a:solidFill>
            <a:srgbClr val="E8B04B"/>
          </a:solidFill>
          <a:ln w="12700">
            <a:solidFill>
              <a:srgbClr val="E8B04B"/>
            </a:solidFill>
            <a:prstDash val="solid"/>
          </a:ln>
        </p:spPr>
      </p:sp>
      <p:sp>
        <p:nvSpPr>
          <p:cNvPr id="4" name="Text 2"/>
          <p:cNvSpPr/>
          <p:nvPr/>
        </p:nvSpPr>
        <p:spPr>
          <a:xfrm>
            <a:off x="365760" y="91440"/>
            <a:ext cx="8503920" cy="475488"/>
          </a:xfrm>
          <a:prstGeom prst="rect">
            <a:avLst/>
          </a:prstGeom>
          <a:noFill/>
          <a:ln/>
        </p:spPr>
        <p:txBody>
          <a:bodyPr wrap="square" lIns="0" tIns="0" rIns="0" bIns="0" rtlCol="0" anchor="ctr"/>
          <a:lstStyle/>
          <a:p>
            <a:pPr indent="0" marL="0">
              <a:buNone/>
            </a:pPr>
            <a:r>
              <a:rPr lang="en-US" sz="2200" b="1" dirty="0">
                <a:solidFill>
                  <a:srgbClr val="F7F9FC"/>
                </a:solidFill>
                <a:latin typeface="Calibri" pitchFamily="34" charset="0"/>
                <a:ea typeface="Calibri" pitchFamily="34" charset="-122"/>
                <a:cs typeface="Calibri" pitchFamily="34" charset="-120"/>
              </a:rPr>
              <a:t>Audience Psychology &amp; Deep-Dive</a:t>
            </a:r>
            <a:endParaRPr lang="en-US" sz="2200" dirty="0"/>
          </a:p>
        </p:txBody>
      </p:sp>
      <p:sp>
        <p:nvSpPr>
          <p:cNvPr id="5" name="Text 3"/>
          <p:cNvSpPr/>
          <p:nvPr/>
        </p:nvSpPr>
        <p:spPr>
          <a:xfrm>
            <a:off x="411480" y="749808"/>
            <a:ext cx="8503920" cy="365760"/>
          </a:xfrm>
          <a:prstGeom prst="rect">
            <a:avLst/>
          </a:prstGeom>
          <a:noFill/>
          <a:ln/>
        </p:spPr>
        <p:txBody>
          <a:bodyPr wrap="square" rtlCol="0" anchor="ctr"/>
          <a:lstStyle/>
          <a:p>
            <a:pPr indent="0" marL="0">
              <a:buNone/>
            </a:pPr>
            <a:r>
              <a:rPr lang="en-US" sz="1500" b="1" i="1" dirty="0">
                <a:solidFill>
                  <a:srgbClr val="1E2761"/>
                </a:solidFill>
              </a:rPr>
              <a:t>Two Distinct Audiences: Inheritors and Aspirants</a:t>
            </a:r>
            <a:endParaRPr lang="en-US" sz="1500" dirty="0"/>
          </a:p>
        </p:txBody>
      </p:sp>
      <p:sp>
        <p:nvSpPr>
          <p:cNvPr id="6" name="Shape 4"/>
          <p:cNvSpPr/>
          <p:nvPr/>
        </p:nvSpPr>
        <p:spPr>
          <a:xfrm>
            <a:off x="411480" y="1234440"/>
            <a:ext cx="4069080" cy="3639312"/>
          </a:xfrm>
          <a:prstGeom prst="rect">
            <a:avLst/>
          </a:prstGeom>
          <a:solidFill>
            <a:srgbClr val="F0F4F8"/>
          </a:solidFill>
          <a:ln w="12700">
            <a:solidFill>
              <a:srgbClr val="E2E8F0"/>
            </a:solidFill>
            <a:prstDash val="solid"/>
          </a:ln>
        </p:spPr>
      </p:sp>
      <p:sp>
        <p:nvSpPr>
          <p:cNvPr id="7" name="Shape 5"/>
          <p:cNvSpPr/>
          <p:nvPr/>
        </p:nvSpPr>
        <p:spPr>
          <a:xfrm>
            <a:off x="411480" y="1234440"/>
            <a:ext cx="4069080" cy="292608"/>
          </a:xfrm>
          <a:prstGeom prst="rect">
            <a:avLst/>
          </a:prstGeom>
          <a:solidFill>
            <a:srgbClr val="1E2761"/>
          </a:solidFill>
          <a:ln w="12700">
            <a:solidFill>
              <a:srgbClr val="1E2761"/>
            </a:solidFill>
            <a:prstDash val="solid"/>
          </a:ln>
        </p:spPr>
      </p:sp>
      <p:sp>
        <p:nvSpPr>
          <p:cNvPr id="8" name="Text 6"/>
          <p:cNvSpPr/>
          <p:nvPr/>
        </p:nvSpPr>
        <p:spPr>
          <a:xfrm>
            <a:off x="484632" y="1234440"/>
            <a:ext cx="3922776" cy="292608"/>
          </a:xfrm>
          <a:prstGeom prst="rect">
            <a:avLst/>
          </a:prstGeom>
          <a:noFill/>
          <a:ln/>
        </p:spPr>
        <p:txBody>
          <a:bodyPr wrap="square" lIns="0" tIns="0" rIns="0" bIns="0" rtlCol="0" anchor="ctr"/>
          <a:lstStyle/>
          <a:p>
            <a:pPr indent="0" marL="0">
              <a:buNone/>
            </a:pPr>
            <a:r>
              <a:rPr lang="en-US" sz="1100" b="1" dirty="0">
                <a:solidFill>
                  <a:srgbClr val="F7F9FC"/>
                </a:solidFill>
              </a:rPr>
              <a:t>The Quietly Burdened Inheritor (PTM)</a:t>
            </a:r>
            <a:endParaRPr lang="en-US" sz="1100" dirty="0"/>
          </a:p>
        </p:txBody>
      </p:sp>
      <p:sp>
        <p:nvSpPr>
          <p:cNvPr id="9" name="Text 7"/>
          <p:cNvSpPr/>
          <p:nvPr/>
        </p:nvSpPr>
        <p:spPr>
          <a:xfrm>
            <a:off x="484632" y="1609344"/>
            <a:ext cx="3922776" cy="274320"/>
          </a:xfrm>
          <a:prstGeom prst="rect">
            <a:avLst/>
          </a:prstGeom>
          <a:noFill/>
          <a:ln/>
        </p:spPr>
        <p:txBody>
          <a:bodyPr wrap="square" rtlCol="0" anchor="ctr"/>
          <a:lstStyle/>
          <a:p>
            <a:pPr indent="0" marL="0">
              <a:buNone/>
            </a:pPr>
            <a:r>
              <a:rPr lang="en-US" sz="1000" b="1" dirty="0">
                <a:solidFill>
                  <a:srgbClr val="E8B04B"/>
                </a:solidFill>
              </a:rPr>
              <a:t>Age: 35-44</a:t>
            </a:r>
            <a:endParaRPr lang="en-US" sz="1000" dirty="0"/>
          </a:p>
        </p:txBody>
      </p:sp>
      <p:sp>
        <p:nvSpPr>
          <p:cNvPr id="10" name="Text 8"/>
          <p:cNvSpPr/>
          <p:nvPr/>
        </p:nvSpPr>
        <p:spPr>
          <a:xfrm>
            <a:off x="484632" y="1938528"/>
            <a:ext cx="3922776" cy="2834640"/>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Upper-middle socioeconomic Chinese-Indonesian experiencing status-performance fatigue. Has disposable income constrained by family obligations or values-driven financial choices. Actively seeking permission to stop performing metropolitan sophistication and claim heritage without apology. Agent 44 signal: 'This is saying you don't have to perform. The heritage recognizes you.'</a:t>
            </a:r>
            <a:endParaRPr lang="en-US" sz="1100" dirty="0"/>
          </a:p>
        </p:txBody>
      </p:sp>
      <p:sp>
        <p:nvSpPr>
          <p:cNvPr id="11" name="Shape 9"/>
          <p:cNvSpPr/>
          <p:nvPr/>
        </p:nvSpPr>
        <p:spPr>
          <a:xfrm>
            <a:off x="4572000" y="1234440"/>
            <a:ext cx="4069080" cy="3639312"/>
          </a:xfrm>
          <a:prstGeom prst="rect">
            <a:avLst/>
          </a:prstGeom>
          <a:solidFill>
            <a:srgbClr val="F0F4F8"/>
          </a:solidFill>
          <a:ln w="12700">
            <a:solidFill>
              <a:srgbClr val="E2E8F0"/>
            </a:solidFill>
            <a:prstDash val="solid"/>
          </a:ln>
        </p:spPr>
      </p:sp>
      <p:sp>
        <p:nvSpPr>
          <p:cNvPr id="12" name="Shape 10"/>
          <p:cNvSpPr/>
          <p:nvPr/>
        </p:nvSpPr>
        <p:spPr>
          <a:xfrm>
            <a:off x="4572000" y="1234440"/>
            <a:ext cx="4069080" cy="292608"/>
          </a:xfrm>
          <a:prstGeom prst="rect">
            <a:avLst/>
          </a:prstGeom>
          <a:solidFill>
            <a:srgbClr val="1E2761"/>
          </a:solidFill>
          <a:ln w="12700">
            <a:solidFill>
              <a:srgbClr val="1E2761"/>
            </a:solidFill>
            <a:prstDash val="solid"/>
          </a:ln>
        </p:spPr>
      </p:sp>
      <p:sp>
        <p:nvSpPr>
          <p:cNvPr id="13" name="Text 11"/>
          <p:cNvSpPr/>
          <p:nvPr/>
        </p:nvSpPr>
        <p:spPr>
          <a:xfrm>
            <a:off x="4645152" y="1234440"/>
            <a:ext cx="3922776" cy="292608"/>
          </a:xfrm>
          <a:prstGeom prst="rect">
            <a:avLst/>
          </a:prstGeom>
          <a:noFill/>
          <a:ln/>
        </p:spPr>
        <p:txBody>
          <a:bodyPr wrap="square" lIns="0" tIns="0" rIns="0" bIns="0" rtlCol="0" anchor="ctr"/>
          <a:lstStyle/>
          <a:p>
            <a:pPr indent="0" marL="0">
              <a:buNone/>
            </a:pPr>
            <a:r>
              <a:rPr lang="en-US" sz="1100" b="1" dirty="0">
                <a:solidFill>
                  <a:srgbClr val="F7F9FC"/>
                </a:solidFill>
              </a:rPr>
              <a:t>The Analytical Aspirant (STM)</a:t>
            </a:r>
            <a:endParaRPr lang="en-US" sz="1100" dirty="0"/>
          </a:p>
        </p:txBody>
      </p:sp>
      <p:sp>
        <p:nvSpPr>
          <p:cNvPr id="14" name="Text 12"/>
          <p:cNvSpPr/>
          <p:nvPr/>
        </p:nvSpPr>
        <p:spPr>
          <a:xfrm>
            <a:off x="4645152" y="1609344"/>
            <a:ext cx="3922776" cy="274320"/>
          </a:xfrm>
          <a:prstGeom prst="rect">
            <a:avLst/>
          </a:prstGeom>
          <a:noFill/>
          <a:ln/>
        </p:spPr>
        <p:txBody>
          <a:bodyPr wrap="square" rtlCol="0" anchor="ctr"/>
          <a:lstStyle/>
          <a:p>
            <a:pPr indent="0" marL="0">
              <a:buNone/>
            </a:pPr>
            <a:r>
              <a:rPr lang="en-US" sz="1000" b="1" dirty="0">
                <a:solidFill>
                  <a:srgbClr val="E8B04B"/>
                </a:solidFill>
              </a:rPr>
              <a:t>Age: 26-35</a:t>
            </a:r>
            <a:endParaRPr lang="en-US" sz="1000" dirty="0"/>
          </a:p>
        </p:txBody>
      </p:sp>
      <p:sp>
        <p:nvSpPr>
          <p:cNvPr id="15" name="Text 13"/>
          <p:cNvSpPr/>
          <p:nvPr/>
        </p:nvSpPr>
        <p:spPr>
          <a:xfrm>
            <a:off x="4645152" y="1938528"/>
            <a:ext cx="3922776" cy="2834640"/>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Metropolitan professional/creative with higher cultural literacy than financial security. Requires evidence-based legitimacy before emotional investment and watches older established consumers for permission. Agent 28 signal: 'They named Loi Ah Koon, said 1944—those are factual anchors, not marketing moves.' Will participate only after PTM validates first.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0"/>
            <a:ext cx="182880" cy="5143500"/>
          </a:xfrm>
          <a:prstGeom prst="rect">
            <a:avLst/>
          </a:prstGeom>
          <a:solidFill>
            <a:srgbClr val="E8B04B"/>
          </a:solidFill>
          <a:ln w="12700">
            <a:solidFill>
              <a:srgbClr val="E8B04B"/>
            </a:solidFill>
            <a:prstDash val="solid"/>
          </a:ln>
        </p:spPr>
      </p:sp>
      <p:sp>
        <p:nvSpPr>
          <p:cNvPr id="4" name="Text 2"/>
          <p:cNvSpPr/>
          <p:nvPr/>
        </p:nvSpPr>
        <p:spPr>
          <a:xfrm>
            <a:off x="365760" y="91440"/>
            <a:ext cx="8503920" cy="475488"/>
          </a:xfrm>
          <a:prstGeom prst="rect">
            <a:avLst/>
          </a:prstGeom>
          <a:noFill/>
          <a:ln/>
        </p:spPr>
        <p:txBody>
          <a:bodyPr wrap="square" lIns="0" tIns="0" rIns="0" bIns="0" rtlCol="0" anchor="ctr"/>
          <a:lstStyle/>
          <a:p>
            <a:pPr indent="0" marL="0">
              <a:buNone/>
            </a:pPr>
            <a:r>
              <a:rPr lang="en-US" sz="2200" b="1" dirty="0">
                <a:solidFill>
                  <a:srgbClr val="F7F9FC"/>
                </a:solidFill>
                <a:latin typeface="Calibri" pitchFamily="34" charset="0"/>
                <a:ea typeface="Calibri" pitchFamily="34" charset="-122"/>
                <a:cs typeface="Calibri" pitchFamily="34" charset="-120"/>
              </a:rPr>
              <a:t>Consumer Response Analysis</a:t>
            </a:r>
            <a:endParaRPr lang="en-US" sz="2200" dirty="0"/>
          </a:p>
        </p:txBody>
      </p:sp>
      <p:sp>
        <p:nvSpPr>
          <p:cNvPr id="5" name="Text 3"/>
          <p:cNvSpPr/>
          <p:nvPr/>
        </p:nvSpPr>
        <p:spPr>
          <a:xfrm>
            <a:off x="411480" y="749808"/>
            <a:ext cx="8503920" cy="365760"/>
          </a:xfrm>
          <a:prstGeom prst="rect">
            <a:avLst/>
          </a:prstGeom>
          <a:noFill/>
          <a:ln/>
        </p:spPr>
        <p:txBody>
          <a:bodyPr wrap="square" rtlCol="0" anchor="ctr"/>
          <a:lstStyle/>
          <a:p>
            <a:pPr indent="0" marL="0">
              <a:buNone/>
            </a:pPr>
            <a:r>
              <a:rPr lang="en-US" sz="1500" b="1" i="1" dirty="0">
                <a:solidFill>
                  <a:srgbClr val="1E2761"/>
                </a:solidFill>
              </a:rPr>
              <a:t>Recognition as Relief: High Emotional Resonance with Conditional Participation</a:t>
            </a:r>
            <a:endParaRPr lang="en-US" sz="1500" dirty="0"/>
          </a:p>
        </p:txBody>
      </p:sp>
      <p:sp>
        <p:nvSpPr>
          <p:cNvPr id="6" name="Shape 4"/>
          <p:cNvSpPr/>
          <p:nvPr/>
        </p:nvSpPr>
        <p:spPr>
          <a:xfrm>
            <a:off x="411480" y="1234440"/>
            <a:ext cx="8503920" cy="795528"/>
          </a:xfrm>
          <a:prstGeom prst="rect">
            <a:avLst/>
          </a:prstGeom>
          <a:solidFill>
            <a:srgbClr val="F8FAFC"/>
          </a:solidFill>
          <a:ln w="12700">
            <a:solidFill>
              <a:srgbClr val="E2E8F0"/>
            </a:solidFill>
            <a:prstDash val="solid"/>
          </a:ln>
        </p:spPr>
      </p:sp>
      <p:sp>
        <p:nvSpPr>
          <p:cNvPr id="7" name="Shape 5"/>
          <p:cNvSpPr/>
          <p:nvPr/>
        </p:nvSpPr>
        <p:spPr>
          <a:xfrm>
            <a:off x="411480" y="1234440"/>
            <a:ext cx="54864" cy="795528"/>
          </a:xfrm>
          <a:prstGeom prst="rect">
            <a:avLst/>
          </a:prstGeom>
          <a:solidFill>
            <a:srgbClr val="E8B04B"/>
          </a:solidFill>
          <a:ln w="12700">
            <a:solidFill>
              <a:srgbClr val="E8B04B"/>
            </a:solidFill>
            <a:prstDash val="solid"/>
          </a:ln>
        </p:spPr>
      </p:sp>
      <p:sp>
        <p:nvSpPr>
          <p:cNvPr id="8" name="Text 6"/>
          <p:cNvSpPr/>
          <p:nvPr/>
        </p:nvSpPr>
        <p:spPr>
          <a:xfrm>
            <a:off x="566928" y="1289304"/>
            <a:ext cx="1645920" cy="292608"/>
          </a:xfrm>
          <a:prstGeom prst="rect">
            <a:avLst/>
          </a:prstGeom>
          <a:noFill/>
          <a:ln/>
        </p:spPr>
        <p:txBody>
          <a:bodyPr wrap="square" rtlCol="0" anchor="ctr"/>
          <a:lstStyle/>
          <a:p>
            <a:pPr indent="0" marL="0">
              <a:buNone/>
            </a:pPr>
            <a:r>
              <a:rPr lang="en-US" sz="1000" b="1" dirty="0">
                <a:solidFill>
                  <a:srgbClr val="8896A8"/>
                </a:solidFill>
              </a:rPr>
              <a:t>PTM Emotional Temperature</a:t>
            </a:r>
            <a:endParaRPr lang="en-US" sz="1000" dirty="0"/>
          </a:p>
        </p:txBody>
      </p:sp>
      <p:sp>
        <p:nvSpPr>
          <p:cNvPr id="9" name="Text 7"/>
          <p:cNvSpPr/>
          <p:nvPr/>
        </p:nvSpPr>
        <p:spPr>
          <a:xfrm>
            <a:off x="2331720" y="1271016"/>
            <a:ext cx="1097280" cy="347472"/>
          </a:xfrm>
          <a:prstGeom prst="rect">
            <a:avLst/>
          </a:prstGeom>
          <a:noFill/>
          <a:ln/>
        </p:spPr>
        <p:txBody>
          <a:bodyPr wrap="square" rtlCol="0" anchor="ctr"/>
          <a:lstStyle/>
          <a:p>
            <a:pPr algn="ctr" indent="0" marL="0">
              <a:buNone/>
            </a:pPr>
            <a:r>
              <a:rPr lang="en-US" sz="1800" b="1" dirty="0">
                <a:solidFill>
                  <a:srgbClr val="1E2761"/>
                </a:solidFill>
              </a:rPr>
              <a:t>7-8/10</a:t>
            </a:r>
            <a:endParaRPr lang="en-US" sz="1800" dirty="0"/>
          </a:p>
        </p:txBody>
      </p:sp>
      <p:sp>
        <p:nvSpPr>
          <p:cNvPr id="10" name="Text 8"/>
          <p:cNvSpPr/>
          <p:nvPr/>
        </p:nvSpPr>
        <p:spPr>
          <a:xfrm>
            <a:off x="566928" y="1636776"/>
            <a:ext cx="8138160" cy="329184"/>
          </a:xfrm>
          <a:prstGeom prst="rect">
            <a:avLst/>
          </a:prstGeom>
          <a:noFill/>
          <a:ln/>
        </p:spPr>
        <p:txBody>
          <a:bodyPr wrap="square" rtlCol="0" anchor="ctr"/>
          <a:lstStyle/>
          <a:p>
            <a:pPr indent="0" marL="0">
              <a:buNone/>
            </a:pPr>
            <a:r>
              <a:rPr lang="en-US" sz="1100" dirty="0">
                <a:solidFill>
                  <a:srgbClr val="334155"/>
                </a:solidFill>
              </a:rPr>
              <a:t>Agent 44 (save intent): Campaign offers absolution from performance fatigue and legitimizes prioritizing continuity over innovation</a:t>
            </a:r>
            <a:endParaRPr lang="en-US" sz="1100" dirty="0"/>
          </a:p>
        </p:txBody>
      </p:sp>
      <p:sp>
        <p:nvSpPr>
          <p:cNvPr id="11" name="Shape 9"/>
          <p:cNvSpPr/>
          <p:nvPr/>
        </p:nvSpPr>
        <p:spPr>
          <a:xfrm>
            <a:off x="411480" y="2121408"/>
            <a:ext cx="8503920" cy="795528"/>
          </a:xfrm>
          <a:prstGeom prst="rect">
            <a:avLst/>
          </a:prstGeom>
          <a:solidFill>
            <a:srgbClr val="F8FAFC"/>
          </a:solidFill>
          <a:ln w="12700">
            <a:solidFill>
              <a:srgbClr val="E2E8F0"/>
            </a:solidFill>
            <a:prstDash val="solid"/>
          </a:ln>
        </p:spPr>
      </p:sp>
      <p:sp>
        <p:nvSpPr>
          <p:cNvPr id="12" name="Shape 10"/>
          <p:cNvSpPr/>
          <p:nvPr/>
        </p:nvSpPr>
        <p:spPr>
          <a:xfrm>
            <a:off x="411480" y="2121408"/>
            <a:ext cx="54864" cy="795528"/>
          </a:xfrm>
          <a:prstGeom prst="rect">
            <a:avLst/>
          </a:prstGeom>
          <a:solidFill>
            <a:srgbClr val="E8B04B"/>
          </a:solidFill>
          <a:ln w="12700">
            <a:solidFill>
              <a:srgbClr val="E8B04B"/>
            </a:solidFill>
            <a:prstDash val="solid"/>
          </a:ln>
        </p:spPr>
      </p:sp>
      <p:sp>
        <p:nvSpPr>
          <p:cNvPr id="13" name="Text 11"/>
          <p:cNvSpPr/>
          <p:nvPr/>
        </p:nvSpPr>
        <p:spPr>
          <a:xfrm>
            <a:off x="566928" y="2176272"/>
            <a:ext cx="1645920" cy="292608"/>
          </a:xfrm>
          <a:prstGeom prst="rect">
            <a:avLst/>
          </a:prstGeom>
          <a:noFill/>
          <a:ln/>
        </p:spPr>
        <p:txBody>
          <a:bodyPr wrap="square" rtlCol="0" anchor="ctr"/>
          <a:lstStyle/>
          <a:p>
            <a:pPr indent="0" marL="0">
              <a:buNone/>
            </a:pPr>
            <a:r>
              <a:rPr lang="en-US" sz="1000" b="1" dirty="0">
                <a:solidFill>
                  <a:srgbClr val="8896A8"/>
                </a:solidFill>
              </a:rPr>
              <a:t>STM Conditional Interest</a:t>
            </a:r>
            <a:endParaRPr lang="en-US" sz="1000" dirty="0"/>
          </a:p>
        </p:txBody>
      </p:sp>
      <p:sp>
        <p:nvSpPr>
          <p:cNvPr id="14" name="Text 12"/>
          <p:cNvSpPr/>
          <p:nvPr/>
        </p:nvSpPr>
        <p:spPr>
          <a:xfrm>
            <a:off x="2331720" y="2157984"/>
            <a:ext cx="1097280" cy="347472"/>
          </a:xfrm>
          <a:prstGeom prst="rect">
            <a:avLst/>
          </a:prstGeom>
          <a:noFill/>
          <a:ln/>
        </p:spPr>
        <p:txBody>
          <a:bodyPr wrap="square" rtlCol="0" anchor="ctr"/>
          <a:lstStyle/>
          <a:p>
            <a:pPr algn="ctr" indent="0" marL="0">
              <a:buNone/>
            </a:pPr>
            <a:r>
              <a:rPr lang="en-US" sz="1800" b="1" dirty="0">
                <a:solidFill>
                  <a:srgbClr val="1E2761"/>
                </a:solidFill>
              </a:rPr>
              <a:t>7/10</a:t>
            </a:r>
            <a:endParaRPr lang="en-US" sz="1800" dirty="0"/>
          </a:p>
        </p:txBody>
      </p:sp>
      <p:sp>
        <p:nvSpPr>
          <p:cNvPr id="15" name="Text 13"/>
          <p:cNvSpPr/>
          <p:nvPr/>
        </p:nvSpPr>
        <p:spPr>
          <a:xfrm>
            <a:off x="566928" y="2523744"/>
            <a:ext cx="8138160" cy="329184"/>
          </a:xfrm>
          <a:prstGeom prst="rect">
            <a:avLst/>
          </a:prstGeom>
          <a:noFill/>
          <a:ln/>
        </p:spPr>
        <p:txBody>
          <a:bodyPr wrap="square" rtlCol="0" anchor="ctr"/>
          <a:lstStyle/>
          <a:p>
            <a:pPr indent="0" marL="0">
              <a:buNone/>
            </a:pPr>
            <a:r>
              <a:rPr lang="en-US" sz="1100" dirty="0">
                <a:solidFill>
                  <a:srgbClr val="334155"/>
                </a:solidFill>
              </a:rPr>
              <a:t>Agent 26/28 require social proof from PTM before conversion; 'watching for permission' from merchant-class consumers at 7am moments</a:t>
            </a:r>
            <a:endParaRPr lang="en-US" sz="1100" dirty="0"/>
          </a:p>
        </p:txBody>
      </p:sp>
      <p:sp>
        <p:nvSpPr>
          <p:cNvPr id="16" name="Shape 14"/>
          <p:cNvSpPr/>
          <p:nvPr/>
        </p:nvSpPr>
        <p:spPr>
          <a:xfrm>
            <a:off x="411480" y="3008376"/>
            <a:ext cx="8503920" cy="795528"/>
          </a:xfrm>
          <a:prstGeom prst="rect">
            <a:avLst/>
          </a:prstGeom>
          <a:solidFill>
            <a:srgbClr val="F8FAFC"/>
          </a:solidFill>
          <a:ln w="12700">
            <a:solidFill>
              <a:srgbClr val="E2E8F0"/>
            </a:solidFill>
            <a:prstDash val="solid"/>
          </a:ln>
        </p:spPr>
      </p:sp>
      <p:sp>
        <p:nvSpPr>
          <p:cNvPr id="17" name="Shape 15"/>
          <p:cNvSpPr/>
          <p:nvPr/>
        </p:nvSpPr>
        <p:spPr>
          <a:xfrm>
            <a:off x="411480" y="3008376"/>
            <a:ext cx="54864" cy="795528"/>
          </a:xfrm>
          <a:prstGeom prst="rect">
            <a:avLst/>
          </a:prstGeom>
          <a:solidFill>
            <a:srgbClr val="E8B04B"/>
          </a:solidFill>
          <a:ln w="12700">
            <a:solidFill>
              <a:srgbClr val="E8B04B"/>
            </a:solidFill>
            <a:prstDash val="solid"/>
          </a:ln>
        </p:spPr>
      </p:sp>
      <p:sp>
        <p:nvSpPr>
          <p:cNvPr id="18" name="Text 16"/>
          <p:cNvSpPr/>
          <p:nvPr/>
        </p:nvSpPr>
        <p:spPr>
          <a:xfrm>
            <a:off x="566928" y="3063240"/>
            <a:ext cx="1645920" cy="292608"/>
          </a:xfrm>
          <a:prstGeom prst="rect">
            <a:avLst/>
          </a:prstGeom>
          <a:noFill/>
          <a:ln/>
        </p:spPr>
        <p:txBody>
          <a:bodyPr wrap="square" rtlCol="0" anchor="ctr"/>
          <a:lstStyle/>
          <a:p>
            <a:pPr indent="0" marL="0">
              <a:buNone/>
            </a:pPr>
            <a:r>
              <a:rPr lang="en-US" sz="1000" b="1" dirty="0">
                <a:solidFill>
                  <a:srgbClr val="8896A8"/>
                </a:solidFill>
              </a:rPr>
              <a:t>Heritage Authenticity Validation</a:t>
            </a:r>
            <a:endParaRPr lang="en-US" sz="1000" dirty="0"/>
          </a:p>
        </p:txBody>
      </p:sp>
      <p:sp>
        <p:nvSpPr>
          <p:cNvPr id="19" name="Text 17"/>
          <p:cNvSpPr/>
          <p:nvPr/>
        </p:nvSpPr>
        <p:spPr>
          <a:xfrm>
            <a:off x="2331720" y="3044952"/>
            <a:ext cx="1097280" cy="347472"/>
          </a:xfrm>
          <a:prstGeom prst="rect">
            <a:avLst/>
          </a:prstGeom>
          <a:noFill/>
          <a:ln/>
        </p:spPr>
        <p:txBody>
          <a:bodyPr wrap="square" rtlCol="0" anchor="ctr"/>
          <a:lstStyle/>
          <a:p>
            <a:pPr algn="ctr" indent="0" marL="0">
              <a:buNone/>
            </a:pPr>
            <a:r>
              <a:rPr lang="en-US" sz="1800" b="1" dirty="0">
                <a:solidFill>
                  <a:srgbClr val="1E2761"/>
                </a:solidFill>
              </a:rPr>
              <a:t>High</a:t>
            </a:r>
            <a:endParaRPr lang="en-US" sz="1800" dirty="0"/>
          </a:p>
        </p:txBody>
      </p:sp>
      <p:sp>
        <p:nvSpPr>
          <p:cNvPr id="20" name="Text 18"/>
          <p:cNvSpPr/>
          <p:nvPr/>
        </p:nvSpPr>
        <p:spPr>
          <a:xfrm>
            <a:off x="566928" y="3410712"/>
            <a:ext cx="8138160" cy="329184"/>
          </a:xfrm>
          <a:prstGeom prst="rect">
            <a:avLst/>
          </a:prstGeom>
          <a:noFill/>
          <a:ln/>
        </p:spPr>
        <p:txBody>
          <a:bodyPr wrap="square" rtlCol="0" anchor="ctr"/>
          <a:lstStyle/>
          <a:p>
            <a:pPr indent="0" marL="0">
              <a:buNone/>
            </a:pPr>
            <a:r>
              <a:rPr lang="en-US" sz="1100" dirty="0">
                <a:solidFill>
                  <a:srgbClr val="334155"/>
                </a:solidFill>
              </a:rPr>
              <a:t>Factual anchors (Loi Ah Koon, 1944, Hainanese, 4-ingredient kaya, charcoal grill) pass intellectual defensibility test for STM</a:t>
            </a:r>
            <a:endParaRPr lang="en-US" sz="1100" dirty="0"/>
          </a:p>
        </p:txBody>
      </p:sp>
      <p:sp>
        <p:nvSpPr>
          <p:cNvPr id="21" name="Shape 19"/>
          <p:cNvSpPr/>
          <p:nvPr/>
        </p:nvSpPr>
        <p:spPr>
          <a:xfrm>
            <a:off x="411480" y="3895344"/>
            <a:ext cx="8503920" cy="795528"/>
          </a:xfrm>
          <a:prstGeom prst="rect">
            <a:avLst/>
          </a:prstGeom>
          <a:solidFill>
            <a:srgbClr val="F8FAFC"/>
          </a:solidFill>
          <a:ln w="12700">
            <a:solidFill>
              <a:srgbClr val="E2E8F0"/>
            </a:solidFill>
            <a:prstDash val="solid"/>
          </a:ln>
        </p:spPr>
      </p:sp>
      <p:sp>
        <p:nvSpPr>
          <p:cNvPr id="22" name="Shape 20"/>
          <p:cNvSpPr/>
          <p:nvPr/>
        </p:nvSpPr>
        <p:spPr>
          <a:xfrm>
            <a:off x="411480" y="3895344"/>
            <a:ext cx="54864" cy="795528"/>
          </a:xfrm>
          <a:prstGeom prst="rect">
            <a:avLst/>
          </a:prstGeom>
          <a:solidFill>
            <a:srgbClr val="E8B04B"/>
          </a:solidFill>
          <a:ln w="12700">
            <a:solidFill>
              <a:srgbClr val="E8B04B"/>
            </a:solidFill>
            <a:prstDash val="solid"/>
          </a:ln>
        </p:spPr>
      </p:sp>
      <p:sp>
        <p:nvSpPr>
          <p:cNvPr id="23" name="Text 21"/>
          <p:cNvSpPr/>
          <p:nvPr/>
        </p:nvSpPr>
        <p:spPr>
          <a:xfrm>
            <a:off x="566928" y="3950208"/>
            <a:ext cx="1645920" cy="292608"/>
          </a:xfrm>
          <a:prstGeom prst="rect">
            <a:avLst/>
          </a:prstGeom>
          <a:noFill/>
          <a:ln/>
        </p:spPr>
        <p:txBody>
          <a:bodyPr wrap="square" rtlCol="0" anchor="ctr"/>
          <a:lstStyle/>
          <a:p>
            <a:pPr indent="0" marL="0">
              <a:buNone/>
            </a:pPr>
            <a:r>
              <a:rPr lang="en-US" sz="1000" b="1" dirty="0">
                <a:solidFill>
                  <a:srgbClr val="8896A8"/>
                </a:solidFill>
              </a:rPr>
              <a:t>Values-Driven Barrier Risk</a:t>
            </a:r>
            <a:endParaRPr lang="en-US" sz="1000" dirty="0"/>
          </a:p>
        </p:txBody>
      </p:sp>
      <p:sp>
        <p:nvSpPr>
          <p:cNvPr id="24" name="Text 22"/>
          <p:cNvSpPr/>
          <p:nvPr/>
        </p:nvSpPr>
        <p:spPr>
          <a:xfrm>
            <a:off x="2331720" y="3931920"/>
            <a:ext cx="1097280" cy="347472"/>
          </a:xfrm>
          <a:prstGeom prst="rect">
            <a:avLst/>
          </a:prstGeom>
          <a:noFill/>
          <a:ln/>
        </p:spPr>
        <p:txBody>
          <a:bodyPr wrap="square" rtlCol="0" anchor="ctr"/>
          <a:lstStyle/>
          <a:p>
            <a:pPr algn="ctr" indent="0" marL="0">
              <a:buNone/>
            </a:pPr>
            <a:r>
              <a:rPr lang="en-US" sz="1800" b="1" dirty="0">
                <a:solidFill>
                  <a:srgbClr val="1E2761"/>
                </a:solidFill>
              </a:rPr>
              <a:t>Medium-High</a:t>
            </a:r>
            <a:endParaRPr lang="en-US" sz="1800" dirty="0"/>
          </a:p>
        </p:txBody>
      </p:sp>
      <p:sp>
        <p:nvSpPr>
          <p:cNvPr id="25" name="Text 23"/>
          <p:cNvSpPr/>
          <p:nvPr/>
        </p:nvSpPr>
        <p:spPr>
          <a:xfrm>
            <a:off x="566928" y="4297680"/>
            <a:ext cx="8138160" cy="329184"/>
          </a:xfrm>
          <a:prstGeom prst="rect">
            <a:avLst/>
          </a:prstGeom>
          <a:noFill/>
          <a:ln/>
        </p:spPr>
        <p:txBody>
          <a:bodyPr wrap="square" rtlCol="0" anchor="ctr"/>
          <a:lstStyle/>
          <a:p>
            <a:pPr indent="0" marL="0">
              <a:buNone/>
            </a:pPr>
            <a:r>
              <a:rPr lang="en-US" sz="1100" dirty="0">
                <a:solidFill>
                  <a:srgbClr val="334155"/>
                </a:solidFill>
              </a:rPr>
              <a:t>Agent 33 (halal-observant): Heritage narrative excludes consumers who've made material sacrifices for values alignment unless ingredient transparency addressed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0"/>
            <a:ext cx="182880" cy="5143500"/>
          </a:xfrm>
          <a:prstGeom prst="rect">
            <a:avLst/>
          </a:prstGeom>
          <a:solidFill>
            <a:srgbClr val="E8B04B"/>
          </a:solidFill>
          <a:ln w="12700">
            <a:solidFill>
              <a:srgbClr val="E8B04B"/>
            </a:solidFill>
            <a:prstDash val="solid"/>
          </a:ln>
        </p:spPr>
      </p:sp>
      <p:sp>
        <p:nvSpPr>
          <p:cNvPr id="4" name="Text 2"/>
          <p:cNvSpPr/>
          <p:nvPr/>
        </p:nvSpPr>
        <p:spPr>
          <a:xfrm>
            <a:off x="365760" y="91440"/>
            <a:ext cx="8503920" cy="475488"/>
          </a:xfrm>
          <a:prstGeom prst="rect">
            <a:avLst/>
          </a:prstGeom>
          <a:noFill/>
          <a:ln/>
        </p:spPr>
        <p:txBody>
          <a:bodyPr wrap="square" lIns="0" tIns="0" rIns="0" bIns="0" rtlCol="0" anchor="ctr"/>
          <a:lstStyle/>
          <a:p>
            <a:pPr indent="0" marL="0">
              <a:buNone/>
            </a:pPr>
            <a:r>
              <a:rPr lang="en-US" sz="2200" b="1" dirty="0">
                <a:solidFill>
                  <a:srgbClr val="F7F9FC"/>
                </a:solidFill>
                <a:latin typeface="Calibri" pitchFamily="34" charset="0"/>
                <a:ea typeface="Calibri" pitchFamily="34" charset="-122"/>
                <a:cs typeface="Calibri" pitchFamily="34" charset="-120"/>
              </a:rPr>
              <a:t>Key Insights &amp; Patterns</a:t>
            </a:r>
            <a:endParaRPr lang="en-US" sz="2200" dirty="0"/>
          </a:p>
        </p:txBody>
      </p:sp>
      <p:sp>
        <p:nvSpPr>
          <p:cNvPr id="5" name="Text 3"/>
          <p:cNvSpPr/>
          <p:nvPr/>
        </p:nvSpPr>
        <p:spPr>
          <a:xfrm>
            <a:off x="411480" y="749808"/>
            <a:ext cx="8503920" cy="365760"/>
          </a:xfrm>
          <a:prstGeom prst="rect">
            <a:avLst/>
          </a:prstGeom>
          <a:noFill/>
          <a:ln/>
        </p:spPr>
        <p:txBody>
          <a:bodyPr wrap="square" rtlCol="0" anchor="ctr"/>
          <a:lstStyle/>
          <a:p>
            <a:pPr indent="0" marL="0">
              <a:buNone/>
            </a:pPr>
            <a:r>
              <a:rPr lang="en-US" sz="1500" b="1" i="1" dirty="0">
                <a:solidFill>
                  <a:srgbClr val="1E2761"/>
                </a:solidFill>
              </a:rPr>
              <a:t>Four Strategic Tensions Driving Campaign Performance</a:t>
            </a:r>
            <a:endParaRPr lang="en-US" sz="1500" dirty="0"/>
          </a:p>
        </p:txBody>
      </p:sp>
      <p:sp>
        <p:nvSpPr>
          <p:cNvPr id="6" name="Shape 4"/>
          <p:cNvSpPr/>
          <p:nvPr/>
        </p:nvSpPr>
        <p:spPr>
          <a:xfrm>
            <a:off x="411480" y="1234440"/>
            <a:ext cx="8503920" cy="795528"/>
          </a:xfrm>
          <a:prstGeom prst="rect">
            <a:avLst/>
          </a:prstGeom>
          <a:solidFill>
            <a:srgbClr val="F8FAFC"/>
          </a:solidFill>
          <a:ln w="12700">
            <a:solidFill>
              <a:srgbClr val="E2E8F0"/>
            </a:solidFill>
            <a:prstDash val="solid"/>
          </a:ln>
        </p:spPr>
      </p:sp>
      <p:sp>
        <p:nvSpPr>
          <p:cNvPr id="7" name="Shape 5"/>
          <p:cNvSpPr/>
          <p:nvPr/>
        </p:nvSpPr>
        <p:spPr>
          <a:xfrm>
            <a:off x="411480" y="1234440"/>
            <a:ext cx="54864" cy="795528"/>
          </a:xfrm>
          <a:prstGeom prst="rect">
            <a:avLst/>
          </a:prstGeom>
          <a:solidFill>
            <a:srgbClr val="E8B04B"/>
          </a:solidFill>
          <a:ln w="12700">
            <a:solidFill>
              <a:srgbClr val="E8B04B"/>
            </a:solidFill>
            <a:prstDash val="solid"/>
          </a:ln>
        </p:spPr>
      </p:sp>
      <p:sp>
        <p:nvSpPr>
          <p:cNvPr id="8" name="Text 6"/>
          <p:cNvSpPr/>
          <p:nvPr/>
        </p:nvSpPr>
        <p:spPr>
          <a:xfrm>
            <a:off x="566928" y="1289304"/>
            <a:ext cx="8229600" cy="274320"/>
          </a:xfrm>
          <a:prstGeom prst="rect">
            <a:avLst/>
          </a:prstGeom>
          <a:noFill/>
          <a:ln/>
        </p:spPr>
        <p:txBody>
          <a:bodyPr wrap="square" rtlCol="0" anchor="ctr"/>
          <a:lstStyle/>
          <a:p>
            <a:pPr indent="0" marL="0">
              <a:buNone/>
            </a:pPr>
            <a:r>
              <a:rPr lang="en-US" sz="1200" b="1" dirty="0">
                <a:solidFill>
                  <a:srgbClr val="1E2761"/>
                </a:solidFill>
              </a:rPr>
              <a:t>Permission to Inhabit, Not Perform</a:t>
            </a:r>
            <a:endParaRPr lang="en-US" sz="1200" dirty="0"/>
          </a:p>
        </p:txBody>
      </p:sp>
      <p:sp>
        <p:nvSpPr>
          <p:cNvPr id="9" name="Text 7"/>
          <p:cNvSpPr/>
          <p:nvPr/>
        </p:nvSpPr>
        <p:spPr>
          <a:xfrm>
            <a:off x="566928" y="1609344"/>
            <a:ext cx="8229600" cy="365760"/>
          </a:xfrm>
          <a:prstGeom prst="rect">
            <a:avLst/>
          </a:prstGeom>
          <a:noFill/>
          <a:ln/>
        </p:spPr>
        <p:txBody>
          <a:bodyPr wrap="square" rtlCol="0" anchor="ctr"/>
          <a:lstStyle/>
          <a:p>
            <a:pPr indent="0" marL="0">
              <a:buNone/>
            </a:pPr>
            <a:r>
              <a:rPr lang="en-US" sz="1100" dirty="0">
                <a:solidFill>
                  <a:srgbClr val="334155"/>
                </a:solidFill>
              </a:rPr>
              <a:t>PTM responds because campaign offers identity consolidation without forcing choice between tradition and modernity. Agent 31: 'This feels like recognition we already know what heritage tastes like'—relief, not education.</a:t>
            </a:r>
            <a:endParaRPr lang="en-US" sz="1100" dirty="0"/>
          </a:p>
        </p:txBody>
      </p:sp>
      <p:sp>
        <p:nvSpPr>
          <p:cNvPr id="10" name="Shape 8"/>
          <p:cNvSpPr/>
          <p:nvPr/>
        </p:nvSpPr>
        <p:spPr>
          <a:xfrm>
            <a:off x="411480" y="2121408"/>
            <a:ext cx="8503920" cy="795528"/>
          </a:xfrm>
          <a:prstGeom prst="rect">
            <a:avLst/>
          </a:prstGeom>
          <a:solidFill>
            <a:srgbClr val="F8FAFC"/>
          </a:solidFill>
          <a:ln w="12700">
            <a:solidFill>
              <a:srgbClr val="E2E8F0"/>
            </a:solidFill>
            <a:prstDash val="solid"/>
          </a:ln>
        </p:spPr>
      </p:sp>
      <p:sp>
        <p:nvSpPr>
          <p:cNvPr id="11" name="Shape 9"/>
          <p:cNvSpPr/>
          <p:nvPr/>
        </p:nvSpPr>
        <p:spPr>
          <a:xfrm>
            <a:off x="411480" y="2121408"/>
            <a:ext cx="54864" cy="795528"/>
          </a:xfrm>
          <a:prstGeom prst="rect">
            <a:avLst/>
          </a:prstGeom>
          <a:solidFill>
            <a:srgbClr val="E8B04B"/>
          </a:solidFill>
          <a:ln w="12700">
            <a:solidFill>
              <a:srgbClr val="E8B04B"/>
            </a:solidFill>
            <a:prstDash val="solid"/>
          </a:ln>
        </p:spPr>
      </p:sp>
      <p:sp>
        <p:nvSpPr>
          <p:cNvPr id="12" name="Text 10"/>
          <p:cNvSpPr/>
          <p:nvPr/>
        </p:nvSpPr>
        <p:spPr>
          <a:xfrm>
            <a:off x="566928" y="2176272"/>
            <a:ext cx="8229600" cy="274320"/>
          </a:xfrm>
          <a:prstGeom prst="rect">
            <a:avLst/>
          </a:prstGeom>
          <a:noFill/>
          <a:ln/>
        </p:spPr>
        <p:txBody>
          <a:bodyPr wrap="square" rtlCol="0" anchor="ctr"/>
          <a:lstStyle/>
          <a:p>
            <a:pPr indent="0" marL="0">
              <a:buNone/>
            </a:pPr>
            <a:r>
              <a:rPr lang="en-US" sz="1200" b="1" dirty="0">
                <a:solidFill>
                  <a:srgbClr val="1E2761"/>
                </a:solidFill>
              </a:rPr>
              <a:t>Sequential Conversion Dependency</a:t>
            </a:r>
            <a:endParaRPr lang="en-US" sz="1200" dirty="0"/>
          </a:p>
        </p:txBody>
      </p:sp>
      <p:sp>
        <p:nvSpPr>
          <p:cNvPr id="13" name="Text 11"/>
          <p:cNvSpPr/>
          <p:nvPr/>
        </p:nvSpPr>
        <p:spPr>
          <a:xfrm>
            <a:off x="566928" y="2496312"/>
            <a:ext cx="8229600" cy="365760"/>
          </a:xfrm>
          <a:prstGeom prst="rect">
            <a:avLst/>
          </a:prstGeom>
          <a:noFill/>
          <a:ln/>
        </p:spPr>
        <p:txBody>
          <a:bodyPr wrap="square" rtlCol="0" anchor="ctr"/>
          <a:lstStyle/>
          <a:p>
            <a:pPr indent="0" marL="0">
              <a:buNone/>
            </a:pPr>
            <a:r>
              <a:rPr lang="en-US" sz="1100" dirty="0">
                <a:solidFill>
                  <a:srgbClr val="334155"/>
                </a:solidFill>
              </a:rPr>
              <a:t>STM will only participate after visible PTM validation. Agent 21 inadvertently revealed: 'I want the 38-year-old to see me as intellectually serious.' Make merchant-class presence at 7am Jam Tujuh Pagi moments socially legible to unlock STM conversion.</a:t>
            </a:r>
            <a:endParaRPr lang="en-US" sz="1100" dirty="0"/>
          </a:p>
        </p:txBody>
      </p:sp>
      <p:sp>
        <p:nvSpPr>
          <p:cNvPr id="14" name="Shape 12"/>
          <p:cNvSpPr/>
          <p:nvPr/>
        </p:nvSpPr>
        <p:spPr>
          <a:xfrm>
            <a:off x="411480" y="3008376"/>
            <a:ext cx="8503920" cy="795528"/>
          </a:xfrm>
          <a:prstGeom prst="rect">
            <a:avLst/>
          </a:prstGeom>
          <a:solidFill>
            <a:srgbClr val="F8FAFC"/>
          </a:solidFill>
          <a:ln w="12700">
            <a:solidFill>
              <a:srgbClr val="E2E8F0"/>
            </a:solidFill>
            <a:prstDash val="solid"/>
          </a:ln>
        </p:spPr>
      </p:sp>
      <p:sp>
        <p:nvSpPr>
          <p:cNvPr id="15" name="Shape 13"/>
          <p:cNvSpPr/>
          <p:nvPr/>
        </p:nvSpPr>
        <p:spPr>
          <a:xfrm>
            <a:off x="411480" y="3008376"/>
            <a:ext cx="54864" cy="795528"/>
          </a:xfrm>
          <a:prstGeom prst="rect">
            <a:avLst/>
          </a:prstGeom>
          <a:solidFill>
            <a:srgbClr val="E8B04B"/>
          </a:solidFill>
          <a:ln w="12700">
            <a:solidFill>
              <a:srgbClr val="E8B04B"/>
            </a:solidFill>
            <a:prstDash val="solid"/>
          </a:ln>
        </p:spPr>
      </p:sp>
      <p:sp>
        <p:nvSpPr>
          <p:cNvPr id="16" name="Text 14"/>
          <p:cNvSpPr/>
          <p:nvPr/>
        </p:nvSpPr>
        <p:spPr>
          <a:xfrm>
            <a:off x="566928" y="3063240"/>
            <a:ext cx="8229600" cy="274320"/>
          </a:xfrm>
          <a:prstGeom prst="rect">
            <a:avLst/>
          </a:prstGeom>
          <a:noFill/>
          <a:ln/>
        </p:spPr>
        <p:txBody>
          <a:bodyPr wrap="square" rtlCol="0" anchor="ctr"/>
          <a:lstStyle/>
          <a:p>
            <a:pPr indent="0" marL="0">
              <a:buNone/>
            </a:pPr>
            <a:r>
              <a:rPr lang="en-US" sz="1200" b="1" dirty="0">
                <a:solidFill>
                  <a:srgbClr val="1E2761"/>
                </a:solidFill>
              </a:rPr>
              <a:t>Heritage Right vs. Heritage Commodity</a:t>
            </a:r>
            <a:endParaRPr lang="en-US" sz="1200" dirty="0"/>
          </a:p>
        </p:txBody>
      </p:sp>
      <p:sp>
        <p:nvSpPr>
          <p:cNvPr id="17" name="Text 15"/>
          <p:cNvSpPr/>
          <p:nvPr/>
        </p:nvSpPr>
        <p:spPr>
          <a:xfrm>
            <a:off x="566928" y="3383280"/>
            <a:ext cx="8229600" cy="365760"/>
          </a:xfrm>
          <a:prstGeom prst="rect">
            <a:avLst/>
          </a:prstGeom>
          <a:noFill/>
          <a:ln/>
        </p:spPr>
        <p:txBody>
          <a:bodyPr wrap="square" rtlCol="0" anchor="ctr"/>
          <a:lstStyle/>
          <a:p>
            <a:pPr indent="0" marL="0">
              <a:buNone/>
            </a:pPr>
            <a:r>
              <a:rPr lang="en-US" sz="1100" dirty="0">
                <a:solidFill>
                  <a:srgbClr val="334155"/>
                </a:solidFill>
              </a:rPr>
              <a:t>Critical fracture between Agent 33 (values-driven, material sacrifices for halal/Islamic banking) who resents aesthetic heritage extraction, and Agent 21 (class privilege) who frames quality as non-negotiable without acknowledging access barriers.</a:t>
            </a:r>
            <a:endParaRPr lang="en-US" sz="1100" dirty="0"/>
          </a:p>
        </p:txBody>
      </p:sp>
      <p:sp>
        <p:nvSpPr>
          <p:cNvPr id="18" name="Shape 16"/>
          <p:cNvSpPr/>
          <p:nvPr/>
        </p:nvSpPr>
        <p:spPr>
          <a:xfrm>
            <a:off x="411480" y="3895344"/>
            <a:ext cx="8503920" cy="795528"/>
          </a:xfrm>
          <a:prstGeom prst="rect">
            <a:avLst/>
          </a:prstGeom>
          <a:solidFill>
            <a:srgbClr val="F8FAFC"/>
          </a:solidFill>
          <a:ln w="12700">
            <a:solidFill>
              <a:srgbClr val="E2E8F0"/>
            </a:solidFill>
            <a:prstDash val="solid"/>
          </a:ln>
        </p:spPr>
      </p:sp>
      <p:sp>
        <p:nvSpPr>
          <p:cNvPr id="19" name="Shape 17"/>
          <p:cNvSpPr/>
          <p:nvPr/>
        </p:nvSpPr>
        <p:spPr>
          <a:xfrm>
            <a:off x="411480" y="3895344"/>
            <a:ext cx="54864" cy="795528"/>
          </a:xfrm>
          <a:prstGeom prst="rect">
            <a:avLst/>
          </a:prstGeom>
          <a:solidFill>
            <a:srgbClr val="E8B04B"/>
          </a:solidFill>
          <a:ln w="12700">
            <a:solidFill>
              <a:srgbClr val="E8B04B"/>
            </a:solidFill>
            <a:prstDash val="solid"/>
          </a:ln>
        </p:spPr>
      </p:sp>
      <p:sp>
        <p:nvSpPr>
          <p:cNvPr id="20" name="Text 18"/>
          <p:cNvSpPr/>
          <p:nvPr/>
        </p:nvSpPr>
        <p:spPr>
          <a:xfrm>
            <a:off x="566928" y="3950208"/>
            <a:ext cx="8229600" cy="274320"/>
          </a:xfrm>
          <a:prstGeom prst="rect">
            <a:avLst/>
          </a:prstGeom>
          <a:noFill/>
          <a:ln/>
        </p:spPr>
        <p:txBody>
          <a:bodyPr wrap="square" rtlCol="0" anchor="ctr"/>
          <a:lstStyle/>
          <a:p>
            <a:pPr indent="0" marL="0">
              <a:buNone/>
            </a:pPr>
            <a:r>
              <a:rPr lang="en-US" sz="1200" b="1" dirty="0">
                <a:solidFill>
                  <a:srgbClr val="1E2761"/>
                </a:solidFill>
              </a:rPr>
              <a:t>Affordability Anxiety Undermines Aspiration</a:t>
            </a:r>
            <a:endParaRPr lang="en-US" sz="1200" dirty="0"/>
          </a:p>
        </p:txBody>
      </p:sp>
      <p:sp>
        <p:nvSpPr>
          <p:cNvPr id="21" name="Text 19"/>
          <p:cNvSpPr/>
          <p:nvPr/>
        </p:nvSpPr>
        <p:spPr>
          <a:xfrm>
            <a:off x="566928" y="4270248"/>
            <a:ext cx="8229600" cy="365760"/>
          </a:xfrm>
          <a:prstGeom prst="rect">
            <a:avLst/>
          </a:prstGeom>
          <a:noFill/>
          <a:ln/>
        </p:spPr>
        <p:txBody>
          <a:bodyPr wrap="square" rtlCol="0" anchor="ctr"/>
          <a:lstStyle/>
          <a:p>
            <a:pPr indent="0" marL="0">
              <a:buNone/>
            </a:pPr>
            <a:r>
              <a:rPr lang="en-US" sz="1100" dirty="0">
                <a:solidFill>
                  <a:srgbClr val="334155"/>
                </a:solidFill>
              </a:rPr>
              <a:t>Agent 44's core tension: 'Is this going to be expensive? Premium Singapore heritage usually means priced for people who can afford to perform heritage.' Campaign must signal accessible participation or risk alienating financially constrained PTM.</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0"/>
            <a:ext cx="182880" cy="5143500"/>
          </a:xfrm>
          <a:prstGeom prst="rect">
            <a:avLst/>
          </a:prstGeom>
          <a:solidFill>
            <a:srgbClr val="E8B04B"/>
          </a:solidFill>
          <a:ln w="12700">
            <a:solidFill>
              <a:srgbClr val="E8B04B"/>
            </a:solidFill>
            <a:prstDash val="solid"/>
          </a:ln>
        </p:spPr>
      </p:sp>
      <p:sp>
        <p:nvSpPr>
          <p:cNvPr id="4" name="Text 2"/>
          <p:cNvSpPr/>
          <p:nvPr/>
        </p:nvSpPr>
        <p:spPr>
          <a:xfrm>
            <a:off x="365760" y="91440"/>
            <a:ext cx="8503920" cy="475488"/>
          </a:xfrm>
          <a:prstGeom prst="rect">
            <a:avLst/>
          </a:prstGeom>
          <a:noFill/>
          <a:ln/>
        </p:spPr>
        <p:txBody>
          <a:bodyPr wrap="square" lIns="0" tIns="0" rIns="0" bIns="0" rtlCol="0" anchor="ctr"/>
          <a:lstStyle/>
          <a:p>
            <a:pPr indent="0" marL="0">
              <a:buNone/>
            </a:pPr>
            <a:r>
              <a:rPr lang="en-US" sz="2200" b="1" dirty="0">
                <a:solidFill>
                  <a:srgbClr val="F7F9FC"/>
                </a:solidFill>
                <a:latin typeface="Calibri" pitchFamily="34" charset="0"/>
                <a:ea typeface="Calibri" pitchFamily="34" charset="-122"/>
                <a:cs typeface="Calibri" pitchFamily="34" charset="-120"/>
              </a:rPr>
              <a:t>Strategic Recommendations</a:t>
            </a:r>
            <a:endParaRPr lang="en-US" sz="2200" dirty="0"/>
          </a:p>
        </p:txBody>
      </p:sp>
      <p:sp>
        <p:nvSpPr>
          <p:cNvPr id="5" name="Text 3"/>
          <p:cNvSpPr/>
          <p:nvPr/>
        </p:nvSpPr>
        <p:spPr>
          <a:xfrm>
            <a:off x="411480" y="749808"/>
            <a:ext cx="8503920" cy="365760"/>
          </a:xfrm>
          <a:prstGeom prst="rect">
            <a:avLst/>
          </a:prstGeom>
          <a:noFill/>
          <a:ln/>
        </p:spPr>
        <p:txBody>
          <a:bodyPr wrap="square" rtlCol="0" anchor="ctr"/>
          <a:lstStyle/>
          <a:p>
            <a:pPr indent="0" marL="0">
              <a:buNone/>
            </a:pPr>
            <a:r>
              <a:rPr lang="en-US" sz="1500" b="1" i="1" dirty="0">
                <a:solidFill>
                  <a:srgbClr val="1E2761"/>
                </a:solidFill>
              </a:rPr>
              <a:t>Four High-Priority Activation Strategies</a:t>
            </a:r>
            <a:endParaRPr lang="en-US" sz="1500" dirty="0"/>
          </a:p>
        </p:txBody>
      </p:sp>
      <p:sp>
        <p:nvSpPr>
          <p:cNvPr id="6" name="Shape 4"/>
          <p:cNvSpPr/>
          <p:nvPr/>
        </p:nvSpPr>
        <p:spPr>
          <a:xfrm>
            <a:off x="411480" y="1234440"/>
            <a:ext cx="8503920" cy="795528"/>
          </a:xfrm>
          <a:prstGeom prst="rect">
            <a:avLst/>
          </a:prstGeom>
          <a:solidFill>
            <a:srgbClr val="F8FAFC"/>
          </a:solidFill>
          <a:ln w="12700">
            <a:solidFill>
              <a:srgbClr val="E2E8F0"/>
            </a:solidFill>
            <a:prstDash val="solid"/>
          </a:ln>
        </p:spPr>
      </p:sp>
      <p:sp>
        <p:nvSpPr>
          <p:cNvPr id="7" name="Shape 5"/>
          <p:cNvSpPr/>
          <p:nvPr/>
        </p:nvSpPr>
        <p:spPr>
          <a:xfrm>
            <a:off x="411480" y="1234440"/>
            <a:ext cx="54864" cy="795528"/>
          </a:xfrm>
          <a:prstGeom prst="rect">
            <a:avLst/>
          </a:prstGeom>
          <a:solidFill>
            <a:srgbClr val="DC2626"/>
          </a:solidFill>
          <a:ln w="12700">
            <a:solidFill>
              <a:srgbClr val="DC2626"/>
            </a:solidFill>
            <a:prstDash val="solid"/>
          </a:ln>
        </p:spPr>
      </p:sp>
      <p:sp>
        <p:nvSpPr>
          <p:cNvPr id="8" name="Shape 6"/>
          <p:cNvSpPr/>
          <p:nvPr/>
        </p:nvSpPr>
        <p:spPr>
          <a:xfrm>
            <a:off x="7790688" y="1408176"/>
            <a:ext cx="804672" cy="246888"/>
          </a:xfrm>
          <a:prstGeom prst="rect">
            <a:avLst/>
          </a:prstGeom>
          <a:solidFill>
            <a:srgbClr val="DC2626"/>
          </a:solidFill>
          <a:ln w="12700">
            <a:solidFill>
              <a:srgbClr val="DC2626"/>
            </a:solidFill>
            <a:prstDash val="solid"/>
          </a:ln>
        </p:spPr>
      </p:sp>
      <p:sp>
        <p:nvSpPr>
          <p:cNvPr id="9" name="Text 7"/>
          <p:cNvSpPr/>
          <p:nvPr/>
        </p:nvSpPr>
        <p:spPr>
          <a:xfrm>
            <a:off x="7790688" y="1408176"/>
            <a:ext cx="804672" cy="246888"/>
          </a:xfrm>
          <a:prstGeom prst="rect">
            <a:avLst/>
          </a:prstGeom>
          <a:noFill/>
          <a:ln/>
        </p:spPr>
        <p:txBody>
          <a:bodyPr wrap="square" lIns="0" tIns="0" rIns="0" bIns="0" rtlCol="0" anchor="ctr"/>
          <a:lstStyle/>
          <a:p>
            <a:pPr algn="ctr" indent="0" marL="0">
              <a:buNone/>
            </a:pPr>
            <a:r>
              <a:rPr lang="en-US" sz="900" b="1" dirty="0">
                <a:solidFill>
                  <a:srgbClr val="F7F9FC"/>
                </a:solidFill>
              </a:rPr>
              <a:t>High</a:t>
            </a:r>
            <a:endParaRPr lang="en-US" sz="900" dirty="0"/>
          </a:p>
        </p:txBody>
      </p:sp>
      <p:sp>
        <p:nvSpPr>
          <p:cNvPr id="10" name="Text 8"/>
          <p:cNvSpPr/>
          <p:nvPr/>
        </p:nvSpPr>
        <p:spPr>
          <a:xfrm>
            <a:off x="566928" y="1289304"/>
            <a:ext cx="7040880" cy="274320"/>
          </a:xfrm>
          <a:prstGeom prst="rect">
            <a:avLst/>
          </a:prstGeom>
          <a:noFill/>
          <a:ln/>
        </p:spPr>
        <p:txBody>
          <a:bodyPr wrap="square" rtlCol="0" anchor="ctr"/>
          <a:lstStyle/>
          <a:p>
            <a:pPr indent="0" marL="0">
              <a:buNone/>
            </a:pPr>
            <a:r>
              <a:rPr lang="en-US" sz="1200" b="1" dirty="0">
                <a:solidFill>
                  <a:srgbClr val="1E2761"/>
                </a:solidFill>
              </a:rPr>
              <a:t>Make PTM Presence Visible Early</a:t>
            </a:r>
            <a:endParaRPr lang="en-US" sz="1200" dirty="0"/>
          </a:p>
        </p:txBody>
      </p:sp>
      <p:sp>
        <p:nvSpPr>
          <p:cNvPr id="11" name="Text 9"/>
          <p:cNvSpPr/>
          <p:nvPr/>
        </p:nvSpPr>
        <p:spPr>
          <a:xfrm>
            <a:off x="566928" y="1618488"/>
            <a:ext cx="8229600" cy="347472"/>
          </a:xfrm>
          <a:prstGeom prst="rect">
            <a:avLst/>
          </a:prstGeom>
          <a:noFill/>
          <a:ln/>
        </p:spPr>
        <p:txBody>
          <a:bodyPr wrap="square" rtlCol="0" anchor="ctr"/>
          <a:lstStyle/>
          <a:p>
            <a:pPr indent="0" marL="0">
              <a:buNone/>
            </a:pPr>
            <a:r>
              <a:rPr lang="en-US" sz="1100" dirty="0">
                <a:solidFill>
                  <a:srgbClr val="334155"/>
                </a:solidFill>
              </a:rPr>
              <a:t>Deploy merchant-class influencers (ages 42-44) in Week 1-2 Jam Tujuh Pagi content at Iskandar Muda location to grant STM social permission and demonstrate genealogical authority claiming heritage.</a:t>
            </a:r>
            <a:endParaRPr lang="en-US" sz="1100" dirty="0"/>
          </a:p>
        </p:txBody>
      </p:sp>
      <p:sp>
        <p:nvSpPr>
          <p:cNvPr id="12" name="Shape 10"/>
          <p:cNvSpPr/>
          <p:nvPr/>
        </p:nvSpPr>
        <p:spPr>
          <a:xfrm>
            <a:off x="411480" y="2121408"/>
            <a:ext cx="8503920" cy="795528"/>
          </a:xfrm>
          <a:prstGeom prst="rect">
            <a:avLst/>
          </a:prstGeom>
          <a:solidFill>
            <a:srgbClr val="F8FAFC"/>
          </a:solidFill>
          <a:ln w="12700">
            <a:solidFill>
              <a:srgbClr val="E2E8F0"/>
            </a:solidFill>
            <a:prstDash val="solid"/>
          </a:ln>
        </p:spPr>
      </p:sp>
      <p:sp>
        <p:nvSpPr>
          <p:cNvPr id="13" name="Shape 11"/>
          <p:cNvSpPr/>
          <p:nvPr/>
        </p:nvSpPr>
        <p:spPr>
          <a:xfrm>
            <a:off x="411480" y="2121408"/>
            <a:ext cx="54864" cy="795528"/>
          </a:xfrm>
          <a:prstGeom prst="rect">
            <a:avLst/>
          </a:prstGeom>
          <a:solidFill>
            <a:srgbClr val="DC2626"/>
          </a:solidFill>
          <a:ln w="12700">
            <a:solidFill>
              <a:srgbClr val="DC2626"/>
            </a:solidFill>
            <a:prstDash val="solid"/>
          </a:ln>
        </p:spPr>
      </p:sp>
      <p:sp>
        <p:nvSpPr>
          <p:cNvPr id="14" name="Shape 12"/>
          <p:cNvSpPr/>
          <p:nvPr/>
        </p:nvSpPr>
        <p:spPr>
          <a:xfrm>
            <a:off x="7790688" y="2295144"/>
            <a:ext cx="804672" cy="246888"/>
          </a:xfrm>
          <a:prstGeom prst="rect">
            <a:avLst/>
          </a:prstGeom>
          <a:solidFill>
            <a:srgbClr val="DC2626"/>
          </a:solidFill>
          <a:ln w="12700">
            <a:solidFill>
              <a:srgbClr val="DC2626"/>
            </a:solidFill>
            <a:prstDash val="solid"/>
          </a:ln>
        </p:spPr>
      </p:sp>
      <p:sp>
        <p:nvSpPr>
          <p:cNvPr id="15" name="Text 13"/>
          <p:cNvSpPr/>
          <p:nvPr/>
        </p:nvSpPr>
        <p:spPr>
          <a:xfrm>
            <a:off x="7790688" y="2295144"/>
            <a:ext cx="804672" cy="246888"/>
          </a:xfrm>
          <a:prstGeom prst="rect">
            <a:avLst/>
          </a:prstGeom>
          <a:noFill/>
          <a:ln/>
        </p:spPr>
        <p:txBody>
          <a:bodyPr wrap="square" lIns="0" tIns="0" rIns="0" bIns="0" rtlCol="0" anchor="ctr"/>
          <a:lstStyle/>
          <a:p>
            <a:pPr algn="ctr" indent="0" marL="0">
              <a:buNone/>
            </a:pPr>
            <a:r>
              <a:rPr lang="en-US" sz="900" b="1" dirty="0">
                <a:solidFill>
                  <a:srgbClr val="F7F9FC"/>
                </a:solidFill>
              </a:rPr>
              <a:t>High</a:t>
            </a:r>
            <a:endParaRPr lang="en-US" sz="900" dirty="0"/>
          </a:p>
        </p:txBody>
      </p:sp>
      <p:sp>
        <p:nvSpPr>
          <p:cNvPr id="16" name="Text 14"/>
          <p:cNvSpPr/>
          <p:nvPr/>
        </p:nvSpPr>
        <p:spPr>
          <a:xfrm>
            <a:off x="566928" y="2176272"/>
            <a:ext cx="7040880" cy="274320"/>
          </a:xfrm>
          <a:prstGeom prst="rect">
            <a:avLst/>
          </a:prstGeom>
          <a:noFill/>
          <a:ln/>
        </p:spPr>
        <p:txBody>
          <a:bodyPr wrap="square" rtlCol="0" anchor="ctr"/>
          <a:lstStyle/>
          <a:p>
            <a:pPr indent="0" marL="0">
              <a:buNone/>
            </a:pPr>
            <a:r>
              <a:rPr lang="en-US" sz="1200" b="1" dirty="0">
                <a:solidFill>
                  <a:srgbClr val="1E2761"/>
                </a:solidFill>
              </a:rPr>
              <a:t>Address Halal Transparency Immediately</a:t>
            </a:r>
            <a:endParaRPr lang="en-US" sz="1200" dirty="0"/>
          </a:p>
        </p:txBody>
      </p:sp>
      <p:sp>
        <p:nvSpPr>
          <p:cNvPr id="17" name="Text 15"/>
          <p:cNvSpPr/>
          <p:nvPr/>
        </p:nvSpPr>
        <p:spPr>
          <a:xfrm>
            <a:off x="566928" y="2505456"/>
            <a:ext cx="8229600" cy="347472"/>
          </a:xfrm>
          <a:prstGeom prst="rect">
            <a:avLst/>
          </a:prstGeom>
          <a:noFill/>
          <a:ln/>
        </p:spPr>
        <p:txBody>
          <a:bodyPr wrap="square" rtlCol="0" anchor="ctr"/>
          <a:lstStyle/>
          <a:p>
            <a:pPr indent="0" marL="0">
              <a:buNone/>
            </a:pPr>
            <a:r>
              <a:rPr lang="en-US" sz="1100" dirty="0">
                <a:solidFill>
                  <a:srgbClr val="334155"/>
                </a:solidFill>
              </a:rPr>
              <a:t>Proactively communicate ingredient sourcing and preparation protocols to capture values-driven consumers like Agent 33 who've made material sacrifices for alignment; prevents values-exclusion perception.</a:t>
            </a:r>
            <a:endParaRPr lang="en-US" sz="1100" dirty="0"/>
          </a:p>
        </p:txBody>
      </p:sp>
      <p:sp>
        <p:nvSpPr>
          <p:cNvPr id="18" name="Shape 16"/>
          <p:cNvSpPr/>
          <p:nvPr/>
        </p:nvSpPr>
        <p:spPr>
          <a:xfrm>
            <a:off x="411480" y="3008376"/>
            <a:ext cx="8503920" cy="795528"/>
          </a:xfrm>
          <a:prstGeom prst="rect">
            <a:avLst/>
          </a:prstGeom>
          <a:solidFill>
            <a:srgbClr val="F8FAFC"/>
          </a:solidFill>
          <a:ln w="12700">
            <a:solidFill>
              <a:srgbClr val="E2E8F0"/>
            </a:solidFill>
            <a:prstDash val="solid"/>
          </a:ln>
        </p:spPr>
      </p:sp>
      <p:sp>
        <p:nvSpPr>
          <p:cNvPr id="19" name="Shape 17"/>
          <p:cNvSpPr/>
          <p:nvPr/>
        </p:nvSpPr>
        <p:spPr>
          <a:xfrm>
            <a:off x="411480" y="3008376"/>
            <a:ext cx="54864" cy="795528"/>
          </a:xfrm>
          <a:prstGeom prst="rect">
            <a:avLst/>
          </a:prstGeom>
          <a:solidFill>
            <a:srgbClr val="E8B04B"/>
          </a:solidFill>
          <a:ln w="12700">
            <a:solidFill>
              <a:srgbClr val="E8B04B"/>
            </a:solidFill>
            <a:prstDash val="solid"/>
          </a:ln>
        </p:spPr>
      </p:sp>
      <p:sp>
        <p:nvSpPr>
          <p:cNvPr id="20" name="Shape 18"/>
          <p:cNvSpPr/>
          <p:nvPr/>
        </p:nvSpPr>
        <p:spPr>
          <a:xfrm>
            <a:off x="7790688" y="3182112"/>
            <a:ext cx="804672" cy="246888"/>
          </a:xfrm>
          <a:prstGeom prst="rect">
            <a:avLst/>
          </a:prstGeom>
          <a:solidFill>
            <a:srgbClr val="E8B04B"/>
          </a:solidFill>
          <a:ln w="12700">
            <a:solidFill>
              <a:srgbClr val="E8B04B"/>
            </a:solidFill>
            <a:prstDash val="solid"/>
          </a:ln>
        </p:spPr>
      </p:sp>
      <p:sp>
        <p:nvSpPr>
          <p:cNvPr id="21" name="Text 19"/>
          <p:cNvSpPr/>
          <p:nvPr/>
        </p:nvSpPr>
        <p:spPr>
          <a:xfrm>
            <a:off x="7790688" y="3182112"/>
            <a:ext cx="804672" cy="246888"/>
          </a:xfrm>
          <a:prstGeom prst="rect">
            <a:avLst/>
          </a:prstGeom>
          <a:noFill/>
          <a:ln/>
        </p:spPr>
        <p:txBody>
          <a:bodyPr wrap="square" lIns="0" tIns="0" rIns="0" bIns="0" rtlCol="0" anchor="ctr"/>
          <a:lstStyle/>
          <a:p>
            <a:pPr algn="ctr" indent="0" marL="0">
              <a:buNone/>
            </a:pPr>
            <a:r>
              <a:rPr lang="en-US" sz="900" b="1" dirty="0">
                <a:solidFill>
                  <a:srgbClr val="F7F9FC"/>
                </a:solidFill>
              </a:rPr>
              <a:t>Medium</a:t>
            </a:r>
            <a:endParaRPr lang="en-US" sz="900" dirty="0"/>
          </a:p>
        </p:txBody>
      </p:sp>
      <p:sp>
        <p:nvSpPr>
          <p:cNvPr id="22" name="Text 20"/>
          <p:cNvSpPr/>
          <p:nvPr/>
        </p:nvSpPr>
        <p:spPr>
          <a:xfrm>
            <a:off x="566928" y="3063240"/>
            <a:ext cx="7040880" cy="274320"/>
          </a:xfrm>
          <a:prstGeom prst="rect">
            <a:avLst/>
          </a:prstGeom>
          <a:noFill/>
          <a:ln/>
        </p:spPr>
        <p:txBody>
          <a:bodyPr wrap="square" rtlCol="0" anchor="ctr"/>
          <a:lstStyle/>
          <a:p>
            <a:pPr indent="0" marL="0">
              <a:buNone/>
            </a:pPr>
            <a:r>
              <a:rPr lang="en-US" sz="1200" b="1" dirty="0">
                <a:solidFill>
                  <a:srgbClr val="1E2761"/>
                </a:solidFill>
              </a:rPr>
              <a:t>Price-Anchor Accessible Participation</a:t>
            </a:r>
            <a:endParaRPr lang="en-US" sz="1200" dirty="0"/>
          </a:p>
        </p:txBody>
      </p:sp>
      <p:sp>
        <p:nvSpPr>
          <p:cNvPr id="23" name="Text 21"/>
          <p:cNvSpPr/>
          <p:nvPr/>
        </p:nvSpPr>
        <p:spPr>
          <a:xfrm>
            <a:off x="566928" y="3392424"/>
            <a:ext cx="8229600" cy="347472"/>
          </a:xfrm>
          <a:prstGeom prst="rect">
            <a:avLst/>
          </a:prstGeom>
          <a:noFill/>
          <a:ln/>
        </p:spPr>
        <p:txBody>
          <a:bodyPr wrap="square" rtlCol="0" anchor="ctr"/>
          <a:lstStyle/>
          <a:p>
            <a:pPr indent="0" marL="0">
              <a:buNone/>
            </a:pPr>
            <a:r>
              <a:rPr lang="en-US" sz="1100" dirty="0">
                <a:solidFill>
                  <a:srgbClr val="334155"/>
                </a:solidFill>
              </a:rPr>
              <a:t>Explicitly communicate entry-level pricing in Month 1 'Kenalan' phase to defuse Agent 44's affordability anxiety without resorting to promotional language; frame as 'daily ritual' not 'special occasion.'</a:t>
            </a:r>
            <a:endParaRPr lang="en-US" sz="1100" dirty="0"/>
          </a:p>
        </p:txBody>
      </p:sp>
      <p:sp>
        <p:nvSpPr>
          <p:cNvPr id="24" name="Shape 22"/>
          <p:cNvSpPr/>
          <p:nvPr/>
        </p:nvSpPr>
        <p:spPr>
          <a:xfrm>
            <a:off x="411480" y="3895344"/>
            <a:ext cx="8503920" cy="795528"/>
          </a:xfrm>
          <a:prstGeom prst="rect">
            <a:avLst/>
          </a:prstGeom>
          <a:solidFill>
            <a:srgbClr val="F8FAFC"/>
          </a:solidFill>
          <a:ln w="12700">
            <a:solidFill>
              <a:srgbClr val="E2E8F0"/>
            </a:solidFill>
            <a:prstDash val="solid"/>
          </a:ln>
        </p:spPr>
      </p:sp>
      <p:sp>
        <p:nvSpPr>
          <p:cNvPr id="25" name="Shape 23"/>
          <p:cNvSpPr/>
          <p:nvPr/>
        </p:nvSpPr>
        <p:spPr>
          <a:xfrm>
            <a:off x="411480" y="3895344"/>
            <a:ext cx="54864" cy="795528"/>
          </a:xfrm>
          <a:prstGeom prst="rect">
            <a:avLst/>
          </a:prstGeom>
          <a:solidFill>
            <a:srgbClr val="E8B04B"/>
          </a:solidFill>
          <a:ln w="12700">
            <a:solidFill>
              <a:srgbClr val="E8B04B"/>
            </a:solidFill>
            <a:prstDash val="solid"/>
          </a:ln>
        </p:spPr>
      </p:sp>
      <p:sp>
        <p:nvSpPr>
          <p:cNvPr id="26" name="Shape 24"/>
          <p:cNvSpPr/>
          <p:nvPr/>
        </p:nvSpPr>
        <p:spPr>
          <a:xfrm>
            <a:off x="7790688" y="4069080"/>
            <a:ext cx="804672" cy="246888"/>
          </a:xfrm>
          <a:prstGeom prst="rect">
            <a:avLst/>
          </a:prstGeom>
          <a:solidFill>
            <a:srgbClr val="E8B04B"/>
          </a:solidFill>
          <a:ln w="12700">
            <a:solidFill>
              <a:srgbClr val="E8B04B"/>
            </a:solidFill>
            <a:prstDash val="solid"/>
          </a:ln>
        </p:spPr>
      </p:sp>
      <p:sp>
        <p:nvSpPr>
          <p:cNvPr id="27" name="Text 25"/>
          <p:cNvSpPr/>
          <p:nvPr/>
        </p:nvSpPr>
        <p:spPr>
          <a:xfrm>
            <a:off x="7790688" y="4069080"/>
            <a:ext cx="804672" cy="246888"/>
          </a:xfrm>
          <a:prstGeom prst="rect">
            <a:avLst/>
          </a:prstGeom>
          <a:noFill/>
          <a:ln/>
        </p:spPr>
        <p:txBody>
          <a:bodyPr wrap="square" lIns="0" tIns="0" rIns="0" bIns="0" rtlCol="0" anchor="ctr"/>
          <a:lstStyle/>
          <a:p>
            <a:pPr algn="ctr" indent="0" marL="0">
              <a:buNone/>
            </a:pPr>
            <a:r>
              <a:rPr lang="en-US" sz="900" b="1" dirty="0">
                <a:solidFill>
                  <a:srgbClr val="F7F9FC"/>
                </a:solidFill>
              </a:rPr>
              <a:t>Medium</a:t>
            </a:r>
            <a:endParaRPr lang="en-US" sz="900" dirty="0"/>
          </a:p>
        </p:txBody>
      </p:sp>
      <p:sp>
        <p:nvSpPr>
          <p:cNvPr id="28" name="Text 26"/>
          <p:cNvSpPr/>
          <p:nvPr/>
        </p:nvSpPr>
        <p:spPr>
          <a:xfrm>
            <a:off x="566928" y="3950208"/>
            <a:ext cx="7040880" cy="274320"/>
          </a:xfrm>
          <a:prstGeom prst="rect">
            <a:avLst/>
          </a:prstGeom>
          <a:noFill/>
          <a:ln/>
        </p:spPr>
        <p:txBody>
          <a:bodyPr wrap="square" rtlCol="0" anchor="ctr"/>
          <a:lstStyle/>
          <a:p>
            <a:pPr indent="0" marL="0">
              <a:buNone/>
            </a:pPr>
            <a:r>
              <a:rPr lang="en-US" sz="1200" b="1" dirty="0">
                <a:solidFill>
                  <a:srgbClr val="1E2761"/>
                </a:solidFill>
              </a:rPr>
              <a:t>Activate 'Milik Kita' Co-Creation</a:t>
            </a:r>
            <a:endParaRPr lang="en-US" sz="1200" dirty="0"/>
          </a:p>
        </p:txBody>
      </p:sp>
      <p:sp>
        <p:nvSpPr>
          <p:cNvPr id="29" name="Text 27"/>
          <p:cNvSpPr/>
          <p:nvPr/>
        </p:nvSpPr>
        <p:spPr>
          <a:xfrm>
            <a:off x="566928" y="4279392"/>
            <a:ext cx="8229600" cy="347472"/>
          </a:xfrm>
          <a:prstGeom prst="rect">
            <a:avLst/>
          </a:prstGeom>
          <a:noFill/>
          <a:ln/>
        </p:spPr>
        <p:txBody>
          <a:bodyPr wrap="square" rtlCol="0" anchor="ctr"/>
          <a:lstStyle/>
          <a:p>
            <a:pPr indent="0" marL="0">
              <a:buNone/>
            </a:pPr>
            <a:r>
              <a:rPr lang="en-US" sz="1100" dirty="0">
                <a:solidFill>
                  <a:srgbClr val="334155"/>
                </a:solidFill>
              </a:rPr>
              <a:t>In Month 3 'Milik Bersama' phase, invite consumers to share their own Hainanese/Peranakan family kopitiam memories to shift from brand-owned heritage to community-owned narrative, reducing extraction perception.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0"/>
            <a:ext cx="182880" cy="5143500"/>
          </a:xfrm>
          <a:prstGeom prst="rect">
            <a:avLst/>
          </a:prstGeom>
          <a:solidFill>
            <a:srgbClr val="E8B04B"/>
          </a:solidFill>
          <a:ln w="12700">
            <a:solidFill>
              <a:srgbClr val="E8B04B"/>
            </a:solidFill>
            <a:prstDash val="solid"/>
          </a:ln>
        </p:spPr>
      </p:sp>
      <p:sp>
        <p:nvSpPr>
          <p:cNvPr id="4" name="Text 2"/>
          <p:cNvSpPr/>
          <p:nvPr/>
        </p:nvSpPr>
        <p:spPr>
          <a:xfrm>
            <a:off x="365760" y="91440"/>
            <a:ext cx="8503920" cy="475488"/>
          </a:xfrm>
          <a:prstGeom prst="rect">
            <a:avLst/>
          </a:prstGeom>
          <a:noFill/>
          <a:ln/>
        </p:spPr>
        <p:txBody>
          <a:bodyPr wrap="square" lIns="0" tIns="0" rIns="0" bIns="0" rtlCol="0" anchor="ctr"/>
          <a:lstStyle/>
          <a:p>
            <a:pPr indent="0" marL="0">
              <a:buNone/>
            </a:pPr>
            <a:r>
              <a:rPr lang="en-US" sz="2200" b="1" dirty="0">
                <a:solidFill>
                  <a:srgbClr val="F7F9FC"/>
                </a:solidFill>
                <a:latin typeface="Calibri" pitchFamily="34" charset="0"/>
                <a:ea typeface="Calibri" pitchFamily="34" charset="-122"/>
                <a:cs typeface="Calibri" pitchFamily="34" charset="-120"/>
              </a:rPr>
              <a:t>Risk Assessment &amp; Kill Switch Signals</a:t>
            </a:r>
            <a:endParaRPr lang="en-US" sz="2200" dirty="0"/>
          </a:p>
        </p:txBody>
      </p:sp>
      <p:sp>
        <p:nvSpPr>
          <p:cNvPr id="5" name="Text 3"/>
          <p:cNvSpPr/>
          <p:nvPr/>
        </p:nvSpPr>
        <p:spPr>
          <a:xfrm>
            <a:off x="411480" y="749808"/>
            <a:ext cx="8503920" cy="365760"/>
          </a:xfrm>
          <a:prstGeom prst="rect">
            <a:avLst/>
          </a:prstGeom>
          <a:noFill/>
          <a:ln/>
        </p:spPr>
        <p:txBody>
          <a:bodyPr wrap="square" rtlCol="0" anchor="ctr"/>
          <a:lstStyle/>
          <a:p>
            <a:pPr indent="0" marL="0">
              <a:buNone/>
            </a:pPr>
            <a:r>
              <a:rPr lang="en-US" sz="1500" b="1" i="1" dirty="0">
                <a:solidFill>
                  <a:srgbClr val="1E2761"/>
                </a:solidFill>
              </a:rPr>
              <a:t>Critical Kill Signals and Mitigation Triggers</a:t>
            </a:r>
            <a:endParaRPr lang="en-US" sz="1500" dirty="0"/>
          </a:p>
        </p:txBody>
      </p:sp>
      <p:sp>
        <p:nvSpPr>
          <p:cNvPr id="6" name="Shape 4"/>
          <p:cNvSpPr/>
          <p:nvPr/>
        </p:nvSpPr>
        <p:spPr>
          <a:xfrm>
            <a:off x="411480" y="1234440"/>
            <a:ext cx="8503920" cy="795528"/>
          </a:xfrm>
          <a:prstGeom prst="rect">
            <a:avLst/>
          </a:prstGeom>
          <a:solidFill>
            <a:srgbClr val="F8FAFC"/>
          </a:solidFill>
          <a:ln w="12700">
            <a:solidFill>
              <a:srgbClr val="E2E8F0"/>
            </a:solidFill>
            <a:prstDash val="solid"/>
          </a:ln>
        </p:spPr>
      </p:sp>
      <p:sp>
        <p:nvSpPr>
          <p:cNvPr id="7" name="Shape 5"/>
          <p:cNvSpPr/>
          <p:nvPr/>
        </p:nvSpPr>
        <p:spPr>
          <a:xfrm>
            <a:off x="411480" y="1234440"/>
            <a:ext cx="54864" cy="795528"/>
          </a:xfrm>
          <a:prstGeom prst="rect">
            <a:avLst/>
          </a:prstGeom>
          <a:solidFill>
            <a:srgbClr val="DC2626"/>
          </a:solidFill>
          <a:ln w="12700">
            <a:solidFill>
              <a:srgbClr val="DC2626"/>
            </a:solidFill>
            <a:prstDash val="solid"/>
          </a:ln>
        </p:spPr>
      </p:sp>
      <p:sp>
        <p:nvSpPr>
          <p:cNvPr id="8" name="Shape 6"/>
          <p:cNvSpPr/>
          <p:nvPr/>
        </p:nvSpPr>
        <p:spPr>
          <a:xfrm>
            <a:off x="7790688" y="1408176"/>
            <a:ext cx="804672" cy="246888"/>
          </a:xfrm>
          <a:prstGeom prst="rect">
            <a:avLst/>
          </a:prstGeom>
          <a:solidFill>
            <a:srgbClr val="DC2626"/>
          </a:solidFill>
          <a:ln w="12700">
            <a:solidFill>
              <a:srgbClr val="DC2626"/>
            </a:solidFill>
            <a:prstDash val="solid"/>
          </a:ln>
        </p:spPr>
      </p:sp>
      <p:sp>
        <p:nvSpPr>
          <p:cNvPr id="9" name="Text 7"/>
          <p:cNvSpPr/>
          <p:nvPr/>
        </p:nvSpPr>
        <p:spPr>
          <a:xfrm>
            <a:off x="7790688" y="1408176"/>
            <a:ext cx="804672" cy="246888"/>
          </a:xfrm>
          <a:prstGeom prst="rect">
            <a:avLst/>
          </a:prstGeom>
          <a:noFill/>
          <a:ln/>
        </p:spPr>
        <p:txBody>
          <a:bodyPr wrap="square" lIns="0" tIns="0" rIns="0" bIns="0" rtlCol="0" anchor="ctr"/>
          <a:lstStyle/>
          <a:p>
            <a:pPr algn="ctr" indent="0" marL="0">
              <a:buNone/>
            </a:pPr>
            <a:r>
              <a:rPr lang="en-US" sz="900" b="1" dirty="0">
                <a:solidFill>
                  <a:srgbClr val="F7F9FC"/>
                </a:solidFill>
              </a:rPr>
              <a:t>High</a:t>
            </a:r>
            <a:endParaRPr lang="en-US" sz="900" dirty="0"/>
          </a:p>
        </p:txBody>
      </p:sp>
      <p:sp>
        <p:nvSpPr>
          <p:cNvPr id="10" name="Text 8"/>
          <p:cNvSpPr/>
          <p:nvPr/>
        </p:nvSpPr>
        <p:spPr>
          <a:xfrm>
            <a:off x="566928" y="1289304"/>
            <a:ext cx="7040880" cy="274320"/>
          </a:xfrm>
          <a:prstGeom prst="rect">
            <a:avLst/>
          </a:prstGeom>
          <a:noFill/>
          <a:ln/>
        </p:spPr>
        <p:txBody>
          <a:bodyPr wrap="square" rtlCol="0" anchor="ctr"/>
          <a:lstStyle/>
          <a:p>
            <a:pPr indent="0" marL="0">
              <a:buNone/>
            </a:pPr>
            <a:r>
              <a:rPr lang="en-US" sz="1200" b="1" dirty="0">
                <a:solidFill>
                  <a:srgbClr val="1E2761"/>
                </a:solidFill>
              </a:rPr>
              <a:t>Class Privilege Backlash</a:t>
            </a:r>
            <a:endParaRPr lang="en-US" sz="1200" dirty="0"/>
          </a:p>
        </p:txBody>
      </p:sp>
      <p:sp>
        <p:nvSpPr>
          <p:cNvPr id="11" name="Text 9"/>
          <p:cNvSpPr/>
          <p:nvPr/>
        </p:nvSpPr>
        <p:spPr>
          <a:xfrm>
            <a:off x="566928" y="1618488"/>
            <a:ext cx="8229600" cy="347472"/>
          </a:xfrm>
          <a:prstGeom prst="rect">
            <a:avLst/>
          </a:prstGeom>
          <a:noFill/>
          <a:ln/>
        </p:spPr>
        <p:txBody>
          <a:bodyPr wrap="square" rtlCol="0" anchor="ctr"/>
          <a:lstStyle/>
          <a:p>
            <a:pPr indent="0" marL="0">
              <a:buNone/>
            </a:pPr>
            <a:r>
              <a:rPr lang="en-US" sz="1100" dirty="0">
                <a:solidFill>
                  <a:srgbClr val="334155"/>
                </a:solidFill>
              </a:rPr>
              <a:t>If Agent 21-type STM dominates visible participation before PTM validation, campaign reads as aesthetic appropriation by financially secure millennials, alienating core 35-44 PTM.</a:t>
            </a:r>
            <a:endParaRPr lang="en-US" sz="1100" dirty="0"/>
          </a:p>
        </p:txBody>
      </p:sp>
      <p:sp>
        <p:nvSpPr>
          <p:cNvPr id="12" name="Shape 10"/>
          <p:cNvSpPr/>
          <p:nvPr/>
        </p:nvSpPr>
        <p:spPr>
          <a:xfrm>
            <a:off x="411480" y="2121408"/>
            <a:ext cx="8503920" cy="795528"/>
          </a:xfrm>
          <a:prstGeom prst="rect">
            <a:avLst/>
          </a:prstGeom>
          <a:solidFill>
            <a:srgbClr val="F8FAFC"/>
          </a:solidFill>
          <a:ln w="12700">
            <a:solidFill>
              <a:srgbClr val="E2E8F0"/>
            </a:solidFill>
            <a:prstDash val="solid"/>
          </a:ln>
        </p:spPr>
      </p:sp>
      <p:sp>
        <p:nvSpPr>
          <p:cNvPr id="13" name="Shape 11"/>
          <p:cNvSpPr/>
          <p:nvPr/>
        </p:nvSpPr>
        <p:spPr>
          <a:xfrm>
            <a:off x="411480" y="2121408"/>
            <a:ext cx="54864" cy="795528"/>
          </a:xfrm>
          <a:prstGeom prst="rect">
            <a:avLst/>
          </a:prstGeom>
          <a:solidFill>
            <a:srgbClr val="DC2626"/>
          </a:solidFill>
          <a:ln w="12700">
            <a:solidFill>
              <a:srgbClr val="DC2626"/>
            </a:solidFill>
            <a:prstDash val="solid"/>
          </a:ln>
        </p:spPr>
      </p:sp>
      <p:sp>
        <p:nvSpPr>
          <p:cNvPr id="14" name="Shape 12"/>
          <p:cNvSpPr/>
          <p:nvPr/>
        </p:nvSpPr>
        <p:spPr>
          <a:xfrm>
            <a:off x="7790688" y="2295144"/>
            <a:ext cx="804672" cy="246888"/>
          </a:xfrm>
          <a:prstGeom prst="rect">
            <a:avLst/>
          </a:prstGeom>
          <a:solidFill>
            <a:srgbClr val="DC2626"/>
          </a:solidFill>
          <a:ln w="12700">
            <a:solidFill>
              <a:srgbClr val="DC2626"/>
            </a:solidFill>
            <a:prstDash val="solid"/>
          </a:ln>
        </p:spPr>
      </p:sp>
      <p:sp>
        <p:nvSpPr>
          <p:cNvPr id="15" name="Text 13"/>
          <p:cNvSpPr/>
          <p:nvPr/>
        </p:nvSpPr>
        <p:spPr>
          <a:xfrm>
            <a:off x="7790688" y="2295144"/>
            <a:ext cx="804672" cy="246888"/>
          </a:xfrm>
          <a:prstGeom prst="rect">
            <a:avLst/>
          </a:prstGeom>
          <a:noFill/>
          <a:ln/>
        </p:spPr>
        <p:txBody>
          <a:bodyPr wrap="square" lIns="0" tIns="0" rIns="0" bIns="0" rtlCol="0" anchor="ctr"/>
          <a:lstStyle/>
          <a:p>
            <a:pPr algn="ctr" indent="0" marL="0">
              <a:buNone/>
            </a:pPr>
            <a:r>
              <a:rPr lang="en-US" sz="900" b="1" dirty="0">
                <a:solidFill>
                  <a:srgbClr val="F7F9FC"/>
                </a:solidFill>
              </a:rPr>
              <a:t>High</a:t>
            </a:r>
            <a:endParaRPr lang="en-US" sz="900" dirty="0"/>
          </a:p>
        </p:txBody>
      </p:sp>
      <p:sp>
        <p:nvSpPr>
          <p:cNvPr id="16" name="Text 14"/>
          <p:cNvSpPr/>
          <p:nvPr/>
        </p:nvSpPr>
        <p:spPr>
          <a:xfrm>
            <a:off x="566928" y="2176272"/>
            <a:ext cx="7040880" cy="274320"/>
          </a:xfrm>
          <a:prstGeom prst="rect">
            <a:avLst/>
          </a:prstGeom>
          <a:noFill/>
          <a:ln/>
        </p:spPr>
        <p:txBody>
          <a:bodyPr wrap="square" rtlCol="0" anchor="ctr"/>
          <a:lstStyle/>
          <a:p>
            <a:pPr indent="0" marL="0">
              <a:buNone/>
            </a:pPr>
            <a:r>
              <a:rPr lang="en-US" sz="1200" b="1" dirty="0">
                <a:solidFill>
                  <a:srgbClr val="1E2761"/>
                </a:solidFill>
              </a:rPr>
              <a:t>Premium Pricing Confirmation</a:t>
            </a:r>
            <a:endParaRPr lang="en-US" sz="1200" dirty="0"/>
          </a:p>
        </p:txBody>
      </p:sp>
      <p:sp>
        <p:nvSpPr>
          <p:cNvPr id="17" name="Text 15"/>
          <p:cNvSpPr/>
          <p:nvPr/>
        </p:nvSpPr>
        <p:spPr>
          <a:xfrm>
            <a:off x="566928" y="2505456"/>
            <a:ext cx="8229600" cy="347472"/>
          </a:xfrm>
          <a:prstGeom prst="rect">
            <a:avLst/>
          </a:prstGeom>
          <a:noFill/>
          <a:ln/>
        </p:spPr>
        <p:txBody>
          <a:bodyPr wrap="square" rtlCol="0" anchor="ctr"/>
          <a:lstStyle/>
          <a:p>
            <a:pPr indent="0" marL="0">
              <a:buNone/>
            </a:pPr>
            <a:r>
              <a:rPr lang="en-US" sz="1100" dirty="0">
                <a:solidFill>
                  <a:srgbClr val="334155"/>
                </a:solidFill>
              </a:rPr>
              <a:t>If actual pricing confirms Agent 44's anxiety ('expensive premium Singapore heritage'), financially constrained PTM abandons campaign as inaccessible performance requirement, collapsing core positioning.</a:t>
            </a:r>
            <a:endParaRPr lang="en-US" sz="1100" dirty="0"/>
          </a:p>
        </p:txBody>
      </p:sp>
      <p:sp>
        <p:nvSpPr>
          <p:cNvPr id="18" name="Shape 16"/>
          <p:cNvSpPr/>
          <p:nvPr/>
        </p:nvSpPr>
        <p:spPr>
          <a:xfrm>
            <a:off x="411480" y="3008376"/>
            <a:ext cx="8503920" cy="795528"/>
          </a:xfrm>
          <a:prstGeom prst="rect">
            <a:avLst/>
          </a:prstGeom>
          <a:solidFill>
            <a:srgbClr val="F8FAFC"/>
          </a:solidFill>
          <a:ln w="12700">
            <a:solidFill>
              <a:srgbClr val="E2E8F0"/>
            </a:solidFill>
            <a:prstDash val="solid"/>
          </a:ln>
        </p:spPr>
      </p:sp>
      <p:sp>
        <p:nvSpPr>
          <p:cNvPr id="19" name="Shape 17"/>
          <p:cNvSpPr/>
          <p:nvPr/>
        </p:nvSpPr>
        <p:spPr>
          <a:xfrm>
            <a:off x="411480" y="3008376"/>
            <a:ext cx="54864" cy="795528"/>
          </a:xfrm>
          <a:prstGeom prst="rect">
            <a:avLst/>
          </a:prstGeom>
          <a:solidFill>
            <a:srgbClr val="E8B04B"/>
          </a:solidFill>
          <a:ln w="12700">
            <a:solidFill>
              <a:srgbClr val="E8B04B"/>
            </a:solidFill>
            <a:prstDash val="solid"/>
          </a:ln>
        </p:spPr>
      </p:sp>
      <p:sp>
        <p:nvSpPr>
          <p:cNvPr id="20" name="Shape 18"/>
          <p:cNvSpPr/>
          <p:nvPr/>
        </p:nvSpPr>
        <p:spPr>
          <a:xfrm>
            <a:off x="7790688" y="3182112"/>
            <a:ext cx="804672" cy="246888"/>
          </a:xfrm>
          <a:prstGeom prst="rect">
            <a:avLst/>
          </a:prstGeom>
          <a:solidFill>
            <a:srgbClr val="E8B04B"/>
          </a:solidFill>
          <a:ln w="12700">
            <a:solidFill>
              <a:srgbClr val="E8B04B"/>
            </a:solidFill>
            <a:prstDash val="solid"/>
          </a:ln>
        </p:spPr>
      </p:sp>
      <p:sp>
        <p:nvSpPr>
          <p:cNvPr id="21" name="Text 19"/>
          <p:cNvSpPr/>
          <p:nvPr/>
        </p:nvSpPr>
        <p:spPr>
          <a:xfrm>
            <a:off x="7790688" y="3182112"/>
            <a:ext cx="804672" cy="246888"/>
          </a:xfrm>
          <a:prstGeom prst="rect">
            <a:avLst/>
          </a:prstGeom>
          <a:noFill/>
          <a:ln/>
        </p:spPr>
        <p:txBody>
          <a:bodyPr wrap="square" lIns="0" tIns="0" rIns="0" bIns="0" rtlCol="0" anchor="ctr"/>
          <a:lstStyle/>
          <a:p>
            <a:pPr algn="ctr" indent="0" marL="0">
              <a:buNone/>
            </a:pPr>
            <a:r>
              <a:rPr lang="en-US" sz="900" b="1" dirty="0">
                <a:solidFill>
                  <a:srgbClr val="F7F9FC"/>
                </a:solidFill>
              </a:rPr>
              <a:t>Medium</a:t>
            </a:r>
            <a:endParaRPr lang="en-US" sz="900" dirty="0"/>
          </a:p>
        </p:txBody>
      </p:sp>
      <p:sp>
        <p:nvSpPr>
          <p:cNvPr id="22" name="Text 20"/>
          <p:cNvSpPr/>
          <p:nvPr/>
        </p:nvSpPr>
        <p:spPr>
          <a:xfrm>
            <a:off x="566928" y="3063240"/>
            <a:ext cx="7040880" cy="274320"/>
          </a:xfrm>
          <a:prstGeom prst="rect">
            <a:avLst/>
          </a:prstGeom>
          <a:noFill/>
          <a:ln/>
        </p:spPr>
        <p:txBody>
          <a:bodyPr wrap="square" rtlCol="0" anchor="ctr"/>
          <a:lstStyle/>
          <a:p>
            <a:pPr indent="0" marL="0">
              <a:buNone/>
            </a:pPr>
            <a:r>
              <a:rPr lang="en-US" sz="1200" b="1" dirty="0">
                <a:solidFill>
                  <a:srgbClr val="1E2761"/>
                </a:solidFill>
              </a:rPr>
              <a:t>Values-Exclusion Perception</a:t>
            </a:r>
            <a:endParaRPr lang="en-US" sz="1200" dirty="0"/>
          </a:p>
        </p:txBody>
      </p:sp>
      <p:sp>
        <p:nvSpPr>
          <p:cNvPr id="23" name="Text 21"/>
          <p:cNvSpPr/>
          <p:nvPr/>
        </p:nvSpPr>
        <p:spPr>
          <a:xfrm>
            <a:off x="566928" y="3392424"/>
            <a:ext cx="8229600" cy="347472"/>
          </a:xfrm>
          <a:prstGeom prst="rect">
            <a:avLst/>
          </a:prstGeom>
          <a:noFill/>
          <a:ln/>
        </p:spPr>
        <p:txBody>
          <a:bodyPr wrap="square" rtlCol="0" anchor="ctr"/>
          <a:lstStyle/>
          <a:p>
            <a:pPr indent="0" marL="0">
              <a:buNone/>
            </a:pPr>
            <a:r>
              <a:rPr lang="en-US" sz="1100" dirty="0">
                <a:solidFill>
                  <a:srgbClr val="334155"/>
                </a:solidFill>
              </a:rPr>
              <a:t>If Agent 33-type consumers publicly question halal status without transparent response, campaign loses values-driven segment and attracts 'heritage as aesthetic commodity' criticism.</a:t>
            </a:r>
            <a:endParaRPr lang="en-US" sz="1100" dirty="0"/>
          </a:p>
        </p:txBody>
      </p:sp>
      <p:sp>
        <p:nvSpPr>
          <p:cNvPr id="24" name="Shape 22"/>
          <p:cNvSpPr/>
          <p:nvPr/>
        </p:nvSpPr>
        <p:spPr>
          <a:xfrm>
            <a:off x="411480" y="3895344"/>
            <a:ext cx="8503920" cy="795528"/>
          </a:xfrm>
          <a:prstGeom prst="rect">
            <a:avLst/>
          </a:prstGeom>
          <a:solidFill>
            <a:srgbClr val="F8FAFC"/>
          </a:solidFill>
          <a:ln w="12700">
            <a:solidFill>
              <a:srgbClr val="E2E8F0"/>
            </a:solidFill>
            <a:prstDash val="solid"/>
          </a:ln>
        </p:spPr>
      </p:sp>
      <p:sp>
        <p:nvSpPr>
          <p:cNvPr id="25" name="Shape 23"/>
          <p:cNvSpPr/>
          <p:nvPr/>
        </p:nvSpPr>
        <p:spPr>
          <a:xfrm>
            <a:off x="411480" y="3895344"/>
            <a:ext cx="54864" cy="795528"/>
          </a:xfrm>
          <a:prstGeom prst="rect">
            <a:avLst/>
          </a:prstGeom>
          <a:solidFill>
            <a:srgbClr val="E8B04B"/>
          </a:solidFill>
          <a:ln w="12700">
            <a:solidFill>
              <a:srgbClr val="E8B04B"/>
            </a:solidFill>
            <a:prstDash val="solid"/>
          </a:ln>
        </p:spPr>
      </p:sp>
      <p:sp>
        <p:nvSpPr>
          <p:cNvPr id="26" name="Shape 24"/>
          <p:cNvSpPr/>
          <p:nvPr/>
        </p:nvSpPr>
        <p:spPr>
          <a:xfrm>
            <a:off x="7790688" y="4069080"/>
            <a:ext cx="804672" cy="246888"/>
          </a:xfrm>
          <a:prstGeom prst="rect">
            <a:avLst/>
          </a:prstGeom>
          <a:solidFill>
            <a:srgbClr val="E8B04B"/>
          </a:solidFill>
          <a:ln w="12700">
            <a:solidFill>
              <a:srgbClr val="E8B04B"/>
            </a:solidFill>
            <a:prstDash val="solid"/>
          </a:ln>
        </p:spPr>
      </p:sp>
      <p:sp>
        <p:nvSpPr>
          <p:cNvPr id="27" name="Text 25"/>
          <p:cNvSpPr/>
          <p:nvPr/>
        </p:nvSpPr>
        <p:spPr>
          <a:xfrm>
            <a:off x="7790688" y="4069080"/>
            <a:ext cx="804672" cy="246888"/>
          </a:xfrm>
          <a:prstGeom prst="rect">
            <a:avLst/>
          </a:prstGeom>
          <a:noFill/>
          <a:ln/>
        </p:spPr>
        <p:txBody>
          <a:bodyPr wrap="square" lIns="0" tIns="0" rIns="0" bIns="0" rtlCol="0" anchor="ctr"/>
          <a:lstStyle/>
          <a:p>
            <a:pPr algn="ctr" indent="0" marL="0">
              <a:buNone/>
            </a:pPr>
            <a:r>
              <a:rPr lang="en-US" sz="900" b="1" dirty="0">
                <a:solidFill>
                  <a:srgbClr val="F7F9FC"/>
                </a:solidFill>
              </a:rPr>
              <a:t>Medium</a:t>
            </a:r>
            <a:endParaRPr lang="en-US" sz="900" dirty="0"/>
          </a:p>
        </p:txBody>
      </p:sp>
      <p:sp>
        <p:nvSpPr>
          <p:cNvPr id="28" name="Text 26"/>
          <p:cNvSpPr/>
          <p:nvPr/>
        </p:nvSpPr>
        <p:spPr>
          <a:xfrm>
            <a:off x="566928" y="3950208"/>
            <a:ext cx="7040880" cy="274320"/>
          </a:xfrm>
          <a:prstGeom prst="rect">
            <a:avLst/>
          </a:prstGeom>
          <a:noFill/>
          <a:ln/>
        </p:spPr>
        <p:txBody>
          <a:bodyPr wrap="square" rtlCol="0" anchor="ctr"/>
          <a:lstStyle/>
          <a:p>
            <a:pPr indent="0" marL="0">
              <a:buNone/>
            </a:pPr>
            <a:r>
              <a:rPr lang="en-US" sz="1200" b="1" dirty="0">
                <a:solidFill>
                  <a:srgbClr val="1E2761"/>
                </a:solidFill>
              </a:rPr>
              <a:t>STM Performance Fatigue</a:t>
            </a:r>
            <a:endParaRPr lang="en-US" sz="1200" dirty="0"/>
          </a:p>
        </p:txBody>
      </p:sp>
      <p:sp>
        <p:nvSpPr>
          <p:cNvPr id="29" name="Text 27"/>
          <p:cNvSpPr/>
          <p:nvPr/>
        </p:nvSpPr>
        <p:spPr>
          <a:xfrm>
            <a:off x="566928" y="4279392"/>
            <a:ext cx="8229600" cy="347472"/>
          </a:xfrm>
          <a:prstGeom prst="rect">
            <a:avLst/>
          </a:prstGeom>
          <a:noFill/>
          <a:ln/>
        </p:spPr>
        <p:txBody>
          <a:bodyPr wrap="square" rtlCol="0" anchor="ctr"/>
          <a:lstStyle/>
          <a:p>
            <a:pPr indent="0" marL="0">
              <a:buNone/>
            </a:pPr>
            <a:r>
              <a:rPr lang="en-US" sz="1100" dirty="0">
                <a:solidFill>
                  <a:srgbClr val="334155"/>
                </a:solidFill>
              </a:rPr>
              <a:t>If Instagram-story performance (Agent 31/Rani's '7am natural light kaya toast' scenario) becomes dominant visual language, PTM perceives brand as captured by performative consumers, undermining 'quietly proud' positioning.</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E8B04B"/>
          </a:solidFill>
          <a:ln w="12700">
            <a:solidFill>
              <a:srgbClr val="E8B04B"/>
            </a:solidFill>
            <a:prstDash val="solid"/>
          </a:ln>
        </p:spPr>
      </p:sp>
      <p:sp>
        <p:nvSpPr>
          <p:cNvPr id="3" name="Text 1"/>
          <p:cNvSpPr/>
          <p:nvPr/>
        </p:nvSpPr>
        <p:spPr>
          <a:xfrm>
            <a:off x="411480" y="1005840"/>
            <a:ext cx="8321040" cy="960120"/>
          </a:xfrm>
          <a:prstGeom prst="rect">
            <a:avLst/>
          </a:prstGeom>
          <a:noFill/>
          <a:ln/>
        </p:spPr>
        <p:txBody>
          <a:bodyPr wrap="square" rtlCol="0" anchor="ctr"/>
          <a:lstStyle/>
          <a:p>
            <a:pPr algn="ctr" indent="0" marL="0">
              <a:buNone/>
            </a:pPr>
            <a:r>
              <a:rPr lang="en-US" sz="5200" b="1" dirty="0">
                <a:solidFill>
                  <a:srgbClr val="F7F9FC"/>
                </a:solidFill>
                <a:latin typeface="Calibri" pitchFamily="34" charset="0"/>
                <a:ea typeface="Calibri" pitchFamily="34" charset="-122"/>
                <a:cs typeface="Calibri" pitchFamily="34" charset="-120"/>
              </a:rPr>
              <a:t>PANTHEON™</a:t>
            </a:r>
            <a:endParaRPr lang="en-US" sz="5200" dirty="0"/>
          </a:p>
        </p:txBody>
      </p:sp>
      <p:sp>
        <p:nvSpPr>
          <p:cNvPr id="4" name="Shape 2"/>
          <p:cNvSpPr/>
          <p:nvPr/>
        </p:nvSpPr>
        <p:spPr>
          <a:xfrm>
            <a:off x="2834640" y="2057400"/>
            <a:ext cx="3474720" cy="41148"/>
          </a:xfrm>
          <a:prstGeom prst="rect">
            <a:avLst/>
          </a:prstGeom>
          <a:solidFill>
            <a:srgbClr val="E8B04B"/>
          </a:solidFill>
          <a:ln w="12700">
            <a:solidFill>
              <a:srgbClr val="E8B04B"/>
            </a:solidFill>
            <a:prstDash val="solid"/>
          </a:ln>
        </p:spPr>
      </p:sp>
      <p:sp>
        <p:nvSpPr>
          <p:cNvPr id="5" name="Text 3"/>
          <p:cNvSpPr/>
          <p:nvPr/>
        </p:nvSpPr>
        <p:spPr>
          <a:xfrm>
            <a:off x="411480" y="2176272"/>
            <a:ext cx="8321040" cy="402336"/>
          </a:xfrm>
          <a:prstGeom prst="rect">
            <a:avLst/>
          </a:prstGeom>
          <a:noFill/>
          <a:ln/>
        </p:spPr>
        <p:txBody>
          <a:bodyPr wrap="square" rtlCol="0" anchor="ctr"/>
          <a:lstStyle/>
          <a:p>
            <a:pPr algn="ctr" indent="0" marL="0">
              <a:buNone/>
            </a:pPr>
            <a:r>
              <a:rPr lang="en-US" sz="1400" i="1" dirty="0">
                <a:solidFill>
                  <a:srgbClr val="CADCFC"/>
                </a:solidFill>
              </a:rPr>
              <a:t>Synthetic Focus Group Research Engine</a:t>
            </a:r>
            <a:endParaRPr lang="en-US" sz="1400" dirty="0"/>
          </a:p>
        </p:txBody>
      </p:sp>
      <p:sp>
        <p:nvSpPr>
          <p:cNvPr id="6" name="Text 4"/>
          <p:cNvSpPr/>
          <p:nvPr/>
        </p:nvSpPr>
        <p:spPr>
          <a:xfrm>
            <a:off x="411480" y="2697480"/>
            <a:ext cx="8321040" cy="320040"/>
          </a:xfrm>
          <a:prstGeom prst="rect">
            <a:avLst/>
          </a:prstGeom>
          <a:noFill/>
          <a:ln/>
        </p:spPr>
        <p:txBody>
          <a:bodyPr wrap="square" rtlCol="0" anchor="ctr"/>
          <a:lstStyle/>
          <a:p>
            <a:pPr algn="ctr" indent="0" marL="0">
              <a:buNone/>
            </a:pPr>
            <a:r>
              <a:rPr lang="en-US" sz="1100" dirty="0">
                <a:solidFill>
                  <a:srgbClr val="8896A8"/>
                </a:solidFill>
              </a:rPr>
              <a:t>Powered by Anthropic Claude · Modal Serverless · Supabase</a:t>
            </a:r>
            <a:endParaRPr lang="en-US" sz="1100" dirty="0"/>
          </a:p>
        </p:txBody>
      </p:sp>
      <p:sp>
        <p:nvSpPr>
          <p:cNvPr id="7" name="Text 5"/>
          <p:cNvSpPr/>
          <p:nvPr/>
        </p:nvSpPr>
        <p:spPr>
          <a:xfrm>
            <a:off x="1097280" y="4160520"/>
            <a:ext cx="6949440" cy="658368"/>
          </a:xfrm>
          <a:prstGeom prst="rect">
            <a:avLst/>
          </a:prstGeom>
          <a:noFill/>
          <a:ln/>
        </p:spPr>
        <p:txBody>
          <a:bodyPr wrap="square" rtlCol="0" anchor="ctr"/>
          <a:lstStyle/>
          <a:p>
            <a:pPr algn="ctr" indent="0" marL="0">
              <a:buNone/>
            </a:pPr>
            <a:r>
              <a:rPr lang="en-US" sz="900" i="1" dirty="0">
                <a:solidFill>
                  <a:srgbClr val="8896A8"/>
                </a:solidFill>
              </a:rPr>
              <a:t>This report was generated using synthetic focus group simulation. All respondents are AI-synthesized personas. Results are for strategic guidance only.</a:t>
            </a:r>
            <a:endParaRPr lang="en-US" sz="900" dirty="0"/>
          </a:p>
        </p:txBody>
      </p:sp>
      <p:sp>
        <p:nvSpPr>
          <p:cNvPr id="8" name="Text 6"/>
          <p:cNvSpPr/>
          <p:nvPr/>
        </p:nvSpPr>
        <p:spPr>
          <a:xfrm>
            <a:off x="6583680" y="4681728"/>
            <a:ext cx="2377440" cy="274320"/>
          </a:xfrm>
          <a:prstGeom prst="rect">
            <a:avLst/>
          </a:prstGeom>
          <a:noFill/>
          <a:ln/>
        </p:spPr>
        <p:txBody>
          <a:bodyPr wrap="square" rtlCol="0" anchor="ctr"/>
          <a:lstStyle/>
          <a:p>
            <a:pPr algn="r" indent="0" marL="0">
              <a:buNone/>
            </a:pPr>
            <a:r>
              <a:rPr lang="en-US" sz="1000" dirty="0">
                <a:solidFill>
                  <a:srgbClr val="8896A8"/>
                </a:solidFill>
              </a:rPr>
              <a:t>March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Ya Kun Kaya Toast Medan: Heritage Recognition Strategy</dc:title>
  <dc:subject>PptxGenJS Presentation</dc:subject>
  <dc:creator>PANTHEON</dc:creator>
  <cp:lastModifiedBy>PANTHEON</cp:lastModifiedBy>
  <cp:revision>1</cp:revision>
  <dcterms:created xsi:type="dcterms:W3CDTF">2026-03-06T11:09:34Z</dcterms:created>
  <dcterms:modified xsi:type="dcterms:W3CDTF">2026-03-06T11:09:34Z</dcterms:modified>
</cp:coreProperties>
</file>