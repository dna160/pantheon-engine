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E8B04B"/>
          </a:solidFill>
          <a:ln w="12700">
            <a:solidFill>
              <a:srgbClr val="E8B04B"/>
            </a:solidFill>
            <a:prstDash val="solid"/>
          </a:ln>
        </p:spPr>
      </p:sp>
      <p:sp>
        <p:nvSpPr>
          <p:cNvPr id="3" name="Text 1"/>
          <p:cNvSpPr/>
          <p:nvPr/>
        </p:nvSpPr>
        <p:spPr>
          <a:xfrm>
            <a:off x="6400800" y="201168"/>
            <a:ext cx="2560320" cy="347472"/>
          </a:xfrm>
          <a:prstGeom prst="rect">
            <a:avLst/>
          </a:prstGeom>
          <a:noFill/>
          <a:ln/>
        </p:spPr>
        <p:txBody>
          <a:bodyPr wrap="square" rtlCol="0" anchor="ctr"/>
          <a:lstStyle/>
          <a:p>
            <a:pPr algn="r" indent="0" marL="0">
              <a:buNone/>
            </a:pPr>
            <a:r>
              <a:rPr lang="en-US" sz="1100" b="1" dirty="0">
                <a:solidFill>
                  <a:srgbClr val="E8B04B"/>
                </a:solidFill>
                <a:latin typeface="Calibri" pitchFamily="34" charset="0"/>
                <a:ea typeface="Calibri" pitchFamily="34" charset="-122"/>
                <a:cs typeface="Calibri" pitchFamily="34" charset="-120"/>
              </a:rPr>
              <a:t>PANTHEON™</a:t>
            </a:r>
            <a:endParaRPr lang="en-US" sz="1100" dirty="0"/>
          </a:p>
        </p:txBody>
      </p:sp>
      <p:sp>
        <p:nvSpPr>
          <p:cNvPr id="4" name="Text 2"/>
          <p:cNvSpPr/>
          <p:nvPr/>
        </p:nvSpPr>
        <p:spPr>
          <a:xfrm>
            <a:off x="411480" y="914400"/>
            <a:ext cx="8503920" cy="1417320"/>
          </a:xfrm>
          <a:prstGeom prst="rect">
            <a:avLst/>
          </a:prstGeom>
          <a:noFill/>
          <a:ln/>
        </p:spPr>
        <p:txBody>
          <a:bodyPr wrap="square" rtlCol="0" anchor="ctr"/>
          <a:lstStyle/>
          <a:p>
            <a:pPr indent="0" marL="0">
              <a:buNone/>
            </a:pPr>
            <a:r>
              <a:rPr lang="en-US" sz="3600" b="1" dirty="0">
                <a:solidFill>
                  <a:srgbClr val="F7F9FC"/>
                </a:solidFill>
                <a:latin typeface="Calibri" pitchFamily="34" charset="0"/>
                <a:ea typeface="Calibri" pitchFamily="34" charset="-122"/>
                <a:cs typeface="Calibri" pitchFamily="34" charset="-120"/>
              </a:rPr>
              <a:t>WARISAN Campaign: Karya Photo Legacy Positioning Insights</a:t>
            </a:r>
            <a:endParaRPr lang="en-US" sz="3600" dirty="0"/>
          </a:p>
        </p:txBody>
      </p:sp>
      <p:sp>
        <p:nvSpPr>
          <p:cNvPr id="5" name="Shape 3"/>
          <p:cNvSpPr/>
          <p:nvPr/>
        </p:nvSpPr>
        <p:spPr>
          <a:xfrm>
            <a:off x="411480" y="2487168"/>
            <a:ext cx="2560320" cy="41148"/>
          </a:xfrm>
          <a:prstGeom prst="rect">
            <a:avLst/>
          </a:prstGeom>
          <a:solidFill>
            <a:srgbClr val="E8B04B"/>
          </a:solidFill>
          <a:ln w="12700">
            <a:solidFill>
              <a:srgbClr val="E8B04B"/>
            </a:solidFill>
            <a:prstDash val="solid"/>
          </a:ln>
        </p:spPr>
      </p:sp>
      <p:sp>
        <p:nvSpPr>
          <p:cNvPr id="6" name="Text 4"/>
          <p:cNvSpPr/>
          <p:nvPr/>
        </p:nvSpPr>
        <p:spPr>
          <a:xfrm>
            <a:off x="411480" y="2624328"/>
            <a:ext cx="8412480" cy="713232"/>
          </a:xfrm>
          <a:prstGeom prst="rect">
            <a:avLst/>
          </a:prstGeom>
          <a:noFill/>
          <a:ln/>
        </p:spPr>
        <p:txBody>
          <a:bodyPr wrap="square" rtlCol="0" anchor="t"/>
          <a:lstStyle/>
          <a:p>
            <a:pPr indent="0" marL="0">
              <a:buNone/>
            </a:pPr>
            <a:r>
              <a:rPr lang="en-US" sz="1500" i="1" dirty="0">
                <a:solidFill>
                  <a:srgbClr val="CADCFC"/>
                </a:solidFill>
                <a:latin typeface="Calibri" pitchFamily="34" charset="0"/>
                <a:ea typeface="Calibri" pitchFamily="34" charset="-122"/>
                <a:cs typeface="Calibri" pitchFamily="34" charset="-120"/>
              </a:rPr>
              <a:t>Establish Karya as the authoritative studio for legacy wedding photography, shifting purchase decisions from aesthetic trends to reputational necessity.</a:t>
            </a:r>
            <a:endParaRPr lang="en-US" sz="1500" dirty="0"/>
          </a:p>
        </p:txBody>
      </p:sp>
      <p:sp>
        <p:nvSpPr>
          <p:cNvPr id="7" name="Text 5"/>
          <p:cNvSpPr/>
          <p:nvPr/>
        </p:nvSpPr>
        <p:spPr>
          <a:xfrm>
            <a:off x="411480" y="3456432"/>
            <a:ext cx="7772400" cy="320040"/>
          </a:xfrm>
          <a:prstGeom prst="rect">
            <a:avLst/>
          </a:prstGeom>
          <a:noFill/>
          <a:ln/>
        </p:spPr>
        <p:txBody>
          <a:bodyPr wrap="square" rtlCol="0" anchor="ctr"/>
          <a:lstStyle/>
          <a:p>
            <a:pPr indent="0" marL="0">
              <a:buNone/>
            </a:pPr>
            <a:r>
              <a:rPr lang="en-US" sz="1100" dirty="0">
                <a:solidFill>
                  <a:srgbClr val="8896A8"/>
                </a:solidFill>
              </a:rPr>
              <a:t>Target Demographic: Medanese Upper Middle Class, 25-45</a:t>
            </a:r>
            <a:endParaRPr lang="en-US" sz="1100" dirty="0"/>
          </a:p>
        </p:txBody>
      </p:sp>
      <p:sp>
        <p:nvSpPr>
          <p:cNvPr id="8" name="Text 6"/>
          <p:cNvSpPr/>
          <p:nvPr/>
        </p:nvSpPr>
        <p:spPr>
          <a:xfrm>
            <a:off x="6583680" y="4681728"/>
            <a:ext cx="2377440" cy="274320"/>
          </a:xfrm>
          <a:prstGeom prst="rect">
            <a:avLst/>
          </a:prstGeom>
          <a:noFill/>
          <a:ln/>
        </p:spPr>
        <p:txBody>
          <a:bodyPr wrap="square" rtlCol="0" anchor="ctr"/>
          <a:lstStyle/>
          <a:p>
            <a:pPr algn="r" indent="0" marL="0">
              <a:buNone/>
            </a:pPr>
            <a:r>
              <a:rPr lang="en-US" sz="1000" dirty="0">
                <a:solidFill>
                  <a:srgbClr val="8896A8"/>
                </a:solidFill>
              </a:rPr>
              <a:t>March 2026</a:t>
            </a:r>
            <a:endParaRPr lang="en-US" sz="1000" dirty="0"/>
          </a:p>
        </p:txBody>
      </p:sp>
      <p:sp>
        <p:nvSpPr>
          <p:cNvPr id="9" name="Text 7"/>
          <p:cNvSpPr/>
          <p:nvPr/>
        </p:nvSpPr>
        <p:spPr>
          <a:xfrm>
            <a:off x="411480" y="4681728"/>
            <a:ext cx="4572000" cy="274320"/>
          </a:xfrm>
          <a:prstGeom prst="rect">
            <a:avLst/>
          </a:prstGeom>
          <a:noFill/>
          <a:ln/>
        </p:spPr>
        <p:txBody>
          <a:bodyPr wrap="square" rtlCol="0" anchor="ctr"/>
          <a:lstStyle/>
          <a:p>
            <a:pPr indent="0" marL="0">
              <a:buNone/>
            </a:pPr>
            <a:r>
              <a:rPr lang="en-US" sz="1000" dirty="0">
                <a:solidFill>
                  <a:srgbClr val="8896A8"/>
                </a:solidFill>
              </a:rPr>
              <a:t>Synthetic Focus Group Research</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Executive Summary</a:t>
            </a:r>
            <a:endParaRPr lang="en-US" sz="2200" dirty="0"/>
          </a:p>
        </p:txBody>
      </p:sp>
      <p:sp>
        <p:nvSpPr>
          <p:cNvPr id="5" name="Text 3"/>
          <p:cNvSpPr/>
          <p:nvPr/>
        </p:nvSpPr>
        <p:spPr>
          <a:xfrm>
            <a:off x="411480" y="749808"/>
            <a:ext cx="8503920" cy="384048"/>
          </a:xfrm>
          <a:prstGeom prst="rect">
            <a:avLst/>
          </a:prstGeom>
          <a:noFill/>
          <a:ln/>
        </p:spPr>
        <p:txBody>
          <a:bodyPr wrap="square" rtlCol="0" anchor="ctr"/>
          <a:lstStyle/>
          <a:p>
            <a:pPr indent="0" marL="0">
              <a:buNone/>
            </a:pPr>
            <a:r>
              <a:rPr lang="en-US" sz="1500" b="1" i="1" dirty="0">
                <a:solidFill>
                  <a:srgbClr val="1E2761"/>
                </a:solidFill>
                <a:latin typeface="Calibri" pitchFamily="34" charset="0"/>
                <a:ea typeface="Calibri" pitchFamily="34" charset="-122"/>
                <a:cs typeface="Calibri" pitchFamily="34" charset="-120"/>
              </a:rPr>
              <a:t>The campaign sells compliance, not photography—targeting audiences terrified they haven't built anything worth inheriting</a:t>
            </a:r>
            <a:endParaRPr lang="en-US" sz="1500" dirty="0"/>
          </a:p>
        </p:txBody>
      </p:sp>
      <p:sp>
        <p:nvSpPr>
          <p:cNvPr id="6" name="Shape 4"/>
          <p:cNvSpPr/>
          <p:nvPr/>
        </p:nvSpPr>
        <p:spPr>
          <a:xfrm>
            <a:off x="411480" y="1298448"/>
            <a:ext cx="54864" cy="365760"/>
          </a:xfrm>
          <a:prstGeom prst="rect">
            <a:avLst/>
          </a:prstGeom>
          <a:solidFill>
            <a:srgbClr val="E8B04B"/>
          </a:solidFill>
          <a:ln w="12700">
            <a:solidFill>
              <a:srgbClr val="E8B04B"/>
            </a:solidFill>
            <a:prstDash val="solid"/>
          </a:ln>
        </p:spPr>
      </p:sp>
      <p:sp>
        <p:nvSpPr>
          <p:cNvPr id="7" name="Text 5"/>
          <p:cNvSpPr/>
          <p:nvPr/>
        </p:nvSpPr>
        <p:spPr>
          <a:xfrm>
            <a:off x="566928" y="1261872"/>
            <a:ext cx="8229600" cy="512064"/>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The actual Primary Target Market is legacy-anxious parents (42-44), not brides—purchasing preventative immortality and psychological reassurance through photography.</a:t>
            </a:r>
            <a:endParaRPr lang="en-US" sz="1300" dirty="0"/>
          </a:p>
        </p:txBody>
      </p:sp>
      <p:sp>
        <p:nvSpPr>
          <p:cNvPr id="8" name="Shape 6"/>
          <p:cNvSpPr/>
          <p:nvPr/>
        </p:nvSpPr>
        <p:spPr>
          <a:xfrm>
            <a:off x="411480" y="1984248"/>
            <a:ext cx="54864" cy="365760"/>
          </a:xfrm>
          <a:prstGeom prst="rect">
            <a:avLst/>
          </a:prstGeom>
          <a:solidFill>
            <a:srgbClr val="E8B04B"/>
          </a:solidFill>
          <a:ln w="12700">
            <a:solidFill>
              <a:srgbClr val="E8B04B"/>
            </a:solidFill>
            <a:prstDash val="solid"/>
          </a:ln>
        </p:spPr>
      </p:sp>
      <p:sp>
        <p:nvSpPr>
          <p:cNvPr id="9" name="Text 7"/>
          <p:cNvSpPr/>
          <p:nvPr/>
        </p:nvSpPr>
        <p:spPr>
          <a:xfrm>
            <a:off x="566928" y="1947672"/>
            <a:ext cx="8229600" cy="512064"/>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Secondary receptive segment: professionally successful brides (27-31) exhausted by performing modernity, seeking intellectually defensible surrender to family expectations.</a:t>
            </a:r>
            <a:endParaRPr lang="en-US" sz="1300" dirty="0"/>
          </a:p>
        </p:txBody>
      </p:sp>
      <p:sp>
        <p:nvSpPr>
          <p:cNvPr id="10" name="Shape 8"/>
          <p:cNvSpPr/>
          <p:nvPr/>
        </p:nvSpPr>
        <p:spPr>
          <a:xfrm>
            <a:off x="411480" y="2670048"/>
            <a:ext cx="54864" cy="365760"/>
          </a:xfrm>
          <a:prstGeom prst="rect">
            <a:avLst/>
          </a:prstGeom>
          <a:solidFill>
            <a:srgbClr val="E8B04B"/>
          </a:solidFill>
          <a:ln w="12700">
            <a:solidFill>
              <a:srgbClr val="E8B04B"/>
            </a:solidFill>
            <a:prstDash val="solid"/>
          </a:ln>
        </p:spPr>
      </p:sp>
      <p:sp>
        <p:nvSpPr>
          <p:cNvPr id="11" name="Text 9"/>
          <p:cNvSpPr/>
          <p:nvPr/>
        </p:nvSpPr>
        <p:spPr>
          <a:xfrm>
            <a:off x="566928" y="2633472"/>
            <a:ext cx="8229600" cy="512064"/>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Campaign exploits a 40-year archival white space competitors cannot claim, positioning photography as heirloom artifacts in Medan's face/adat culture.</a:t>
            </a:r>
            <a:endParaRPr lang="en-US" sz="1300" dirty="0"/>
          </a:p>
        </p:txBody>
      </p:sp>
      <p:sp>
        <p:nvSpPr>
          <p:cNvPr id="12" name="Shape 10"/>
          <p:cNvSpPr/>
          <p:nvPr/>
        </p:nvSpPr>
        <p:spPr>
          <a:xfrm>
            <a:off x="411480" y="3355848"/>
            <a:ext cx="54864" cy="365760"/>
          </a:xfrm>
          <a:prstGeom prst="rect">
            <a:avLst/>
          </a:prstGeom>
          <a:solidFill>
            <a:srgbClr val="E8B04B"/>
          </a:solidFill>
          <a:ln w="12700">
            <a:solidFill>
              <a:srgbClr val="E8B04B"/>
            </a:solidFill>
            <a:prstDash val="solid"/>
          </a:ln>
        </p:spPr>
      </p:sp>
      <p:sp>
        <p:nvSpPr>
          <p:cNvPr id="13" name="Text 11"/>
          <p:cNvSpPr/>
          <p:nvPr/>
        </p:nvSpPr>
        <p:spPr>
          <a:xfrm>
            <a:off x="566928" y="3319272"/>
            <a:ext cx="8229600" cy="512064"/>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Critical fracture line: 42-44 cohort views parental authority as natural order; 27-31 cohort sees it as negotiation, creating resistance despite recognition.</a:t>
            </a:r>
            <a:endParaRPr lang="en-US" sz="1300" dirty="0"/>
          </a:p>
        </p:txBody>
      </p:sp>
      <p:sp>
        <p:nvSpPr>
          <p:cNvPr id="14" name="Shape 12"/>
          <p:cNvSpPr/>
          <p:nvPr/>
        </p:nvSpPr>
        <p:spPr>
          <a:xfrm>
            <a:off x="411480" y="4041648"/>
            <a:ext cx="54864" cy="365760"/>
          </a:xfrm>
          <a:prstGeom prst="rect">
            <a:avLst/>
          </a:prstGeom>
          <a:solidFill>
            <a:srgbClr val="E8B04B"/>
          </a:solidFill>
          <a:ln w="12700">
            <a:solidFill>
              <a:srgbClr val="E8B04B"/>
            </a:solidFill>
            <a:prstDash val="solid"/>
          </a:ln>
        </p:spPr>
      </p:sp>
      <p:sp>
        <p:nvSpPr>
          <p:cNvPr id="15" name="Text 13"/>
          <p:cNvSpPr/>
          <p:nvPr/>
        </p:nvSpPr>
        <p:spPr>
          <a:xfrm>
            <a:off x="566928" y="4005072"/>
            <a:ext cx="8229600" cy="512064"/>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Three-month Instagram campaign sequences psychological journey from awe (institution-building) to longing (couple seduction) to belonging (family affirmation).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Agenda</a:t>
            </a:r>
            <a:endParaRPr lang="en-US" sz="2200" dirty="0"/>
          </a:p>
        </p:txBody>
      </p:sp>
      <p:sp>
        <p:nvSpPr>
          <p:cNvPr id="5" name="Shape 3"/>
          <p:cNvSpPr/>
          <p:nvPr/>
        </p:nvSpPr>
        <p:spPr>
          <a:xfrm>
            <a:off x="411480" y="859536"/>
            <a:ext cx="310896" cy="310896"/>
          </a:xfrm>
          <a:prstGeom prst="rect">
            <a:avLst/>
          </a:prstGeom>
          <a:solidFill>
            <a:srgbClr val="E8B04B"/>
          </a:solidFill>
          <a:ln w="12700">
            <a:solidFill>
              <a:srgbClr val="E8B04B"/>
            </a:solidFill>
            <a:prstDash val="solid"/>
          </a:ln>
        </p:spPr>
      </p:sp>
      <p:sp>
        <p:nvSpPr>
          <p:cNvPr id="6" name="Text 4"/>
          <p:cNvSpPr/>
          <p:nvPr/>
        </p:nvSpPr>
        <p:spPr>
          <a:xfrm>
            <a:off x="411480" y="859536"/>
            <a:ext cx="310896" cy="310896"/>
          </a:xfrm>
          <a:prstGeom prst="rect">
            <a:avLst/>
          </a:prstGeom>
          <a:noFill/>
          <a:ln/>
        </p:spPr>
        <p:txBody>
          <a:bodyPr wrap="square" lIns="0" tIns="0" rIns="0" bIns="0" rtlCol="0" anchor="ctr"/>
          <a:lstStyle/>
          <a:p>
            <a:pPr algn="ctr" indent="0" marL="0">
              <a:buNone/>
            </a:pPr>
            <a:r>
              <a:rPr lang="en-US" sz="1200" b="1" dirty="0">
                <a:solidFill>
                  <a:srgbClr val="F7F9FC"/>
                </a:solidFill>
              </a:rPr>
              <a:t>1</a:t>
            </a:r>
            <a:endParaRPr lang="en-US" sz="1200" dirty="0"/>
          </a:p>
        </p:txBody>
      </p:sp>
      <p:sp>
        <p:nvSpPr>
          <p:cNvPr id="7" name="Text 5"/>
          <p:cNvSpPr/>
          <p:nvPr/>
        </p:nvSpPr>
        <p:spPr>
          <a:xfrm>
            <a:off x="841248" y="822960"/>
            <a:ext cx="8046720" cy="402336"/>
          </a:xfrm>
          <a:prstGeom prst="rect">
            <a:avLst/>
          </a:prstGeom>
          <a:noFill/>
          <a:ln/>
        </p:spPr>
        <p:txBody>
          <a:bodyPr wrap="square" rtlCol="0" anchor="ctr"/>
          <a:lstStyle/>
          <a:p>
            <a:pPr indent="0" marL="0">
              <a:buNone/>
            </a:pPr>
            <a:r>
              <a:rPr lang="en-US" sz="1400" dirty="0">
                <a:solidFill>
                  <a:srgbClr val="334155"/>
                </a:solidFill>
                <a:latin typeface="Calibri" pitchFamily="34" charset="0"/>
                <a:ea typeface="Calibri" pitchFamily="34" charset="-122"/>
                <a:cs typeface="Calibri" pitchFamily="34" charset="-120"/>
              </a:rPr>
              <a:t>Market &amp; Demographic Context</a:t>
            </a:r>
            <a:endParaRPr lang="en-US" sz="1400" dirty="0"/>
          </a:p>
        </p:txBody>
      </p:sp>
      <p:sp>
        <p:nvSpPr>
          <p:cNvPr id="8" name="Shape 6"/>
          <p:cNvSpPr/>
          <p:nvPr/>
        </p:nvSpPr>
        <p:spPr>
          <a:xfrm>
            <a:off x="411480" y="1517904"/>
            <a:ext cx="310896" cy="310896"/>
          </a:xfrm>
          <a:prstGeom prst="rect">
            <a:avLst/>
          </a:prstGeom>
          <a:solidFill>
            <a:srgbClr val="1E2761"/>
          </a:solidFill>
          <a:ln w="12700">
            <a:solidFill>
              <a:srgbClr val="1E2761"/>
            </a:solidFill>
            <a:prstDash val="solid"/>
          </a:ln>
        </p:spPr>
      </p:sp>
      <p:sp>
        <p:nvSpPr>
          <p:cNvPr id="9" name="Text 7"/>
          <p:cNvSpPr/>
          <p:nvPr/>
        </p:nvSpPr>
        <p:spPr>
          <a:xfrm>
            <a:off x="411480" y="1517904"/>
            <a:ext cx="310896" cy="310896"/>
          </a:xfrm>
          <a:prstGeom prst="rect">
            <a:avLst/>
          </a:prstGeom>
          <a:noFill/>
          <a:ln/>
        </p:spPr>
        <p:txBody>
          <a:bodyPr wrap="square" lIns="0" tIns="0" rIns="0" bIns="0" rtlCol="0" anchor="ctr"/>
          <a:lstStyle/>
          <a:p>
            <a:pPr algn="ctr" indent="0" marL="0">
              <a:buNone/>
            </a:pPr>
            <a:r>
              <a:rPr lang="en-US" sz="1200" b="1" dirty="0">
                <a:solidFill>
                  <a:srgbClr val="F7F9FC"/>
                </a:solidFill>
              </a:rPr>
              <a:t>2</a:t>
            </a:r>
            <a:endParaRPr lang="en-US" sz="1200" dirty="0"/>
          </a:p>
        </p:txBody>
      </p:sp>
      <p:sp>
        <p:nvSpPr>
          <p:cNvPr id="10" name="Text 8"/>
          <p:cNvSpPr/>
          <p:nvPr/>
        </p:nvSpPr>
        <p:spPr>
          <a:xfrm>
            <a:off x="841248" y="1481328"/>
            <a:ext cx="8046720" cy="402336"/>
          </a:xfrm>
          <a:prstGeom prst="rect">
            <a:avLst/>
          </a:prstGeom>
          <a:noFill/>
          <a:ln/>
        </p:spPr>
        <p:txBody>
          <a:bodyPr wrap="square" rtlCol="0" anchor="ctr"/>
          <a:lstStyle/>
          <a:p>
            <a:pPr indent="0" marL="0">
              <a:buNone/>
            </a:pPr>
            <a:r>
              <a:rPr lang="en-US" sz="1400" dirty="0">
                <a:solidFill>
                  <a:srgbClr val="334155"/>
                </a:solidFill>
                <a:latin typeface="Calibri" pitchFamily="34" charset="0"/>
                <a:ea typeface="Calibri" pitchFamily="34" charset="-122"/>
                <a:cs typeface="Calibri" pitchFamily="34" charset="-120"/>
              </a:rPr>
              <a:t>Audience Psychology &amp; Deep-Dive</a:t>
            </a:r>
            <a:endParaRPr lang="en-US" sz="1400" dirty="0"/>
          </a:p>
        </p:txBody>
      </p:sp>
      <p:sp>
        <p:nvSpPr>
          <p:cNvPr id="11" name="Shape 9"/>
          <p:cNvSpPr/>
          <p:nvPr/>
        </p:nvSpPr>
        <p:spPr>
          <a:xfrm>
            <a:off x="411480" y="2176272"/>
            <a:ext cx="310896" cy="310896"/>
          </a:xfrm>
          <a:prstGeom prst="rect">
            <a:avLst/>
          </a:prstGeom>
          <a:solidFill>
            <a:srgbClr val="E8B04B"/>
          </a:solidFill>
          <a:ln w="12700">
            <a:solidFill>
              <a:srgbClr val="E8B04B"/>
            </a:solidFill>
            <a:prstDash val="solid"/>
          </a:ln>
        </p:spPr>
      </p:sp>
      <p:sp>
        <p:nvSpPr>
          <p:cNvPr id="12" name="Text 10"/>
          <p:cNvSpPr/>
          <p:nvPr/>
        </p:nvSpPr>
        <p:spPr>
          <a:xfrm>
            <a:off x="411480" y="2176272"/>
            <a:ext cx="310896" cy="310896"/>
          </a:xfrm>
          <a:prstGeom prst="rect">
            <a:avLst/>
          </a:prstGeom>
          <a:noFill/>
          <a:ln/>
        </p:spPr>
        <p:txBody>
          <a:bodyPr wrap="square" lIns="0" tIns="0" rIns="0" bIns="0" rtlCol="0" anchor="ctr"/>
          <a:lstStyle/>
          <a:p>
            <a:pPr algn="ctr" indent="0" marL="0">
              <a:buNone/>
            </a:pPr>
            <a:r>
              <a:rPr lang="en-US" sz="1200" b="1" dirty="0">
                <a:solidFill>
                  <a:srgbClr val="F7F9FC"/>
                </a:solidFill>
              </a:rPr>
              <a:t>3</a:t>
            </a:r>
            <a:endParaRPr lang="en-US" sz="1200" dirty="0"/>
          </a:p>
        </p:txBody>
      </p:sp>
      <p:sp>
        <p:nvSpPr>
          <p:cNvPr id="13" name="Text 11"/>
          <p:cNvSpPr/>
          <p:nvPr/>
        </p:nvSpPr>
        <p:spPr>
          <a:xfrm>
            <a:off x="841248" y="2139696"/>
            <a:ext cx="8046720" cy="402336"/>
          </a:xfrm>
          <a:prstGeom prst="rect">
            <a:avLst/>
          </a:prstGeom>
          <a:noFill/>
          <a:ln/>
        </p:spPr>
        <p:txBody>
          <a:bodyPr wrap="square" rtlCol="0" anchor="ctr"/>
          <a:lstStyle/>
          <a:p>
            <a:pPr indent="0" marL="0">
              <a:buNone/>
            </a:pPr>
            <a:r>
              <a:rPr lang="en-US" sz="1400" dirty="0">
                <a:solidFill>
                  <a:srgbClr val="334155"/>
                </a:solidFill>
                <a:latin typeface="Calibri" pitchFamily="34" charset="0"/>
                <a:ea typeface="Calibri" pitchFamily="34" charset="-122"/>
                <a:cs typeface="Calibri" pitchFamily="34" charset="-120"/>
              </a:rPr>
              <a:t>Consumer Response Analysis</a:t>
            </a:r>
            <a:endParaRPr lang="en-US" sz="1400" dirty="0"/>
          </a:p>
        </p:txBody>
      </p:sp>
      <p:sp>
        <p:nvSpPr>
          <p:cNvPr id="14" name="Shape 12"/>
          <p:cNvSpPr/>
          <p:nvPr/>
        </p:nvSpPr>
        <p:spPr>
          <a:xfrm>
            <a:off x="411480" y="2834640"/>
            <a:ext cx="310896" cy="310896"/>
          </a:xfrm>
          <a:prstGeom prst="rect">
            <a:avLst/>
          </a:prstGeom>
          <a:solidFill>
            <a:srgbClr val="1E2761"/>
          </a:solidFill>
          <a:ln w="12700">
            <a:solidFill>
              <a:srgbClr val="1E2761"/>
            </a:solidFill>
            <a:prstDash val="solid"/>
          </a:ln>
        </p:spPr>
      </p:sp>
      <p:sp>
        <p:nvSpPr>
          <p:cNvPr id="15" name="Text 13"/>
          <p:cNvSpPr/>
          <p:nvPr/>
        </p:nvSpPr>
        <p:spPr>
          <a:xfrm>
            <a:off x="411480" y="2834640"/>
            <a:ext cx="310896" cy="310896"/>
          </a:xfrm>
          <a:prstGeom prst="rect">
            <a:avLst/>
          </a:prstGeom>
          <a:noFill/>
          <a:ln/>
        </p:spPr>
        <p:txBody>
          <a:bodyPr wrap="square" lIns="0" tIns="0" rIns="0" bIns="0" rtlCol="0" anchor="ctr"/>
          <a:lstStyle/>
          <a:p>
            <a:pPr algn="ctr" indent="0" marL="0">
              <a:buNone/>
            </a:pPr>
            <a:r>
              <a:rPr lang="en-US" sz="1200" b="1" dirty="0">
                <a:solidFill>
                  <a:srgbClr val="F7F9FC"/>
                </a:solidFill>
              </a:rPr>
              <a:t>4</a:t>
            </a:r>
            <a:endParaRPr lang="en-US" sz="1200" dirty="0"/>
          </a:p>
        </p:txBody>
      </p:sp>
      <p:sp>
        <p:nvSpPr>
          <p:cNvPr id="16" name="Text 14"/>
          <p:cNvSpPr/>
          <p:nvPr/>
        </p:nvSpPr>
        <p:spPr>
          <a:xfrm>
            <a:off x="841248" y="2798064"/>
            <a:ext cx="8046720" cy="402336"/>
          </a:xfrm>
          <a:prstGeom prst="rect">
            <a:avLst/>
          </a:prstGeom>
          <a:noFill/>
          <a:ln/>
        </p:spPr>
        <p:txBody>
          <a:bodyPr wrap="square" rtlCol="0" anchor="ctr"/>
          <a:lstStyle/>
          <a:p>
            <a:pPr indent="0" marL="0">
              <a:buNone/>
            </a:pPr>
            <a:r>
              <a:rPr lang="en-US" sz="1400" dirty="0">
                <a:solidFill>
                  <a:srgbClr val="334155"/>
                </a:solidFill>
                <a:latin typeface="Calibri" pitchFamily="34" charset="0"/>
                <a:ea typeface="Calibri" pitchFamily="34" charset="-122"/>
                <a:cs typeface="Calibri" pitchFamily="34" charset="-120"/>
              </a:rPr>
              <a:t>Key Insights &amp; Patterns</a:t>
            </a:r>
            <a:endParaRPr lang="en-US" sz="1400" dirty="0"/>
          </a:p>
        </p:txBody>
      </p:sp>
      <p:sp>
        <p:nvSpPr>
          <p:cNvPr id="17" name="Shape 15"/>
          <p:cNvSpPr/>
          <p:nvPr/>
        </p:nvSpPr>
        <p:spPr>
          <a:xfrm>
            <a:off x="411480" y="3493008"/>
            <a:ext cx="310896" cy="310896"/>
          </a:xfrm>
          <a:prstGeom prst="rect">
            <a:avLst/>
          </a:prstGeom>
          <a:solidFill>
            <a:srgbClr val="E8B04B"/>
          </a:solidFill>
          <a:ln w="12700">
            <a:solidFill>
              <a:srgbClr val="E8B04B"/>
            </a:solidFill>
            <a:prstDash val="solid"/>
          </a:ln>
        </p:spPr>
      </p:sp>
      <p:sp>
        <p:nvSpPr>
          <p:cNvPr id="18" name="Text 16"/>
          <p:cNvSpPr/>
          <p:nvPr/>
        </p:nvSpPr>
        <p:spPr>
          <a:xfrm>
            <a:off x="411480" y="3493008"/>
            <a:ext cx="310896" cy="310896"/>
          </a:xfrm>
          <a:prstGeom prst="rect">
            <a:avLst/>
          </a:prstGeom>
          <a:noFill/>
          <a:ln/>
        </p:spPr>
        <p:txBody>
          <a:bodyPr wrap="square" lIns="0" tIns="0" rIns="0" bIns="0" rtlCol="0" anchor="ctr"/>
          <a:lstStyle/>
          <a:p>
            <a:pPr algn="ctr" indent="0" marL="0">
              <a:buNone/>
            </a:pPr>
            <a:r>
              <a:rPr lang="en-US" sz="1200" b="1" dirty="0">
                <a:solidFill>
                  <a:srgbClr val="F7F9FC"/>
                </a:solidFill>
              </a:rPr>
              <a:t>5</a:t>
            </a:r>
            <a:endParaRPr lang="en-US" sz="1200" dirty="0"/>
          </a:p>
        </p:txBody>
      </p:sp>
      <p:sp>
        <p:nvSpPr>
          <p:cNvPr id="19" name="Text 17"/>
          <p:cNvSpPr/>
          <p:nvPr/>
        </p:nvSpPr>
        <p:spPr>
          <a:xfrm>
            <a:off x="841248" y="3456432"/>
            <a:ext cx="8046720" cy="402336"/>
          </a:xfrm>
          <a:prstGeom prst="rect">
            <a:avLst/>
          </a:prstGeom>
          <a:noFill/>
          <a:ln/>
        </p:spPr>
        <p:txBody>
          <a:bodyPr wrap="square" rtlCol="0" anchor="ctr"/>
          <a:lstStyle/>
          <a:p>
            <a:pPr indent="0" marL="0">
              <a:buNone/>
            </a:pPr>
            <a:r>
              <a:rPr lang="en-US" sz="1400" dirty="0">
                <a:solidFill>
                  <a:srgbClr val="334155"/>
                </a:solidFill>
                <a:latin typeface="Calibri" pitchFamily="34" charset="0"/>
                <a:ea typeface="Calibri" pitchFamily="34" charset="-122"/>
                <a:cs typeface="Calibri" pitchFamily="34" charset="-120"/>
              </a:rPr>
              <a:t>Strategic Recommendations</a:t>
            </a:r>
            <a:endParaRPr lang="en-US" sz="1400" dirty="0"/>
          </a:p>
        </p:txBody>
      </p:sp>
      <p:sp>
        <p:nvSpPr>
          <p:cNvPr id="20" name="Shape 18"/>
          <p:cNvSpPr/>
          <p:nvPr/>
        </p:nvSpPr>
        <p:spPr>
          <a:xfrm>
            <a:off x="411480" y="4151376"/>
            <a:ext cx="310896" cy="310896"/>
          </a:xfrm>
          <a:prstGeom prst="rect">
            <a:avLst/>
          </a:prstGeom>
          <a:solidFill>
            <a:srgbClr val="1E2761"/>
          </a:solidFill>
          <a:ln w="12700">
            <a:solidFill>
              <a:srgbClr val="1E2761"/>
            </a:solidFill>
            <a:prstDash val="solid"/>
          </a:ln>
        </p:spPr>
      </p:sp>
      <p:sp>
        <p:nvSpPr>
          <p:cNvPr id="21" name="Text 19"/>
          <p:cNvSpPr/>
          <p:nvPr/>
        </p:nvSpPr>
        <p:spPr>
          <a:xfrm>
            <a:off x="411480" y="4151376"/>
            <a:ext cx="310896" cy="310896"/>
          </a:xfrm>
          <a:prstGeom prst="rect">
            <a:avLst/>
          </a:prstGeom>
          <a:noFill/>
          <a:ln/>
        </p:spPr>
        <p:txBody>
          <a:bodyPr wrap="square" lIns="0" tIns="0" rIns="0" bIns="0" rtlCol="0" anchor="ctr"/>
          <a:lstStyle/>
          <a:p>
            <a:pPr algn="ctr" indent="0" marL="0">
              <a:buNone/>
            </a:pPr>
            <a:r>
              <a:rPr lang="en-US" sz="1200" b="1" dirty="0">
                <a:solidFill>
                  <a:srgbClr val="F7F9FC"/>
                </a:solidFill>
              </a:rPr>
              <a:t>6</a:t>
            </a:r>
            <a:endParaRPr lang="en-US" sz="1200" dirty="0"/>
          </a:p>
        </p:txBody>
      </p:sp>
      <p:sp>
        <p:nvSpPr>
          <p:cNvPr id="22" name="Text 20"/>
          <p:cNvSpPr/>
          <p:nvPr/>
        </p:nvSpPr>
        <p:spPr>
          <a:xfrm>
            <a:off x="841248" y="4114800"/>
            <a:ext cx="8046720" cy="402336"/>
          </a:xfrm>
          <a:prstGeom prst="rect">
            <a:avLst/>
          </a:prstGeom>
          <a:noFill/>
          <a:ln/>
        </p:spPr>
        <p:txBody>
          <a:bodyPr wrap="square" rtlCol="0" anchor="ctr"/>
          <a:lstStyle/>
          <a:p>
            <a:pPr indent="0" marL="0">
              <a:buNone/>
            </a:pPr>
            <a:r>
              <a:rPr lang="en-US" sz="1400" dirty="0">
                <a:solidFill>
                  <a:srgbClr val="334155"/>
                </a:solidFill>
                <a:latin typeface="Calibri" pitchFamily="34" charset="0"/>
                <a:ea typeface="Calibri" pitchFamily="34" charset="-122"/>
                <a:cs typeface="Calibri" pitchFamily="34" charset="-120"/>
              </a:rPr>
              <a:t>Risk Assessment &amp; Kill Switch Signals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Market &amp; Demographic Context</a:t>
            </a:r>
            <a:endParaRPr lang="en-US" sz="2200" dirty="0"/>
          </a:p>
        </p:txBody>
      </p:sp>
      <p:sp>
        <p:nvSpPr>
          <p:cNvPr id="5" name="Text 3"/>
          <p:cNvSpPr/>
          <p:nvPr/>
        </p:nvSpPr>
        <p:spPr>
          <a:xfrm>
            <a:off x="411480" y="749808"/>
            <a:ext cx="8503920" cy="365760"/>
          </a:xfrm>
          <a:prstGeom prst="rect">
            <a:avLst/>
          </a:prstGeom>
          <a:noFill/>
          <a:ln/>
        </p:spPr>
        <p:txBody>
          <a:bodyPr wrap="square" rtlCol="0" anchor="ctr"/>
          <a:lstStyle/>
          <a:p>
            <a:pPr indent="0" marL="0">
              <a:buNone/>
            </a:pPr>
            <a:r>
              <a:rPr lang="en-US" sz="1500" b="1" i="1" dirty="0">
                <a:solidFill>
                  <a:srgbClr val="1E2761"/>
                </a:solidFill>
              </a:rPr>
              <a:t>Owning the dignity of time in Medan's wedding photography market</a:t>
            </a:r>
            <a:endParaRPr lang="en-US" sz="1500" dirty="0"/>
          </a:p>
        </p:txBody>
      </p:sp>
      <p:sp>
        <p:nvSpPr>
          <p:cNvPr id="6" name="Shape 4"/>
          <p:cNvSpPr/>
          <p:nvPr/>
        </p:nvSpPr>
        <p:spPr>
          <a:xfrm>
            <a:off x="411480" y="1234440"/>
            <a:ext cx="2670048" cy="1261872"/>
          </a:xfrm>
          <a:prstGeom prst="rect">
            <a:avLst/>
          </a:prstGeom>
          <a:solidFill>
            <a:srgbClr val="1E2761"/>
          </a:solidFill>
          <a:ln w="12700">
            <a:solidFill>
              <a:srgbClr val="1E2761"/>
            </a:solidFill>
            <a:prstDash val="solid"/>
          </a:ln>
        </p:spPr>
      </p:sp>
      <p:sp>
        <p:nvSpPr>
          <p:cNvPr id="7" name="Text 5"/>
          <p:cNvSpPr/>
          <p:nvPr/>
        </p:nvSpPr>
        <p:spPr>
          <a:xfrm>
            <a:off x="502920" y="1261872"/>
            <a:ext cx="2487168" cy="1207008"/>
          </a:xfrm>
          <a:prstGeom prst="rect">
            <a:avLst/>
          </a:prstGeom>
          <a:noFill/>
          <a:ln/>
        </p:spPr>
        <p:txBody>
          <a:bodyPr wrap="square"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40 years of continuous operation and generational trust, creating archival authority new studios cannot credibly claim</a:t>
            </a:r>
            <a:endParaRPr lang="en-US" sz="1300" dirty="0"/>
          </a:p>
        </p:txBody>
      </p:sp>
      <p:sp>
        <p:nvSpPr>
          <p:cNvPr id="8" name="Shape 6"/>
          <p:cNvSpPr/>
          <p:nvPr/>
        </p:nvSpPr>
        <p:spPr>
          <a:xfrm>
            <a:off x="3264408" y="1234440"/>
            <a:ext cx="2670048" cy="1261872"/>
          </a:xfrm>
          <a:prstGeom prst="rect">
            <a:avLst/>
          </a:prstGeom>
          <a:solidFill>
            <a:srgbClr val="1E2761"/>
          </a:solidFill>
          <a:ln w="12700">
            <a:solidFill>
              <a:srgbClr val="1E2761"/>
            </a:solidFill>
            <a:prstDash val="solid"/>
          </a:ln>
        </p:spPr>
      </p:sp>
      <p:sp>
        <p:nvSpPr>
          <p:cNvPr id="9" name="Text 7"/>
          <p:cNvSpPr/>
          <p:nvPr/>
        </p:nvSpPr>
        <p:spPr>
          <a:xfrm>
            <a:off x="3355848" y="1261872"/>
            <a:ext cx="2487168" cy="1207008"/>
          </a:xfrm>
          <a:prstGeom prst="rect">
            <a:avLst/>
          </a:prstGeom>
          <a:noFill/>
          <a:ln/>
        </p:spPr>
        <p:txBody>
          <a:bodyPr wrap="square"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In Medan culture (Batak, Chinese-Medan, Malay), the photograph is the wedding itself—a permanent reputational artifact for mianzi (face) and adat (ceremony)</a:t>
            </a:r>
            <a:endParaRPr lang="en-US" sz="1300" dirty="0"/>
          </a:p>
        </p:txBody>
      </p:sp>
      <p:sp>
        <p:nvSpPr>
          <p:cNvPr id="10" name="Shape 8"/>
          <p:cNvSpPr/>
          <p:nvPr/>
        </p:nvSpPr>
        <p:spPr>
          <a:xfrm>
            <a:off x="6117336" y="1234440"/>
            <a:ext cx="2670048" cy="1261872"/>
          </a:xfrm>
          <a:prstGeom prst="rect">
            <a:avLst/>
          </a:prstGeom>
          <a:solidFill>
            <a:srgbClr val="1E2761"/>
          </a:solidFill>
          <a:ln w="12700">
            <a:solidFill>
              <a:srgbClr val="1E2761"/>
            </a:solidFill>
            <a:prstDash val="solid"/>
          </a:ln>
        </p:spPr>
      </p:sp>
      <p:sp>
        <p:nvSpPr>
          <p:cNvPr id="11" name="Text 9"/>
          <p:cNvSpPr/>
          <p:nvPr/>
        </p:nvSpPr>
        <p:spPr>
          <a:xfrm>
            <a:off x="6208776" y="1261872"/>
            <a:ext cx="2487168" cy="1207008"/>
          </a:xfrm>
          <a:prstGeom prst="rect">
            <a:avLst/>
          </a:prstGeom>
          <a:noFill/>
          <a:ln/>
        </p:spPr>
        <p:txBody>
          <a:bodyPr wrap="square"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Competitors racing toward ephemeral trends (modern, fresh, candid), leaving archival permanence as defensible white space</a:t>
            </a:r>
            <a:endParaRPr lang="en-US" sz="1300" dirty="0"/>
          </a:p>
        </p:txBody>
      </p:sp>
      <p:sp>
        <p:nvSpPr>
          <p:cNvPr id="12" name="Text 10"/>
          <p:cNvSpPr/>
          <p:nvPr/>
        </p:nvSpPr>
        <p:spPr>
          <a:xfrm>
            <a:off x="411480" y="2651760"/>
            <a:ext cx="8503920" cy="2240280"/>
          </a:xfrm>
          <a:prstGeom prst="rect">
            <a:avLst/>
          </a:prstGeom>
          <a:noFill/>
          <a:ln/>
        </p:spPr>
        <p:txBody>
          <a:bodyPr wrap="square" rtlCol="0" anchor="t"/>
          <a:lstStyle/>
          <a:p>
            <a:pPr indent="0" marL="0">
              <a:buNone/>
            </a:pPr>
            <a:r>
              <a:rPr lang="en-US" sz="1200" dirty="0">
                <a:solidFill>
                  <a:srgbClr val="334155"/>
                </a:solidFill>
                <a:latin typeface="Calibri" pitchFamily="34" charset="0"/>
                <a:ea typeface="Calibri" pitchFamily="34" charset="-122"/>
                <a:cs typeface="Calibri" pitchFamily="34" charset="-120"/>
              </a:rPr>
              <a:t>Karya Photo operates in Medan's premium wedding photography category where photographs function as permanent social status artifacts, not documentation. While competitors chase trendy aesthetics, Karya owns the archival authority space through decades of generational trust and masterful chiaroscuro lighting that positions wedding photography as inheritance, not consumption.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Audience Psychology &amp; Deep-Dive</a:t>
            </a:r>
            <a:endParaRPr lang="en-US" sz="2200" dirty="0"/>
          </a:p>
        </p:txBody>
      </p:sp>
      <p:sp>
        <p:nvSpPr>
          <p:cNvPr id="5" name="Text 3"/>
          <p:cNvSpPr/>
          <p:nvPr/>
        </p:nvSpPr>
        <p:spPr>
          <a:xfrm>
            <a:off x="411480" y="749808"/>
            <a:ext cx="8503920" cy="365760"/>
          </a:xfrm>
          <a:prstGeom prst="rect">
            <a:avLst/>
          </a:prstGeom>
          <a:noFill/>
          <a:ln/>
        </p:spPr>
        <p:txBody>
          <a:bodyPr wrap="square" rtlCol="0" anchor="ctr"/>
          <a:lstStyle/>
          <a:p>
            <a:pPr indent="0" marL="0">
              <a:buNone/>
            </a:pPr>
            <a:r>
              <a:rPr lang="en-US" sz="1500" b="1" i="1" dirty="0">
                <a:solidFill>
                  <a:srgbClr val="1E2761"/>
                </a:solidFill>
              </a:rPr>
              <a:t>Two distinct audiences: Legacy-anxious parents and dignity-seeking professional brides</a:t>
            </a:r>
            <a:endParaRPr lang="en-US" sz="1500" dirty="0"/>
          </a:p>
        </p:txBody>
      </p:sp>
      <p:sp>
        <p:nvSpPr>
          <p:cNvPr id="6" name="Shape 4"/>
          <p:cNvSpPr/>
          <p:nvPr/>
        </p:nvSpPr>
        <p:spPr>
          <a:xfrm>
            <a:off x="411480" y="1234440"/>
            <a:ext cx="4069080" cy="3639312"/>
          </a:xfrm>
          <a:prstGeom prst="rect">
            <a:avLst/>
          </a:prstGeom>
          <a:solidFill>
            <a:srgbClr val="F0F4F8"/>
          </a:solidFill>
          <a:ln w="12700">
            <a:solidFill>
              <a:srgbClr val="E2E8F0"/>
            </a:solidFill>
            <a:prstDash val="solid"/>
          </a:ln>
        </p:spPr>
      </p:sp>
      <p:sp>
        <p:nvSpPr>
          <p:cNvPr id="7" name="Shape 5"/>
          <p:cNvSpPr/>
          <p:nvPr/>
        </p:nvSpPr>
        <p:spPr>
          <a:xfrm>
            <a:off x="411480" y="1234440"/>
            <a:ext cx="4069080" cy="292608"/>
          </a:xfrm>
          <a:prstGeom prst="rect">
            <a:avLst/>
          </a:prstGeom>
          <a:solidFill>
            <a:srgbClr val="1E2761"/>
          </a:solidFill>
          <a:ln w="12700">
            <a:solidFill>
              <a:srgbClr val="1E2761"/>
            </a:solidFill>
            <a:prstDash val="solid"/>
          </a:ln>
        </p:spPr>
      </p:sp>
      <p:sp>
        <p:nvSpPr>
          <p:cNvPr id="8" name="Text 6"/>
          <p:cNvSpPr/>
          <p:nvPr/>
        </p:nvSpPr>
        <p:spPr>
          <a:xfrm>
            <a:off x="484632" y="1234440"/>
            <a:ext cx="3922776" cy="292608"/>
          </a:xfrm>
          <a:prstGeom prst="rect">
            <a:avLst/>
          </a:prstGeom>
          <a:noFill/>
          <a:ln/>
        </p:spPr>
        <p:txBody>
          <a:bodyPr wrap="square" lIns="0" tIns="0" rIns="0" bIns="0" rtlCol="0" anchor="ctr"/>
          <a:lstStyle/>
          <a:p>
            <a:pPr indent="0" marL="0">
              <a:buNone/>
            </a:pPr>
            <a:r>
              <a:rPr lang="en-US" sz="1100" b="1" dirty="0">
                <a:solidFill>
                  <a:srgbClr val="F7F9FC"/>
                </a:solidFill>
              </a:rPr>
              <a:t>The Legacy-Anxious Parent</a:t>
            </a:r>
            <a:endParaRPr lang="en-US" sz="1100" dirty="0"/>
          </a:p>
        </p:txBody>
      </p:sp>
      <p:sp>
        <p:nvSpPr>
          <p:cNvPr id="9" name="Text 7"/>
          <p:cNvSpPr/>
          <p:nvPr/>
        </p:nvSpPr>
        <p:spPr>
          <a:xfrm>
            <a:off x="484632" y="1609344"/>
            <a:ext cx="3922776" cy="274320"/>
          </a:xfrm>
          <a:prstGeom prst="rect">
            <a:avLst/>
          </a:prstGeom>
          <a:noFill/>
          <a:ln/>
        </p:spPr>
        <p:txBody>
          <a:bodyPr wrap="square" rtlCol="0" anchor="ctr"/>
          <a:lstStyle/>
          <a:p>
            <a:pPr indent="0" marL="0">
              <a:buNone/>
            </a:pPr>
            <a:r>
              <a:rPr lang="en-US" sz="1000" b="1" dirty="0">
                <a:solidFill>
                  <a:srgbClr val="E8B04B"/>
                </a:solidFill>
              </a:rPr>
              <a:t>Age: 42-44</a:t>
            </a:r>
            <a:endParaRPr lang="en-US" sz="1000" dirty="0"/>
          </a:p>
        </p:txBody>
      </p:sp>
      <p:sp>
        <p:nvSpPr>
          <p:cNvPr id="10" name="Text 8"/>
          <p:cNvSpPr/>
          <p:nvPr/>
        </p:nvSpPr>
        <p:spPr>
          <a:xfrm>
            <a:off x="484632" y="1938528"/>
            <a:ext cx="3922776" cy="2834640"/>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Actual Primary Target (70% weight). Parents actively grieving inadequate family photo archives, purchasing preventative immortality. Motivated by specific mortality awareness and fear of being 'forgotten poorly.' Already calculating 25-35 million rupiah investment as legacy artifact, experiencing wealth without tangible inheritance to pass down.</a:t>
            </a:r>
            <a:endParaRPr lang="en-US" sz="1100" dirty="0"/>
          </a:p>
        </p:txBody>
      </p:sp>
      <p:sp>
        <p:nvSpPr>
          <p:cNvPr id="11" name="Shape 9"/>
          <p:cNvSpPr/>
          <p:nvPr/>
        </p:nvSpPr>
        <p:spPr>
          <a:xfrm>
            <a:off x="4572000" y="1234440"/>
            <a:ext cx="4069080" cy="3639312"/>
          </a:xfrm>
          <a:prstGeom prst="rect">
            <a:avLst/>
          </a:prstGeom>
          <a:solidFill>
            <a:srgbClr val="F0F4F8"/>
          </a:solidFill>
          <a:ln w="12700">
            <a:solidFill>
              <a:srgbClr val="E2E8F0"/>
            </a:solidFill>
            <a:prstDash val="solid"/>
          </a:ln>
        </p:spPr>
      </p:sp>
      <p:sp>
        <p:nvSpPr>
          <p:cNvPr id="12" name="Shape 10"/>
          <p:cNvSpPr/>
          <p:nvPr/>
        </p:nvSpPr>
        <p:spPr>
          <a:xfrm>
            <a:off x="4572000" y="1234440"/>
            <a:ext cx="4069080" cy="292608"/>
          </a:xfrm>
          <a:prstGeom prst="rect">
            <a:avLst/>
          </a:prstGeom>
          <a:solidFill>
            <a:srgbClr val="1E2761"/>
          </a:solidFill>
          <a:ln w="12700">
            <a:solidFill>
              <a:srgbClr val="1E2761"/>
            </a:solidFill>
            <a:prstDash val="solid"/>
          </a:ln>
        </p:spPr>
      </p:sp>
      <p:sp>
        <p:nvSpPr>
          <p:cNvPr id="13" name="Text 11"/>
          <p:cNvSpPr/>
          <p:nvPr/>
        </p:nvSpPr>
        <p:spPr>
          <a:xfrm>
            <a:off x="4645152" y="1234440"/>
            <a:ext cx="3922776" cy="292608"/>
          </a:xfrm>
          <a:prstGeom prst="rect">
            <a:avLst/>
          </a:prstGeom>
          <a:noFill/>
          <a:ln/>
        </p:spPr>
        <p:txBody>
          <a:bodyPr wrap="square" lIns="0" tIns="0" rIns="0" bIns="0" rtlCol="0" anchor="ctr"/>
          <a:lstStyle/>
          <a:p>
            <a:pPr indent="0" marL="0">
              <a:buNone/>
            </a:pPr>
            <a:r>
              <a:rPr lang="en-US" sz="1100" b="1" dirty="0">
                <a:solidFill>
                  <a:srgbClr val="F7F9FC"/>
                </a:solidFill>
              </a:rPr>
              <a:t>The Dignity-Seeking Bride</a:t>
            </a:r>
            <a:endParaRPr lang="en-US" sz="1100" dirty="0"/>
          </a:p>
        </p:txBody>
      </p:sp>
      <p:sp>
        <p:nvSpPr>
          <p:cNvPr id="14" name="Text 12"/>
          <p:cNvSpPr/>
          <p:nvPr/>
        </p:nvSpPr>
        <p:spPr>
          <a:xfrm>
            <a:off x="4645152" y="1609344"/>
            <a:ext cx="3922776" cy="274320"/>
          </a:xfrm>
          <a:prstGeom prst="rect">
            <a:avLst/>
          </a:prstGeom>
          <a:noFill/>
          <a:ln/>
        </p:spPr>
        <p:txBody>
          <a:bodyPr wrap="square" rtlCol="0" anchor="ctr"/>
          <a:lstStyle/>
          <a:p>
            <a:pPr indent="0" marL="0">
              <a:buNone/>
            </a:pPr>
            <a:r>
              <a:rPr lang="en-US" sz="1000" b="1" dirty="0">
                <a:solidFill>
                  <a:srgbClr val="E8B04B"/>
                </a:solidFill>
              </a:rPr>
              <a:t>Age: 27-31</a:t>
            </a:r>
            <a:endParaRPr lang="en-US" sz="1000" dirty="0"/>
          </a:p>
        </p:txBody>
      </p:sp>
      <p:sp>
        <p:nvSpPr>
          <p:cNvPr id="15" name="Text 13"/>
          <p:cNvSpPr/>
          <p:nvPr/>
        </p:nvSpPr>
        <p:spPr>
          <a:xfrm>
            <a:off x="4645152" y="1938528"/>
            <a:ext cx="3922776" cy="2834640"/>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Conditional Secondary Target (30% weight). Professionally successful women exhausted by performing modernity on Instagram, seeking intellectually defensible way to honor family expectations. Dual consciousness between cosmopolitan public persona and private desire to end negotiation. Campaign allows surrender without losing face by reframing capitulation as sophistication.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Consumer Response Analysis</a:t>
            </a:r>
            <a:endParaRPr lang="en-US" sz="2200" dirty="0"/>
          </a:p>
        </p:txBody>
      </p:sp>
      <p:sp>
        <p:nvSpPr>
          <p:cNvPr id="5" name="Text 3"/>
          <p:cNvSpPr/>
          <p:nvPr/>
        </p:nvSpPr>
        <p:spPr>
          <a:xfrm>
            <a:off x="411480" y="749808"/>
            <a:ext cx="8503920" cy="365760"/>
          </a:xfrm>
          <a:prstGeom prst="rect">
            <a:avLst/>
          </a:prstGeom>
          <a:noFill/>
          <a:ln/>
        </p:spPr>
        <p:txBody>
          <a:bodyPr wrap="square" rtlCol="0" anchor="ctr"/>
          <a:lstStyle/>
          <a:p>
            <a:pPr indent="0" marL="0">
              <a:buNone/>
            </a:pPr>
            <a:r>
              <a:rPr lang="en-US" sz="1500" b="1" i="1" dirty="0">
                <a:solidFill>
                  <a:srgbClr val="1E2761"/>
                </a:solidFill>
              </a:rPr>
              <a:t>High receptivity among legacy-anxious segment, strategic resistance among autonomous brides</a:t>
            </a:r>
            <a:endParaRPr lang="en-US" sz="1500" dirty="0"/>
          </a:p>
        </p:txBody>
      </p:sp>
      <p:sp>
        <p:nvSpPr>
          <p:cNvPr id="6" name="Shape 4"/>
          <p:cNvSpPr/>
          <p:nvPr/>
        </p:nvSpPr>
        <p:spPr>
          <a:xfrm>
            <a:off x="411480" y="1234440"/>
            <a:ext cx="8503920" cy="795528"/>
          </a:xfrm>
          <a:prstGeom prst="rect">
            <a:avLst/>
          </a:prstGeom>
          <a:solidFill>
            <a:srgbClr val="F8FAFC"/>
          </a:solidFill>
          <a:ln w="12700">
            <a:solidFill>
              <a:srgbClr val="E2E8F0"/>
            </a:solidFill>
            <a:prstDash val="solid"/>
          </a:ln>
        </p:spPr>
      </p:sp>
      <p:sp>
        <p:nvSpPr>
          <p:cNvPr id="7" name="Shape 5"/>
          <p:cNvSpPr/>
          <p:nvPr/>
        </p:nvSpPr>
        <p:spPr>
          <a:xfrm>
            <a:off x="411480" y="1234440"/>
            <a:ext cx="54864" cy="795528"/>
          </a:xfrm>
          <a:prstGeom prst="rect">
            <a:avLst/>
          </a:prstGeom>
          <a:solidFill>
            <a:srgbClr val="E8B04B"/>
          </a:solidFill>
          <a:ln w="12700">
            <a:solidFill>
              <a:srgbClr val="E8B04B"/>
            </a:solidFill>
            <a:prstDash val="solid"/>
          </a:ln>
        </p:spPr>
      </p:sp>
      <p:sp>
        <p:nvSpPr>
          <p:cNvPr id="8" name="Text 6"/>
          <p:cNvSpPr/>
          <p:nvPr/>
        </p:nvSpPr>
        <p:spPr>
          <a:xfrm>
            <a:off x="566928" y="1289304"/>
            <a:ext cx="1645920" cy="292608"/>
          </a:xfrm>
          <a:prstGeom prst="rect">
            <a:avLst/>
          </a:prstGeom>
          <a:noFill/>
          <a:ln/>
        </p:spPr>
        <p:txBody>
          <a:bodyPr wrap="square" rtlCol="0" anchor="ctr"/>
          <a:lstStyle/>
          <a:p>
            <a:pPr indent="0" marL="0">
              <a:buNone/>
            </a:pPr>
            <a:r>
              <a:rPr lang="en-US" sz="1000" b="1" dirty="0">
                <a:solidFill>
                  <a:srgbClr val="8896A8"/>
                </a:solidFill>
              </a:rPr>
              <a:t>Intent Signal: Legacy Parents</a:t>
            </a:r>
            <a:endParaRPr lang="en-US" sz="1000" dirty="0"/>
          </a:p>
        </p:txBody>
      </p:sp>
      <p:sp>
        <p:nvSpPr>
          <p:cNvPr id="9" name="Text 7"/>
          <p:cNvSpPr/>
          <p:nvPr/>
        </p:nvSpPr>
        <p:spPr>
          <a:xfrm>
            <a:off x="2331720" y="1271016"/>
            <a:ext cx="1097280" cy="347472"/>
          </a:xfrm>
          <a:prstGeom prst="rect">
            <a:avLst/>
          </a:prstGeom>
          <a:noFill/>
          <a:ln/>
        </p:spPr>
        <p:txBody>
          <a:bodyPr wrap="square" rtlCol="0" anchor="ctr"/>
          <a:lstStyle/>
          <a:p>
            <a:pPr algn="ctr" indent="0" marL="0">
              <a:buNone/>
            </a:pPr>
            <a:r>
              <a:rPr lang="en-US" sz="1800" b="1" dirty="0">
                <a:solidFill>
                  <a:srgbClr val="1E2761"/>
                </a:solidFill>
              </a:rPr>
              <a:t>8-10/10</a:t>
            </a:r>
            <a:endParaRPr lang="en-US" sz="1800" dirty="0"/>
          </a:p>
        </p:txBody>
      </p:sp>
      <p:sp>
        <p:nvSpPr>
          <p:cNvPr id="10" name="Text 8"/>
          <p:cNvSpPr/>
          <p:nvPr/>
        </p:nvSpPr>
        <p:spPr>
          <a:xfrm>
            <a:off x="566928" y="1636776"/>
            <a:ext cx="8138160" cy="329184"/>
          </a:xfrm>
          <a:prstGeom prst="rect">
            <a:avLst/>
          </a:prstGeom>
          <a:noFill/>
          <a:ln/>
        </p:spPr>
        <p:txBody>
          <a:bodyPr wrap="square" rtlCol="0" anchor="ctr"/>
          <a:lstStyle/>
          <a:p>
            <a:pPr indent="0" marL="0">
              <a:buNone/>
            </a:pPr>
            <a:r>
              <a:rPr lang="en-US" sz="1100" dirty="0">
                <a:solidFill>
                  <a:srgbClr val="334155"/>
                </a:solidFill>
              </a:rPr>
              <a:t>Marcus (42) pre-justifying 25-35 million spend as family investment; Darmanto (44) experiencing pre-emptive anxiety for daughter's wedding a decade away.</a:t>
            </a:r>
            <a:endParaRPr lang="en-US" sz="1100" dirty="0"/>
          </a:p>
        </p:txBody>
      </p:sp>
      <p:sp>
        <p:nvSpPr>
          <p:cNvPr id="11" name="Shape 9"/>
          <p:cNvSpPr/>
          <p:nvPr/>
        </p:nvSpPr>
        <p:spPr>
          <a:xfrm>
            <a:off x="411480" y="2121408"/>
            <a:ext cx="8503920" cy="795528"/>
          </a:xfrm>
          <a:prstGeom prst="rect">
            <a:avLst/>
          </a:prstGeom>
          <a:solidFill>
            <a:srgbClr val="F8FAFC"/>
          </a:solidFill>
          <a:ln w="12700">
            <a:solidFill>
              <a:srgbClr val="E2E8F0"/>
            </a:solidFill>
            <a:prstDash val="solid"/>
          </a:ln>
        </p:spPr>
      </p:sp>
      <p:sp>
        <p:nvSpPr>
          <p:cNvPr id="12" name="Shape 10"/>
          <p:cNvSpPr/>
          <p:nvPr/>
        </p:nvSpPr>
        <p:spPr>
          <a:xfrm>
            <a:off x="411480" y="2121408"/>
            <a:ext cx="54864" cy="795528"/>
          </a:xfrm>
          <a:prstGeom prst="rect">
            <a:avLst/>
          </a:prstGeom>
          <a:solidFill>
            <a:srgbClr val="E8B04B"/>
          </a:solidFill>
          <a:ln w="12700">
            <a:solidFill>
              <a:srgbClr val="E8B04B"/>
            </a:solidFill>
            <a:prstDash val="solid"/>
          </a:ln>
        </p:spPr>
      </p:sp>
      <p:sp>
        <p:nvSpPr>
          <p:cNvPr id="13" name="Text 11"/>
          <p:cNvSpPr/>
          <p:nvPr/>
        </p:nvSpPr>
        <p:spPr>
          <a:xfrm>
            <a:off x="566928" y="2176272"/>
            <a:ext cx="1645920" cy="292608"/>
          </a:xfrm>
          <a:prstGeom prst="rect">
            <a:avLst/>
          </a:prstGeom>
          <a:noFill/>
          <a:ln/>
        </p:spPr>
        <p:txBody>
          <a:bodyPr wrap="square" rtlCol="0" anchor="ctr"/>
          <a:lstStyle/>
          <a:p>
            <a:pPr indent="0" marL="0">
              <a:buNone/>
            </a:pPr>
            <a:r>
              <a:rPr lang="en-US" sz="1000" b="1" dirty="0">
                <a:solidFill>
                  <a:srgbClr val="8896A8"/>
                </a:solidFill>
              </a:rPr>
              <a:t>Intent Signal: Professional Brides</a:t>
            </a:r>
            <a:endParaRPr lang="en-US" sz="1000" dirty="0"/>
          </a:p>
        </p:txBody>
      </p:sp>
      <p:sp>
        <p:nvSpPr>
          <p:cNvPr id="14" name="Text 12"/>
          <p:cNvSpPr/>
          <p:nvPr/>
        </p:nvSpPr>
        <p:spPr>
          <a:xfrm>
            <a:off x="2331720" y="2157984"/>
            <a:ext cx="1097280" cy="347472"/>
          </a:xfrm>
          <a:prstGeom prst="rect">
            <a:avLst/>
          </a:prstGeom>
          <a:noFill/>
          <a:ln/>
        </p:spPr>
        <p:txBody>
          <a:bodyPr wrap="square" rtlCol="0" anchor="ctr"/>
          <a:lstStyle/>
          <a:p>
            <a:pPr algn="ctr" indent="0" marL="0">
              <a:buNone/>
            </a:pPr>
            <a:r>
              <a:rPr lang="en-US" sz="1800" b="1" dirty="0">
                <a:solidFill>
                  <a:srgbClr val="1E2761"/>
                </a:solidFill>
              </a:rPr>
              <a:t>7-8/10</a:t>
            </a:r>
            <a:endParaRPr lang="en-US" sz="1800" dirty="0"/>
          </a:p>
        </p:txBody>
      </p:sp>
      <p:sp>
        <p:nvSpPr>
          <p:cNvPr id="15" name="Text 13"/>
          <p:cNvSpPr/>
          <p:nvPr/>
        </p:nvSpPr>
        <p:spPr>
          <a:xfrm>
            <a:off x="566928" y="2523744"/>
            <a:ext cx="8138160" cy="329184"/>
          </a:xfrm>
          <a:prstGeom prst="rect">
            <a:avLst/>
          </a:prstGeom>
          <a:noFill/>
          <a:ln/>
        </p:spPr>
        <p:txBody>
          <a:bodyPr wrap="square" rtlCol="0" anchor="ctr"/>
          <a:lstStyle/>
          <a:p>
            <a:pPr indent="0" marL="0">
              <a:buNone/>
            </a:pPr>
            <a:r>
              <a:rPr lang="en-US" sz="1100" dirty="0">
                <a:solidFill>
                  <a:srgbClr val="334155"/>
                </a:solidFill>
              </a:rPr>
              <a:t>Dewi (31) and Natalia (31) showing dual consciousness—recognizing manipulation yet calculating strategic value of ending family negotiation through Karya booking.</a:t>
            </a:r>
            <a:endParaRPr lang="en-US" sz="1100" dirty="0"/>
          </a:p>
        </p:txBody>
      </p:sp>
      <p:sp>
        <p:nvSpPr>
          <p:cNvPr id="16" name="Shape 14"/>
          <p:cNvSpPr/>
          <p:nvPr/>
        </p:nvSpPr>
        <p:spPr>
          <a:xfrm>
            <a:off x="411480" y="3008376"/>
            <a:ext cx="8503920" cy="795528"/>
          </a:xfrm>
          <a:prstGeom prst="rect">
            <a:avLst/>
          </a:prstGeom>
          <a:solidFill>
            <a:srgbClr val="F8FAFC"/>
          </a:solidFill>
          <a:ln w="12700">
            <a:solidFill>
              <a:srgbClr val="E2E8F0"/>
            </a:solidFill>
            <a:prstDash val="solid"/>
          </a:ln>
        </p:spPr>
      </p:sp>
      <p:sp>
        <p:nvSpPr>
          <p:cNvPr id="17" name="Shape 15"/>
          <p:cNvSpPr/>
          <p:nvPr/>
        </p:nvSpPr>
        <p:spPr>
          <a:xfrm>
            <a:off x="411480" y="3008376"/>
            <a:ext cx="54864" cy="795528"/>
          </a:xfrm>
          <a:prstGeom prst="rect">
            <a:avLst/>
          </a:prstGeom>
          <a:solidFill>
            <a:srgbClr val="E8B04B"/>
          </a:solidFill>
          <a:ln w="12700">
            <a:solidFill>
              <a:srgbClr val="E8B04B"/>
            </a:solidFill>
            <a:prstDash val="solid"/>
          </a:ln>
        </p:spPr>
      </p:sp>
      <p:sp>
        <p:nvSpPr>
          <p:cNvPr id="18" name="Text 16"/>
          <p:cNvSpPr/>
          <p:nvPr/>
        </p:nvSpPr>
        <p:spPr>
          <a:xfrm>
            <a:off x="566928" y="3063240"/>
            <a:ext cx="1645920" cy="292608"/>
          </a:xfrm>
          <a:prstGeom prst="rect">
            <a:avLst/>
          </a:prstGeom>
          <a:noFill/>
          <a:ln/>
        </p:spPr>
        <p:txBody>
          <a:bodyPr wrap="square" rtlCol="0" anchor="ctr"/>
          <a:lstStyle/>
          <a:p>
            <a:pPr indent="0" marL="0">
              <a:buNone/>
            </a:pPr>
            <a:r>
              <a:rPr lang="en-US" sz="1000" b="1" dirty="0">
                <a:solidFill>
                  <a:srgbClr val="8896A8"/>
                </a:solidFill>
              </a:rPr>
              <a:t>Resistance Cohort</a:t>
            </a:r>
            <a:endParaRPr lang="en-US" sz="1000" dirty="0"/>
          </a:p>
        </p:txBody>
      </p:sp>
      <p:sp>
        <p:nvSpPr>
          <p:cNvPr id="19" name="Text 17"/>
          <p:cNvSpPr/>
          <p:nvPr/>
        </p:nvSpPr>
        <p:spPr>
          <a:xfrm>
            <a:off x="2331720" y="3044952"/>
            <a:ext cx="1097280" cy="347472"/>
          </a:xfrm>
          <a:prstGeom prst="rect">
            <a:avLst/>
          </a:prstGeom>
          <a:noFill/>
          <a:ln/>
        </p:spPr>
        <p:txBody>
          <a:bodyPr wrap="square" rtlCol="0" anchor="ctr"/>
          <a:lstStyle/>
          <a:p>
            <a:pPr algn="ctr" indent="0" marL="0">
              <a:buNone/>
            </a:pPr>
            <a:r>
              <a:rPr lang="en-US" sz="1800" b="1" dirty="0">
                <a:solidFill>
                  <a:srgbClr val="1E2761"/>
                </a:solidFill>
              </a:rPr>
              <a:t>5-7/10</a:t>
            </a:r>
            <a:endParaRPr lang="en-US" sz="1800" dirty="0"/>
          </a:p>
        </p:txBody>
      </p:sp>
      <p:sp>
        <p:nvSpPr>
          <p:cNvPr id="20" name="Text 18"/>
          <p:cNvSpPr/>
          <p:nvPr/>
        </p:nvSpPr>
        <p:spPr>
          <a:xfrm>
            <a:off x="566928" y="3410712"/>
            <a:ext cx="8138160" cy="329184"/>
          </a:xfrm>
          <a:prstGeom prst="rect">
            <a:avLst/>
          </a:prstGeom>
          <a:noFill/>
          <a:ln/>
        </p:spPr>
        <p:txBody>
          <a:bodyPr wrap="square" rtlCol="0" anchor="ctr"/>
          <a:lstStyle/>
          <a:p>
            <a:pPr indent="0" marL="0">
              <a:buNone/>
            </a:pPr>
            <a:r>
              <a:rPr lang="en-US" sz="1100" dirty="0">
                <a:solidFill>
                  <a:srgbClr val="334155"/>
                </a:solidFill>
              </a:rPr>
              <a:t>Younger professionals (31) with 'glance' not 'save' intent—see psychological mechanism clearly and professional identity built on not being manipulated.</a:t>
            </a:r>
            <a:endParaRPr lang="en-US" sz="1100" dirty="0"/>
          </a:p>
        </p:txBody>
      </p:sp>
      <p:sp>
        <p:nvSpPr>
          <p:cNvPr id="21" name="Shape 19"/>
          <p:cNvSpPr/>
          <p:nvPr/>
        </p:nvSpPr>
        <p:spPr>
          <a:xfrm>
            <a:off x="411480" y="3895344"/>
            <a:ext cx="8503920" cy="795528"/>
          </a:xfrm>
          <a:prstGeom prst="rect">
            <a:avLst/>
          </a:prstGeom>
          <a:solidFill>
            <a:srgbClr val="F8FAFC"/>
          </a:solidFill>
          <a:ln w="12700">
            <a:solidFill>
              <a:srgbClr val="E2E8F0"/>
            </a:solidFill>
            <a:prstDash val="solid"/>
          </a:ln>
        </p:spPr>
      </p:sp>
      <p:sp>
        <p:nvSpPr>
          <p:cNvPr id="22" name="Shape 20"/>
          <p:cNvSpPr/>
          <p:nvPr/>
        </p:nvSpPr>
        <p:spPr>
          <a:xfrm>
            <a:off x="411480" y="3895344"/>
            <a:ext cx="54864" cy="795528"/>
          </a:xfrm>
          <a:prstGeom prst="rect">
            <a:avLst/>
          </a:prstGeom>
          <a:solidFill>
            <a:srgbClr val="E8B04B"/>
          </a:solidFill>
          <a:ln w="12700">
            <a:solidFill>
              <a:srgbClr val="E8B04B"/>
            </a:solidFill>
            <a:prstDash val="solid"/>
          </a:ln>
        </p:spPr>
      </p:sp>
      <p:sp>
        <p:nvSpPr>
          <p:cNvPr id="23" name="Text 21"/>
          <p:cNvSpPr/>
          <p:nvPr/>
        </p:nvSpPr>
        <p:spPr>
          <a:xfrm>
            <a:off x="566928" y="3950208"/>
            <a:ext cx="1645920" cy="292608"/>
          </a:xfrm>
          <a:prstGeom prst="rect">
            <a:avLst/>
          </a:prstGeom>
          <a:noFill/>
          <a:ln/>
        </p:spPr>
        <p:txBody>
          <a:bodyPr wrap="square" rtlCol="0" anchor="ctr"/>
          <a:lstStyle/>
          <a:p>
            <a:pPr indent="0" marL="0">
              <a:buNone/>
            </a:pPr>
            <a:r>
              <a:rPr lang="en-US" sz="1000" b="1" dirty="0">
                <a:solidFill>
                  <a:srgbClr val="8896A8"/>
                </a:solidFill>
              </a:rPr>
              <a:t>Conversion Trigger</a:t>
            </a:r>
            <a:endParaRPr lang="en-US" sz="1000" dirty="0"/>
          </a:p>
        </p:txBody>
      </p:sp>
      <p:sp>
        <p:nvSpPr>
          <p:cNvPr id="24" name="Text 22"/>
          <p:cNvSpPr/>
          <p:nvPr/>
        </p:nvSpPr>
        <p:spPr>
          <a:xfrm>
            <a:off x="2331720" y="3931920"/>
            <a:ext cx="1097280" cy="347472"/>
          </a:xfrm>
          <a:prstGeom prst="rect">
            <a:avLst/>
          </a:prstGeom>
          <a:noFill/>
          <a:ln/>
        </p:spPr>
        <p:txBody>
          <a:bodyPr wrap="square" rtlCol="0" anchor="ctr"/>
          <a:lstStyle/>
          <a:p>
            <a:pPr algn="ctr" indent="0" marL="0">
              <a:buNone/>
            </a:pPr>
            <a:r>
              <a:rPr lang="en-US" sz="1800" b="1" dirty="0">
                <a:solidFill>
                  <a:srgbClr val="1E2761"/>
                </a:solidFill>
              </a:rPr>
              <a:t>High</a:t>
            </a:r>
            <a:endParaRPr lang="en-US" sz="1800" dirty="0"/>
          </a:p>
        </p:txBody>
      </p:sp>
      <p:sp>
        <p:nvSpPr>
          <p:cNvPr id="25" name="Text 23"/>
          <p:cNvSpPr/>
          <p:nvPr/>
        </p:nvSpPr>
        <p:spPr>
          <a:xfrm>
            <a:off x="566928" y="4297680"/>
            <a:ext cx="8138160" cy="329184"/>
          </a:xfrm>
          <a:prstGeom prst="rect">
            <a:avLst/>
          </a:prstGeom>
          <a:noFill/>
          <a:ln/>
        </p:spPr>
        <p:txBody>
          <a:bodyPr wrap="square" rtlCol="0" anchor="ctr"/>
          <a:lstStyle/>
          <a:p>
            <a:pPr indent="0" marL="0">
              <a:buNone/>
            </a:pPr>
            <a:r>
              <a:rPr lang="en-US" sz="1100" dirty="0">
                <a:solidFill>
                  <a:srgbClr val="334155"/>
                </a:solidFill>
              </a:rPr>
              <a:t>Fear of inadequate legacy (parents) and permission to honor family without losing sophistication (brides) drive booking decisions over aesthetic preference.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Key Insights &amp; Patterns</a:t>
            </a:r>
            <a:endParaRPr lang="en-US" sz="2200" dirty="0"/>
          </a:p>
        </p:txBody>
      </p:sp>
      <p:sp>
        <p:nvSpPr>
          <p:cNvPr id="5" name="Text 3"/>
          <p:cNvSpPr/>
          <p:nvPr/>
        </p:nvSpPr>
        <p:spPr>
          <a:xfrm>
            <a:off x="411480" y="749808"/>
            <a:ext cx="8503920" cy="365760"/>
          </a:xfrm>
          <a:prstGeom prst="rect">
            <a:avLst/>
          </a:prstGeom>
          <a:noFill/>
          <a:ln/>
        </p:spPr>
        <p:txBody>
          <a:bodyPr wrap="square" rtlCol="0" anchor="ctr"/>
          <a:lstStyle/>
          <a:p>
            <a:pPr indent="0" marL="0">
              <a:buNone/>
            </a:pPr>
            <a:r>
              <a:rPr lang="en-US" sz="1500" b="1" i="1" dirty="0">
                <a:solidFill>
                  <a:srgbClr val="1E2761"/>
                </a:solidFill>
              </a:rPr>
              <a:t>Strategic insights driving campaign effectiveness</a:t>
            </a:r>
            <a:endParaRPr lang="en-US" sz="1500" dirty="0"/>
          </a:p>
        </p:txBody>
      </p:sp>
      <p:sp>
        <p:nvSpPr>
          <p:cNvPr id="6" name="Shape 4"/>
          <p:cNvSpPr/>
          <p:nvPr/>
        </p:nvSpPr>
        <p:spPr>
          <a:xfrm>
            <a:off x="411480" y="1234440"/>
            <a:ext cx="8503920" cy="795528"/>
          </a:xfrm>
          <a:prstGeom prst="rect">
            <a:avLst/>
          </a:prstGeom>
          <a:solidFill>
            <a:srgbClr val="F8FAFC"/>
          </a:solidFill>
          <a:ln w="12700">
            <a:solidFill>
              <a:srgbClr val="E2E8F0"/>
            </a:solidFill>
            <a:prstDash val="solid"/>
          </a:ln>
        </p:spPr>
      </p:sp>
      <p:sp>
        <p:nvSpPr>
          <p:cNvPr id="7" name="Shape 5"/>
          <p:cNvSpPr/>
          <p:nvPr/>
        </p:nvSpPr>
        <p:spPr>
          <a:xfrm>
            <a:off x="411480" y="1234440"/>
            <a:ext cx="54864" cy="795528"/>
          </a:xfrm>
          <a:prstGeom prst="rect">
            <a:avLst/>
          </a:prstGeom>
          <a:solidFill>
            <a:srgbClr val="E8B04B"/>
          </a:solidFill>
          <a:ln w="12700">
            <a:solidFill>
              <a:srgbClr val="E8B04B"/>
            </a:solidFill>
            <a:prstDash val="solid"/>
          </a:ln>
        </p:spPr>
      </p:sp>
      <p:sp>
        <p:nvSpPr>
          <p:cNvPr id="8" name="Text 6"/>
          <p:cNvSpPr/>
          <p:nvPr/>
        </p:nvSpPr>
        <p:spPr>
          <a:xfrm>
            <a:off x="566928" y="1289304"/>
            <a:ext cx="8229600" cy="274320"/>
          </a:xfrm>
          <a:prstGeom prst="rect">
            <a:avLst/>
          </a:prstGeom>
          <a:noFill/>
          <a:ln/>
        </p:spPr>
        <p:txBody>
          <a:bodyPr wrap="square" rtlCol="0" anchor="ctr"/>
          <a:lstStyle/>
          <a:p>
            <a:pPr indent="0" marL="0">
              <a:buNone/>
            </a:pPr>
            <a:r>
              <a:rPr lang="en-US" sz="1200" b="1" dirty="0">
                <a:solidFill>
                  <a:srgbClr val="1E2761"/>
                </a:solidFill>
              </a:rPr>
              <a:t>Campaign exploits inheritance anxiety</a:t>
            </a:r>
            <a:endParaRPr lang="en-US" sz="1200" dirty="0"/>
          </a:p>
        </p:txBody>
      </p:sp>
      <p:sp>
        <p:nvSpPr>
          <p:cNvPr id="9" name="Text 7"/>
          <p:cNvSpPr/>
          <p:nvPr/>
        </p:nvSpPr>
        <p:spPr>
          <a:xfrm>
            <a:off x="566928" y="1609344"/>
            <a:ext cx="8229600" cy="365760"/>
          </a:xfrm>
          <a:prstGeom prst="rect">
            <a:avLst/>
          </a:prstGeom>
          <a:noFill/>
          <a:ln/>
        </p:spPr>
        <p:txBody>
          <a:bodyPr wrap="square" rtlCol="0" anchor="ctr"/>
          <a:lstStyle/>
          <a:p>
            <a:pPr indent="0" marL="0">
              <a:buNone/>
            </a:pPr>
            <a:r>
              <a:rPr lang="en-US" sz="1100" dirty="0">
                <a:solidFill>
                  <a:srgbClr val="334155"/>
                </a:solidFill>
              </a:rPr>
              <a:t>The receptive audience isn't buying photography—they're purchasing compliance and legacy insurance. Parents aged 42-44 with specific mortality awareness and wealth guilt seek redemption through 'dignified' spending on archival artifacts.</a:t>
            </a:r>
            <a:endParaRPr lang="en-US" sz="1100" dirty="0"/>
          </a:p>
        </p:txBody>
      </p:sp>
      <p:sp>
        <p:nvSpPr>
          <p:cNvPr id="10" name="Shape 8"/>
          <p:cNvSpPr/>
          <p:nvPr/>
        </p:nvSpPr>
        <p:spPr>
          <a:xfrm>
            <a:off x="411480" y="2121408"/>
            <a:ext cx="8503920" cy="795528"/>
          </a:xfrm>
          <a:prstGeom prst="rect">
            <a:avLst/>
          </a:prstGeom>
          <a:solidFill>
            <a:srgbClr val="F8FAFC"/>
          </a:solidFill>
          <a:ln w="12700">
            <a:solidFill>
              <a:srgbClr val="E2E8F0"/>
            </a:solidFill>
            <a:prstDash val="solid"/>
          </a:ln>
        </p:spPr>
      </p:sp>
      <p:sp>
        <p:nvSpPr>
          <p:cNvPr id="11" name="Shape 9"/>
          <p:cNvSpPr/>
          <p:nvPr/>
        </p:nvSpPr>
        <p:spPr>
          <a:xfrm>
            <a:off x="411480" y="2121408"/>
            <a:ext cx="54864" cy="795528"/>
          </a:xfrm>
          <a:prstGeom prst="rect">
            <a:avLst/>
          </a:prstGeom>
          <a:solidFill>
            <a:srgbClr val="E8B04B"/>
          </a:solidFill>
          <a:ln w="12700">
            <a:solidFill>
              <a:srgbClr val="E8B04B"/>
            </a:solidFill>
            <a:prstDash val="solid"/>
          </a:ln>
        </p:spPr>
      </p:sp>
      <p:sp>
        <p:nvSpPr>
          <p:cNvPr id="12" name="Text 10"/>
          <p:cNvSpPr/>
          <p:nvPr/>
        </p:nvSpPr>
        <p:spPr>
          <a:xfrm>
            <a:off x="566928" y="2176272"/>
            <a:ext cx="8229600" cy="274320"/>
          </a:xfrm>
          <a:prstGeom prst="rect">
            <a:avLst/>
          </a:prstGeom>
          <a:noFill/>
          <a:ln/>
        </p:spPr>
        <p:txBody>
          <a:bodyPr wrap="square" rtlCol="0" anchor="ctr"/>
          <a:lstStyle/>
          <a:p>
            <a:pPr indent="0" marL="0">
              <a:buNone/>
            </a:pPr>
            <a:r>
              <a:rPr lang="en-US" sz="1200" b="1" dirty="0">
                <a:solidFill>
                  <a:srgbClr val="1E2761"/>
                </a:solidFill>
              </a:rPr>
              <a:t>Generational fracture on authority</a:t>
            </a:r>
            <a:endParaRPr lang="en-US" sz="1200" dirty="0"/>
          </a:p>
        </p:txBody>
      </p:sp>
      <p:sp>
        <p:nvSpPr>
          <p:cNvPr id="13" name="Text 11"/>
          <p:cNvSpPr/>
          <p:nvPr/>
        </p:nvSpPr>
        <p:spPr>
          <a:xfrm>
            <a:off x="566928" y="2496312"/>
            <a:ext cx="8229600" cy="365760"/>
          </a:xfrm>
          <a:prstGeom prst="rect">
            <a:avLst/>
          </a:prstGeom>
          <a:noFill/>
          <a:ln/>
        </p:spPr>
        <p:txBody>
          <a:bodyPr wrap="square" rtlCol="0" anchor="ctr"/>
          <a:lstStyle/>
          <a:p>
            <a:pPr indent="0" marL="0">
              <a:buNone/>
            </a:pPr>
            <a:r>
              <a:rPr lang="en-US" sz="1100" dirty="0">
                <a:solidFill>
                  <a:srgbClr val="334155"/>
                </a:solidFill>
              </a:rPr>
              <a:t>Ages 42-44 experience parental authority as natural order and embrace campaign messaging. Ages 27-31 experience it as negotiation, creating resistance despite recognizing strategic value—campaign works by reframing capitulation as intellectual choice.</a:t>
            </a:r>
            <a:endParaRPr lang="en-US" sz="1100" dirty="0"/>
          </a:p>
        </p:txBody>
      </p:sp>
      <p:sp>
        <p:nvSpPr>
          <p:cNvPr id="14" name="Shape 12"/>
          <p:cNvSpPr/>
          <p:nvPr/>
        </p:nvSpPr>
        <p:spPr>
          <a:xfrm>
            <a:off x="411480" y="3008376"/>
            <a:ext cx="8503920" cy="795528"/>
          </a:xfrm>
          <a:prstGeom prst="rect">
            <a:avLst/>
          </a:prstGeom>
          <a:solidFill>
            <a:srgbClr val="F8FAFC"/>
          </a:solidFill>
          <a:ln w="12700">
            <a:solidFill>
              <a:srgbClr val="E2E8F0"/>
            </a:solidFill>
            <a:prstDash val="solid"/>
          </a:ln>
        </p:spPr>
      </p:sp>
      <p:sp>
        <p:nvSpPr>
          <p:cNvPr id="15" name="Shape 13"/>
          <p:cNvSpPr/>
          <p:nvPr/>
        </p:nvSpPr>
        <p:spPr>
          <a:xfrm>
            <a:off x="411480" y="3008376"/>
            <a:ext cx="54864" cy="795528"/>
          </a:xfrm>
          <a:prstGeom prst="rect">
            <a:avLst/>
          </a:prstGeom>
          <a:solidFill>
            <a:srgbClr val="E8B04B"/>
          </a:solidFill>
          <a:ln w="12700">
            <a:solidFill>
              <a:srgbClr val="E8B04B"/>
            </a:solidFill>
            <a:prstDash val="solid"/>
          </a:ln>
        </p:spPr>
      </p:sp>
      <p:sp>
        <p:nvSpPr>
          <p:cNvPr id="16" name="Text 14"/>
          <p:cNvSpPr/>
          <p:nvPr/>
        </p:nvSpPr>
        <p:spPr>
          <a:xfrm>
            <a:off x="566928" y="3063240"/>
            <a:ext cx="8229600" cy="274320"/>
          </a:xfrm>
          <a:prstGeom prst="rect">
            <a:avLst/>
          </a:prstGeom>
          <a:noFill/>
          <a:ln/>
        </p:spPr>
        <p:txBody>
          <a:bodyPr wrap="square" rtlCol="0" anchor="ctr"/>
          <a:lstStyle/>
          <a:p>
            <a:pPr indent="0" marL="0">
              <a:buNone/>
            </a:pPr>
            <a:r>
              <a:rPr lang="en-US" sz="1200" b="1" dirty="0">
                <a:solidFill>
                  <a:srgbClr val="1E2761"/>
                </a:solidFill>
              </a:rPr>
              <a:t>Photography as heirloom, not souvenir</a:t>
            </a:r>
            <a:endParaRPr lang="en-US" sz="1200" dirty="0"/>
          </a:p>
        </p:txBody>
      </p:sp>
      <p:sp>
        <p:nvSpPr>
          <p:cNvPr id="17" name="Text 15"/>
          <p:cNvSpPr/>
          <p:nvPr/>
        </p:nvSpPr>
        <p:spPr>
          <a:xfrm>
            <a:off x="566928" y="3383280"/>
            <a:ext cx="8229600" cy="365760"/>
          </a:xfrm>
          <a:prstGeom prst="rect">
            <a:avLst/>
          </a:prstGeom>
          <a:noFill/>
          <a:ln/>
        </p:spPr>
        <p:txBody>
          <a:bodyPr wrap="square" rtlCol="0" anchor="ctr"/>
          <a:lstStyle/>
          <a:p>
            <a:pPr indent="0" marL="0">
              <a:buNone/>
            </a:pPr>
            <a:r>
              <a:rPr lang="en-US" sz="1100" dirty="0">
                <a:solidFill>
                  <a:srgbClr val="334155"/>
                </a:solidFill>
              </a:rPr>
              <a:t>Campaign successfully differentiates by positioning wedding photography as permanent reputational artifact in Medan's mianzi/adat culture. The 40-year archival authority creates white space competitors cannot credibly claim, owning 'dignity of time.'</a:t>
            </a:r>
            <a:endParaRPr lang="en-US" sz="1100" dirty="0"/>
          </a:p>
        </p:txBody>
      </p:sp>
      <p:sp>
        <p:nvSpPr>
          <p:cNvPr id="18" name="Shape 16"/>
          <p:cNvSpPr/>
          <p:nvPr/>
        </p:nvSpPr>
        <p:spPr>
          <a:xfrm>
            <a:off x="411480" y="3895344"/>
            <a:ext cx="8503920" cy="795528"/>
          </a:xfrm>
          <a:prstGeom prst="rect">
            <a:avLst/>
          </a:prstGeom>
          <a:solidFill>
            <a:srgbClr val="F8FAFC"/>
          </a:solidFill>
          <a:ln w="12700">
            <a:solidFill>
              <a:srgbClr val="E2E8F0"/>
            </a:solidFill>
            <a:prstDash val="solid"/>
          </a:ln>
        </p:spPr>
      </p:sp>
      <p:sp>
        <p:nvSpPr>
          <p:cNvPr id="19" name="Shape 17"/>
          <p:cNvSpPr/>
          <p:nvPr/>
        </p:nvSpPr>
        <p:spPr>
          <a:xfrm>
            <a:off x="411480" y="3895344"/>
            <a:ext cx="54864" cy="795528"/>
          </a:xfrm>
          <a:prstGeom prst="rect">
            <a:avLst/>
          </a:prstGeom>
          <a:solidFill>
            <a:srgbClr val="E8B04B"/>
          </a:solidFill>
          <a:ln w="12700">
            <a:solidFill>
              <a:srgbClr val="E8B04B"/>
            </a:solidFill>
            <a:prstDash val="solid"/>
          </a:ln>
        </p:spPr>
      </p:sp>
      <p:sp>
        <p:nvSpPr>
          <p:cNvPr id="20" name="Text 18"/>
          <p:cNvSpPr/>
          <p:nvPr/>
        </p:nvSpPr>
        <p:spPr>
          <a:xfrm>
            <a:off x="566928" y="3950208"/>
            <a:ext cx="8229600" cy="274320"/>
          </a:xfrm>
          <a:prstGeom prst="rect">
            <a:avLst/>
          </a:prstGeom>
          <a:noFill/>
          <a:ln/>
        </p:spPr>
        <p:txBody>
          <a:bodyPr wrap="square" rtlCol="0" anchor="ctr"/>
          <a:lstStyle/>
          <a:p>
            <a:pPr indent="0" marL="0">
              <a:buNone/>
            </a:pPr>
            <a:r>
              <a:rPr lang="en-US" sz="1200" b="1" dirty="0">
                <a:solidFill>
                  <a:srgbClr val="1E2761"/>
                </a:solidFill>
              </a:rPr>
              <a:t>Sophistication as permission structure</a:t>
            </a:r>
            <a:endParaRPr lang="en-US" sz="1200" dirty="0"/>
          </a:p>
        </p:txBody>
      </p:sp>
      <p:sp>
        <p:nvSpPr>
          <p:cNvPr id="21" name="Text 19"/>
          <p:cNvSpPr/>
          <p:nvPr/>
        </p:nvSpPr>
        <p:spPr>
          <a:xfrm>
            <a:off x="566928" y="4270248"/>
            <a:ext cx="8229600" cy="365760"/>
          </a:xfrm>
          <a:prstGeom prst="rect">
            <a:avLst/>
          </a:prstGeom>
          <a:noFill/>
          <a:ln/>
        </p:spPr>
        <p:txBody>
          <a:bodyPr wrap="square" rtlCol="0" anchor="ctr"/>
          <a:lstStyle/>
          <a:p>
            <a:pPr indent="0" marL="0">
              <a:buNone/>
            </a:pPr>
            <a:r>
              <a:rPr lang="en-US" sz="1100" dirty="0">
                <a:solidFill>
                  <a:srgbClr val="334155"/>
                </a:solidFill>
              </a:rPr>
              <a:t>Professional brides convert when campaign provides intellectually defensible framework to surrender to family expectations. Measured, authoritative tone allows capitulation without loss of face—reframing tradition as strategy, not sentiment.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Strategic Recommendations</a:t>
            </a:r>
            <a:endParaRPr lang="en-US" sz="2200" dirty="0"/>
          </a:p>
        </p:txBody>
      </p:sp>
      <p:sp>
        <p:nvSpPr>
          <p:cNvPr id="5" name="Text 3"/>
          <p:cNvSpPr/>
          <p:nvPr/>
        </p:nvSpPr>
        <p:spPr>
          <a:xfrm>
            <a:off x="411480" y="749808"/>
            <a:ext cx="8503920" cy="365760"/>
          </a:xfrm>
          <a:prstGeom prst="rect">
            <a:avLst/>
          </a:prstGeom>
          <a:noFill/>
          <a:ln/>
        </p:spPr>
        <p:txBody>
          <a:bodyPr wrap="square" rtlCol="0" anchor="ctr"/>
          <a:lstStyle/>
          <a:p>
            <a:pPr indent="0" marL="0">
              <a:buNone/>
            </a:pPr>
            <a:r>
              <a:rPr lang="en-US" sz="1500" b="1" i="1" dirty="0">
                <a:solidFill>
                  <a:srgbClr val="1E2761"/>
                </a:solidFill>
              </a:rPr>
              <a:t>Strategic actions to maximize campaign conversion</a:t>
            </a:r>
            <a:endParaRPr lang="en-US" sz="1500" dirty="0"/>
          </a:p>
        </p:txBody>
      </p:sp>
      <p:sp>
        <p:nvSpPr>
          <p:cNvPr id="6" name="Shape 4"/>
          <p:cNvSpPr/>
          <p:nvPr/>
        </p:nvSpPr>
        <p:spPr>
          <a:xfrm>
            <a:off x="411480" y="1234440"/>
            <a:ext cx="8503920" cy="795528"/>
          </a:xfrm>
          <a:prstGeom prst="rect">
            <a:avLst/>
          </a:prstGeom>
          <a:solidFill>
            <a:srgbClr val="F8FAFC"/>
          </a:solidFill>
          <a:ln w="12700">
            <a:solidFill>
              <a:srgbClr val="E2E8F0"/>
            </a:solidFill>
            <a:prstDash val="solid"/>
          </a:ln>
        </p:spPr>
      </p:sp>
      <p:sp>
        <p:nvSpPr>
          <p:cNvPr id="7" name="Shape 5"/>
          <p:cNvSpPr/>
          <p:nvPr/>
        </p:nvSpPr>
        <p:spPr>
          <a:xfrm>
            <a:off x="411480" y="1234440"/>
            <a:ext cx="54864" cy="795528"/>
          </a:xfrm>
          <a:prstGeom prst="rect">
            <a:avLst/>
          </a:prstGeom>
          <a:solidFill>
            <a:srgbClr val="DC2626"/>
          </a:solidFill>
          <a:ln w="12700">
            <a:solidFill>
              <a:srgbClr val="DC2626"/>
            </a:solidFill>
            <a:prstDash val="solid"/>
          </a:ln>
        </p:spPr>
      </p:sp>
      <p:sp>
        <p:nvSpPr>
          <p:cNvPr id="8" name="Shape 6"/>
          <p:cNvSpPr/>
          <p:nvPr/>
        </p:nvSpPr>
        <p:spPr>
          <a:xfrm>
            <a:off x="7790688" y="1408176"/>
            <a:ext cx="804672" cy="246888"/>
          </a:xfrm>
          <a:prstGeom prst="rect">
            <a:avLst/>
          </a:prstGeom>
          <a:solidFill>
            <a:srgbClr val="DC2626"/>
          </a:solidFill>
          <a:ln w="12700">
            <a:solidFill>
              <a:srgbClr val="DC2626"/>
            </a:solidFill>
            <a:prstDash val="solid"/>
          </a:ln>
        </p:spPr>
      </p:sp>
      <p:sp>
        <p:nvSpPr>
          <p:cNvPr id="9" name="Text 7"/>
          <p:cNvSpPr/>
          <p:nvPr/>
        </p:nvSpPr>
        <p:spPr>
          <a:xfrm>
            <a:off x="7790688" y="1408176"/>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High</a:t>
            </a:r>
            <a:endParaRPr lang="en-US" sz="900" dirty="0"/>
          </a:p>
        </p:txBody>
      </p:sp>
      <p:sp>
        <p:nvSpPr>
          <p:cNvPr id="10" name="Text 8"/>
          <p:cNvSpPr/>
          <p:nvPr/>
        </p:nvSpPr>
        <p:spPr>
          <a:xfrm>
            <a:off x="566928" y="1289304"/>
            <a:ext cx="7040880" cy="274320"/>
          </a:xfrm>
          <a:prstGeom prst="rect">
            <a:avLst/>
          </a:prstGeom>
          <a:noFill/>
          <a:ln/>
        </p:spPr>
        <p:txBody>
          <a:bodyPr wrap="square" rtlCol="0" anchor="ctr"/>
          <a:lstStyle/>
          <a:p>
            <a:pPr indent="0" marL="0">
              <a:buNone/>
            </a:pPr>
            <a:r>
              <a:rPr lang="en-US" sz="1200" b="1" dirty="0">
                <a:solidFill>
                  <a:srgbClr val="1E2761"/>
                </a:solidFill>
              </a:rPr>
              <a:t>Double down on parent targeting</a:t>
            </a:r>
            <a:endParaRPr lang="en-US" sz="1200" dirty="0"/>
          </a:p>
        </p:txBody>
      </p:sp>
      <p:sp>
        <p:nvSpPr>
          <p:cNvPr id="11" name="Text 9"/>
          <p:cNvSpPr/>
          <p:nvPr/>
        </p:nvSpPr>
        <p:spPr>
          <a:xfrm>
            <a:off x="566928" y="1618488"/>
            <a:ext cx="8229600" cy="347472"/>
          </a:xfrm>
          <a:prstGeom prst="rect">
            <a:avLst/>
          </a:prstGeom>
          <a:noFill/>
          <a:ln/>
        </p:spPr>
        <p:txBody>
          <a:bodyPr wrap="square" rtlCol="0" anchor="ctr"/>
          <a:lstStyle/>
          <a:p>
            <a:pPr indent="0" marL="0">
              <a:buNone/>
            </a:pPr>
            <a:r>
              <a:rPr lang="en-US" sz="1100" dirty="0">
                <a:solidFill>
                  <a:srgbClr val="334155"/>
                </a:solidFill>
              </a:rPr>
              <a:t>Shift primary media buy to legacy-anxious parents (42-44) as true decision-makers, emphasizing preventative immortality and wealth-to-legacy transformation messaging.</a:t>
            </a:r>
            <a:endParaRPr lang="en-US" sz="1100" dirty="0"/>
          </a:p>
        </p:txBody>
      </p:sp>
      <p:sp>
        <p:nvSpPr>
          <p:cNvPr id="12" name="Shape 10"/>
          <p:cNvSpPr/>
          <p:nvPr/>
        </p:nvSpPr>
        <p:spPr>
          <a:xfrm>
            <a:off x="411480" y="2121408"/>
            <a:ext cx="8503920" cy="795528"/>
          </a:xfrm>
          <a:prstGeom prst="rect">
            <a:avLst/>
          </a:prstGeom>
          <a:solidFill>
            <a:srgbClr val="F8FAFC"/>
          </a:solidFill>
          <a:ln w="12700">
            <a:solidFill>
              <a:srgbClr val="E2E8F0"/>
            </a:solidFill>
            <a:prstDash val="solid"/>
          </a:ln>
        </p:spPr>
      </p:sp>
      <p:sp>
        <p:nvSpPr>
          <p:cNvPr id="13" name="Shape 11"/>
          <p:cNvSpPr/>
          <p:nvPr/>
        </p:nvSpPr>
        <p:spPr>
          <a:xfrm>
            <a:off x="411480" y="2121408"/>
            <a:ext cx="54864" cy="795528"/>
          </a:xfrm>
          <a:prstGeom prst="rect">
            <a:avLst/>
          </a:prstGeom>
          <a:solidFill>
            <a:srgbClr val="DC2626"/>
          </a:solidFill>
          <a:ln w="12700">
            <a:solidFill>
              <a:srgbClr val="DC2626"/>
            </a:solidFill>
            <a:prstDash val="solid"/>
          </a:ln>
        </p:spPr>
      </p:sp>
      <p:sp>
        <p:nvSpPr>
          <p:cNvPr id="14" name="Shape 12"/>
          <p:cNvSpPr/>
          <p:nvPr/>
        </p:nvSpPr>
        <p:spPr>
          <a:xfrm>
            <a:off x="7790688" y="2295144"/>
            <a:ext cx="804672" cy="246888"/>
          </a:xfrm>
          <a:prstGeom prst="rect">
            <a:avLst/>
          </a:prstGeom>
          <a:solidFill>
            <a:srgbClr val="DC2626"/>
          </a:solidFill>
          <a:ln w="12700">
            <a:solidFill>
              <a:srgbClr val="DC2626"/>
            </a:solidFill>
            <a:prstDash val="solid"/>
          </a:ln>
        </p:spPr>
      </p:sp>
      <p:sp>
        <p:nvSpPr>
          <p:cNvPr id="15" name="Text 13"/>
          <p:cNvSpPr/>
          <p:nvPr/>
        </p:nvSpPr>
        <p:spPr>
          <a:xfrm>
            <a:off x="7790688" y="2295144"/>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High</a:t>
            </a:r>
            <a:endParaRPr lang="en-US" sz="900" dirty="0"/>
          </a:p>
        </p:txBody>
      </p:sp>
      <p:sp>
        <p:nvSpPr>
          <p:cNvPr id="16" name="Text 14"/>
          <p:cNvSpPr/>
          <p:nvPr/>
        </p:nvSpPr>
        <p:spPr>
          <a:xfrm>
            <a:off x="566928" y="2176272"/>
            <a:ext cx="7040880" cy="274320"/>
          </a:xfrm>
          <a:prstGeom prst="rect">
            <a:avLst/>
          </a:prstGeom>
          <a:noFill/>
          <a:ln/>
        </p:spPr>
        <p:txBody>
          <a:bodyPr wrap="square" rtlCol="0" anchor="ctr"/>
          <a:lstStyle/>
          <a:p>
            <a:pPr indent="0" marL="0">
              <a:buNone/>
            </a:pPr>
            <a:r>
              <a:rPr lang="en-US" sz="1200" b="1" dirty="0">
                <a:solidFill>
                  <a:srgbClr val="1E2761"/>
                </a:solidFill>
              </a:rPr>
              <a:t>Execute Post 21 'The Repeat' asset</a:t>
            </a:r>
            <a:endParaRPr lang="en-US" sz="1200" dirty="0"/>
          </a:p>
        </p:txBody>
      </p:sp>
      <p:sp>
        <p:nvSpPr>
          <p:cNvPr id="17" name="Text 15"/>
          <p:cNvSpPr/>
          <p:nvPr/>
        </p:nvSpPr>
        <p:spPr>
          <a:xfrm>
            <a:off x="566928" y="2505456"/>
            <a:ext cx="8229600" cy="347472"/>
          </a:xfrm>
          <a:prstGeom prst="rect">
            <a:avLst/>
          </a:prstGeom>
          <a:noFill/>
          <a:ln/>
        </p:spPr>
        <p:txBody>
          <a:bodyPr wrap="square" rtlCol="0" anchor="ctr"/>
          <a:lstStyle/>
          <a:p>
            <a:pPr indent="0" marL="0">
              <a:buNone/>
            </a:pPr>
            <a:r>
              <a:rPr lang="en-US" sz="1100" dirty="0">
                <a:solidFill>
                  <a:srgbClr val="334155"/>
                </a:solidFill>
              </a:rPr>
              <a:t>Prioritize hero asset showing current bride alongside mother's vintage Karya portrait—this visual proof of generational continuity is the ultimate conversion trigger for both audiences.</a:t>
            </a:r>
            <a:endParaRPr lang="en-US" sz="1100" dirty="0"/>
          </a:p>
        </p:txBody>
      </p:sp>
      <p:sp>
        <p:nvSpPr>
          <p:cNvPr id="18" name="Shape 16"/>
          <p:cNvSpPr/>
          <p:nvPr/>
        </p:nvSpPr>
        <p:spPr>
          <a:xfrm>
            <a:off x="411480" y="3008376"/>
            <a:ext cx="8503920" cy="795528"/>
          </a:xfrm>
          <a:prstGeom prst="rect">
            <a:avLst/>
          </a:prstGeom>
          <a:solidFill>
            <a:srgbClr val="F8FAFC"/>
          </a:solidFill>
          <a:ln w="12700">
            <a:solidFill>
              <a:srgbClr val="E2E8F0"/>
            </a:solidFill>
            <a:prstDash val="solid"/>
          </a:ln>
        </p:spPr>
      </p:sp>
      <p:sp>
        <p:nvSpPr>
          <p:cNvPr id="19" name="Shape 17"/>
          <p:cNvSpPr/>
          <p:nvPr/>
        </p:nvSpPr>
        <p:spPr>
          <a:xfrm>
            <a:off x="411480" y="3008376"/>
            <a:ext cx="54864" cy="795528"/>
          </a:xfrm>
          <a:prstGeom prst="rect">
            <a:avLst/>
          </a:prstGeom>
          <a:solidFill>
            <a:srgbClr val="E8B04B"/>
          </a:solidFill>
          <a:ln w="12700">
            <a:solidFill>
              <a:srgbClr val="E8B04B"/>
            </a:solidFill>
            <a:prstDash val="solid"/>
          </a:ln>
        </p:spPr>
      </p:sp>
      <p:sp>
        <p:nvSpPr>
          <p:cNvPr id="20" name="Shape 18"/>
          <p:cNvSpPr/>
          <p:nvPr/>
        </p:nvSpPr>
        <p:spPr>
          <a:xfrm>
            <a:off x="7790688" y="3182112"/>
            <a:ext cx="804672" cy="246888"/>
          </a:xfrm>
          <a:prstGeom prst="rect">
            <a:avLst/>
          </a:prstGeom>
          <a:solidFill>
            <a:srgbClr val="E8B04B"/>
          </a:solidFill>
          <a:ln w="12700">
            <a:solidFill>
              <a:srgbClr val="E8B04B"/>
            </a:solidFill>
            <a:prstDash val="solid"/>
          </a:ln>
        </p:spPr>
      </p:sp>
      <p:sp>
        <p:nvSpPr>
          <p:cNvPr id="21" name="Text 19"/>
          <p:cNvSpPr/>
          <p:nvPr/>
        </p:nvSpPr>
        <p:spPr>
          <a:xfrm>
            <a:off x="7790688" y="3182112"/>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Medium</a:t>
            </a:r>
            <a:endParaRPr lang="en-US" sz="900" dirty="0"/>
          </a:p>
        </p:txBody>
      </p:sp>
      <p:sp>
        <p:nvSpPr>
          <p:cNvPr id="22" name="Text 20"/>
          <p:cNvSpPr/>
          <p:nvPr/>
        </p:nvSpPr>
        <p:spPr>
          <a:xfrm>
            <a:off x="566928" y="3063240"/>
            <a:ext cx="7040880" cy="274320"/>
          </a:xfrm>
          <a:prstGeom prst="rect">
            <a:avLst/>
          </a:prstGeom>
          <a:noFill/>
          <a:ln/>
        </p:spPr>
        <p:txBody>
          <a:bodyPr wrap="square" rtlCol="0" anchor="ctr"/>
          <a:lstStyle/>
          <a:p>
            <a:pPr indent="0" marL="0">
              <a:buNone/>
            </a:pPr>
            <a:r>
              <a:rPr lang="en-US" sz="1200" b="1" dirty="0">
                <a:solidFill>
                  <a:srgbClr val="1E2761"/>
                </a:solidFill>
              </a:rPr>
              <a:t>Develop permission-structure messaging for brides</a:t>
            </a:r>
            <a:endParaRPr lang="en-US" sz="1200" dirty="0"/>
          </a:p>
        </p:txBody>
      </p:sp>
      <p:sp>
        <p:nvSpPr>
          <p:cNvPr id="23" name="Text 21"/>
          <p:cNvSpPr/>
          <p:nvPr/>
        </p:nvSpPr>
        <p:spPr>
          <a:xfrm>
            <a:off x="566928" y="3392424"/>
            <a:ext cx="8229600" cy="347472"/>
          </a:xfrm>
          <a:prstGeom prst="rect">
            <a:avLst/>
          </a:prstGeom>
          <a:noFill/>
          <a:ln/>
        </p:spPr>
        <p:txBody>
          <a:bodyPr wrap="square" rtlCol="0" anchor="ctr"/>
          <a:lstStyle/>
          <a:p>
            <a:pPr indent="0" marL="0">
              <a:buNone/>
            </a:pPr>
            <a:r>
              <a:rPr lang="en-US" sz="1100" dirty="0">
                <a:solidFill>
                  <a:srgbClr val="334155"/>
                </a:solidFill>
              </a:rPr>
              <a:t>Create secondary content positioning Karya choice as sophisticated cultural strategy, not family pressure—allow professional women to reframe capitulation as intellectually defensible decision.</a:t>
            </a:r>
            <a:endParaRPr lang="en-US" sz="1100" dirty="0"/>
          </a:p>
        </p:txBody>
      </p:sp>
      <p:sp>
        <p:nvSpPr>
          <p:cNvPr id="24" name="Shape 22"/>
          <p:cNvSpPr/>
          <p:nvPr/>
        </p:nvSpPr>
        <p:spPr>
          <a:xfrm>
            <a:off x="411480" y="3895344"/>
            <a:ext cx="8503920" cy="795528"/>
          </a:xfrm>
          <a:prstGeom prst="rect">
            <a:avLst/>
          </a:prstGeom>
          <a:solidFill>
            <a:srgbClr val="F8FAFC"/>
          </a:solidFill>
          <a:ln w="12700">
            <a:solidFill>
              <a:srgbClr val="E2E8F0"/>
            </a:solidFill>
            <a:prstDash val="solid"/>
          </a:ln>
        </p:spPr>
      </p:sp>
      <p:sp>
        <p:nvSpPr>
          <p:cNvPr id="25" name="Shape 23"/>
          <p:cNvSpPr/>
          <p:nvPr/>
        </p:nvSpPr>
        <p:spPr>
          <a:xfrm>
            <a:off x="411480" y="3895344"/>
            <a:ext cx="54864" cy="795528"/>
          </a:xfrm>
          <a:prstGeom prst="rect">
            <a:avLst/>
          </a:prstGeom>
          <a:solidFill>
            <a:srgbClr val="E8B04B"/>
          </a:solidFill>
          <a:ln w="12700">
            <a:solidFill>
              <a:srgbClr val="E8B04B"/>
            </a:solidFill>
            <a:prstDash val="solid"/>
          </a:ln>
        </p:spPr>
      </p:sp>
      <p:sp>
        <p:nvSpPr>
          <p:cNvPr id="26" name="Shape 24"/>
          <p:cNvSpPr/>
          <p:nvPr/>
        </p:nvSpPr>
        <p:spPr>
          <a:xfrm>
            <a:off x="7790688" y="4069080"/>
            <a:ext cx="804672" cy="246888"/>
          </a:xfrm>
          <a:prstGeom prst="rect">
            <a:avLst/>
          </a:prstGeom>
          <a:solidFill>
            <a:srgbClr val="E8B04B"/>
          </a:solidFill>
          <a:ln w="12700">
            <a:solidFill>
              <a:srgbClr val="E8B04B"/>
            </a:solidFill>
            <a:prstDash val="solid"/>
          </a:ln>
        </p:spPr>
      </p:sp>
      <p:sp>
        <p:nvSpPr>
          <p:cNvPr id="27" name="Text 25"/>
          <p:cNvSpPr/>
          <p:nvPr/>
        </p:nvSpPr>
        <p:spPr>
          <a:xfrm>
            <a:off x="7790688" y="4069080"/>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Medium</a:t>
            </a:r>
            <a:endParaRPr lang="en-US" sz="900" dirty="0"/>
          </a:p>
        </p:txBody>
      </p:sp>
      <p:sp>
        <p:nvSpPr>
          <p:cNvPr id="28" name="Text 26"/>
          <p:cNvSpPr/>
          <p:nvPr/>
        </p:nvSpPr>
        <p:spPr>
          <a:xfrm>
            <a:off x="566928" y="3950208"/>
            <a:ext cx="7040880" cy="274320"/>
          </a:xfrm>
          <a:prstGeom prst="rect">
            <a:avLst/>
          </a:prstGeom>
          <a:noFill/>
          <a:ln/>
        </p:spPr>
        <p:txBody>
          <a:bodyPr wrap="square" rtlCol="0" anchor="ctr"/>
          <a:lstStyle/>
          <a:p>
            <a:pPr indent="0" marL="0">
              <a:buNone/>
            </a:pPr>
            <a:r>
              <a:rPr lang="en-US" sz="1200" b="1" dirty="0">
                <a:solidFill>
                  <a:srgbClr val="1E2761"/>
                </a:solidFill>
              </a:rPr>
              <a:t>Maintain strict creative guardrails</a:t>
            </a:r>
            <a:endParaRPr lang="en-US" sz="1200" dirty="0"/>
          </a:p>
        </p:txBody>
      </p:sp>
      <p:sp>
        <p:nvSpPr>
          <p:cNvPr id="29" name="Text 27"/>
          <p:cNvSpPr/>
          <p:nvPr/>
        </p:nvSpPr>
        <p:spPr>
          <a:xfrm>
            <a:off x="566928" y="4279392"/>
            <a:ext cx="8229600" cy="347472"/>
          </a:xfrm>
          <a:prstGeom prst="rect">
            <a:avLst/>
          </a:prstGeom>
          <a:noFill/>
          <a:ln/>
        </p:spPr>
        <p:txBody>
          <a:bodyPr wrap="square" rtlCol="0" anchor="ctr"/>
          <a:lstStyle/>
          <a:p>
            <a:pPr indent="0" marL="0">
              <a:buNone/>
            </a:pPr>
            <a:r>
              <a:rPr lang="en-US" sz="1100" dirty="0">
                <a:solidFill>
                  <a:srgbClr val="334155"/>
                </a:solidFill>
              </a:rPr>
              <a:t>Enforce chiaroscuro lighting standard and avoid trend vocabulary to preserve archival authority positioning—any deviation toward 'nice' photography destroys competitive differentiation.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Risk Assessment &amp; Kill Switch Signals</a:t>
            </a:r>
            <a:endParaRPr lang="en-US" sz="2200" dirty="0"/>
          </a:p>
        </p:txBody>
      </p:sp>
      <p:sp>
        <p:nvSpPr>
          <p:cNvPr id="5" name="Text 3"/>
          <p:cNvSpPr/>
          <p:nvPr/>
        </p:nvSpPr>
        <p:spPr>
          <a:xfrm>
            <a:off x="411480" y="749808"/>
            <a:ext cx="8503920" cy="365760"/>
          </a:xfrm>
          <a:prstGeom prst="rect">
            <a:avLst/>
          </a:prstGeom>
          <a:noFill/>
          <a:ln/>
        </p:spPr>
        <p:txBody>
          <a:bodyPr wrap="square" rtlCol="0" anchor="ctr"/>
          <a:lstStyle/>
          <a:p>
            <a:pPr indent="0" marL="0">
              <a:buNone/>
            </a:pPr>
            <a:r>
              <a:rPr lang="en-US" sz="1500" b="1" i="1" dirty="0">
                <a:solidFill>
                  <a:srgbClr val="1E2761"/>
                </a:solidFill>
              </a:rPr>
              <a:t>Campaign vulnerabilities and kill-switch indicators</a:t>
            </a:r>
            <a:endParaRPr lang="en-US" sz="1500" dirty="0"/>
          </a:p>
        </p:txBody>
      </p:sp>
      <p:sp>
        <p:nvSpPr>
          <p:cNvPr id="6" name="Shape 4"/>
          <p:cNvSpPr/>
          <p:nvPr/>
        </p:nvSpPr>
        <p:spPr>
          <a:xfrm>
            <a:off x="411480" y="1234440"/>
            <a:ext cx="8503920" cy="795528"/>
          </a:xfrm>
          <a:prstGeom prst="rect">
            <a:avLst/>
          </a:prstGeom>
          <a:solidFill>
            <a:srgbClr val="F8FAFC"/>
          </a:solidFill>
          <a:ln w="12700">
            <a:solidFill>
              <a:srgbClr val="E2E8F0"/>
            </a:solidFill>
            <a:prstDash val="solid"/>
          </a:ln>
        </p:spPr>
      </p:sp>
      <p:sp>
        <p:nvSpPr>
          <p:cNvPr id="7" name="Shape 5"/>
          <p:cNvSpPr/>
          <p:nvPr/>
        </p:nvSpPr>
        <p:spPr>
          <a:xfrm>
            <a:off x="411480" y="1234440"/>
            <a:ext cx="54864" cy="795528"/>
          </a:xfrm>
          <a:prstGeom prst="rect">
            <a:avLst/>
          </a:prstGeom>
          <a:solidFill>
            <a:srgbClr val="DC2626"/>
          </a:solidFill>
          <a:ln w="12700">
            <a:solidFill>
              <a:srgbClr val="DC2626"/>
            </a:solidFill>
            <a:prstDash val="solid"/>
          </a:ln>
        </p:spPr>
      </p:sp>
      <p:sp>
        <p:nvSpPr>
          <p:cNvPr id="8" name="Shape 6"/>
          <p:cNvSpPr/>
          <p:nvPr/>
        </p:nvSpPr>
        <p:spPr>
          <a:xfrm>
            <a:off x="7790688" y="1408176"/>
            <a:ext cx="804672" cy="246888"/>
          </a:xfrm>
          <a:prstGeom prst="rect">
            <a:avLst/>
          </a:prstGeom>
          <a:solidFill>
            <a:srgbClr val="DC2626"/>
          </a:solidFill>
          <a:ln w="12700">
            <a:solidFill>
              <a:srgbClr val="DC2626"/>
            </a:solidFill>
            <a:prstDash val="solid"/>
          </a:ln>
        </p:spPr>
      </p:sp>
      <p:sp>
        <p:nvSpPr>
          <p:cNvPr id="9" name="Text 7"/>
          <p:cNvSpPr/>
          <p:nvPr/>
        </p:nvSpPr>
        <p:spPr>
          <a:xfrm>
            <a:off x="7790688" y="1408176"/>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High</a:t>
            </a:r>
            <a:endParaRPr lang="en-US" sz="900" dirty="0"/>
          </a:p>
        </p:txBody>
      </p:sp>
      <p:sp>
        <p:nvSpPr>
          <p:cNvPr id="10" name="Text 8"/>
          <p:cNvSpPr/>
          <p:nvPr/>
        </p:nvSpPr>
        <p:spPr>
          <a:xfrm>
            <a:off x="566928" y="1289304"/>
            <a:ext cx="7040880" cy="274320"/>
          </a:xfrm>
          <a:prstGeom prst="rect">
            <a:avLst/>
          </a:prstGeom>
          <a:noFill/>
          <a:ln/>
        </p:spPr>
        <p:txBody>
          <a:bodyPr wrap="square" rtlCol="0" anchor="ctr"/>
          <a:lstStyle/>
          <a:p>
            <a:pPr indent="0" marL="0">
              <a:buNone/>
            </a:pPr>
            <a:r>
              <a:rPr lang="en-US" sz="1200" b="1" dirty="0">
                <a:solidFill>
                  <a:srgbClr val="1E2761"/>
                </a:solidFill>
              </a:rPr>
              <a:t>Manipulation detection among younger brides</a:t>
            </a:r>
            <a:endParaRPr lang="en-US" sz="1200" dirty="0"/>
          </a:p>
        </p:txBody>
      </p:sp>
      <p:sp>
        <p:nvSpPr>
          <p:cNvPr id="11" name="Text 9"/>
          <p:cNvSpPr/>
          <p:nvPr/>
        </p:nvSpPr>
        <p:spPr>
          <a:xfrm>
            <a:off x="566928" y="1618488"/>
            <a:ext cx="8229600" cy="347472"/>
          </a:xfrm>
          <a:prstGeom prst="rect">
            <a:avLst/>
          </a:prstGeom>
          <a:noFill/>
          <a:ln/>
        </p:spPr>
        <p:txBody>
          <a:bodyPr wrap="square" rtlCol="0" anchor="ctr"/>
          <a:lstStyle/>
          <a:p>
            <a:pPr indent="0" marL="0">
              <a:buNone/>
            </a:pPr>
            <a:r>
              <a:rPr lang="en-US" sz="1100" dirty="0">
                <a:solidFill>
                  <a:srgbClr val="334155"/>
                </a:solidFill>
              </a:rPr>
              <a:t>If engagement metrics show high view rates but low conversion among 27-31 brides with 'glance not save' behavior, the psychological mechanism has been identified and rejected.</a:t>
            </a:r>
            <a:endParaRPr lang="en-US" sz="1100" dirty="0"/>
          </a:p>
        </p:txBody>
      </p:sp>
      <p:sp>
        <p:nvSpPr>
          <p:cNvPr id="12" name="Shape 10"/>
          <p:cNvSpPr/>
          <p:nvPr/>
        </p:nvSpPr>
        <p:spPr>
          <a:xfrm>
            <a:off x="411480" y="2121408"/>
            <a:ext cx="8503920" cy="795528"/>
          </a:xfrm>
          <a:prstGeom prst="rect">
            <a:avLst/>
          </a:prstGeom>
          <a:solidFill>
            <a:srgbClr val="F8FAFC"/>
          </a:solidFill>
          <a:ln w="12700">
            <a:solidFill>
              <a:srgbClr val="E2E8F0"/>
            </a:solidFill>
            <a:prstDash val="solid"/>
          </a:ln>
        </p:spPr>
      </p:sp>
      <p:sp>
        <p:nvSpPr>
          <p:cNvPr id="13" name="Shape 11"/>
          <p:cNvSpPr/>
          <p:nvPr/>
        </p:nvSpPr>
        <p:spPr>
          <a:xfrm>
            <a:off x="411480" y="2121408"/>
            <a:ext cx="54864" cy="795528"/>
          </a:xfrm>
          <a:prstGeom prst="rect">
            <a:avLst/>
          </a:prstGeom>
          <a:solidFill>
            <a:srgbClr val="E8B04B"/>
          </a:solidFill>
          <a:ln w="12700">
            <a:solidFill>
              <a:srgbClr val="E8B04B"/>
            </a:solidFill>
            <a:prstDash val="solid"/>
          </a:ln>
        </p:spPr>
      </p:sp>
      <p:sp>
        <p:nvSpPr>
          <p:cNvPr id="14" name="Shape 12"/>
          <p:cNvSpPr/>
          <p:nvPr/>
        </p:nvSpPr>
        <p:spPr>
          <a:xfrm>
            <a:off x="7790688" y="2295144"/>
            <a:ext cx="804672" cy="246888"/>
          </a:xfrm>
          <a:prstGeom prst="rect">
            <a:avLst/>
          </a:prstGeom>
          <a:solidFill>
            <a:srgbClr val="E8B04B"/>
          </a:solidFill>
          <a:ln w="12700">
            <a:solidFill>
              <a:srgbClr val="E8B04B"/>
            </a:solidFill>
            <a:prstDash val="solid"/>
          </a:ln>
        </p:spPr>
      </p:sp>
      <p:sp>
        <p:nvSpPr>
          <p:cNvPr id="15" name="Text 13"/>
          <p:cNvSpPr/>
          <p:nvPr/>
        </p:nvSpPr>
        <p:spPr>
          <a:xfrm>
            <a:off x="7790688" y="2295144"/>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Medium</a:t>
            </a:r>
            <a:endParaRPr lang="en-US" sz="900" dirty="0"/>
          </a:p>
        </p:txBody>
      </p:sp>
      <p:sp>
        <p:nvSpPr>
          <p:cNvPr id="16" name="Text 14"/>
          <p:cNvSpPr/>
          <p:nvPr/>
        </p:nvSpPr>
        <p:spPr>
          <a:xfrm>
            <a:off x="566928" y="2176272"/>
            <a:ext cx="7040880" cy="274320"/>
          </a:xfrm>
          <a:prstGeom prst="rect">
            <a:avLst/>
          </a:prstGeom>
          <a:noFill/>
          <a:ln/>
        </p:spPr>
        <p:txBody>
          <a:bodyPr wrap="square" rtlCol="0" anchor="ctr"/>
          <a:lstStyle/>
          <a:p>
            <a:pPr indent="0" marL="0">
              <a:buNone/>
            </a:pPr>
            <a:r>
              <a:rPr lang="en-US" sz="1200" b="1" dirty="0">
                <a:solidFill>
                  <a:srgbClr val="1E2761"/>
                </a:solidFill>
              </a:rPr>
              <a:t>Legacy vs. coercion backlash</a:t>
            </a:r>
            <a:endParaRPr lang="en-US" sz="1200" dirty="0"/>
          </a:p>
        </p:txBody>
      </p:sp>
      <p:sp>
        <p:nvSpPr>
          <p:cNvPr id="17" name="Text 15"/>
          <p:cNvSpPr/>
          <p:nvPr/>
        </p:nvSpPr>
        <p:spPr>
          <a:xfrm>
            <a:off x="566928" y="2505456"/>
            <a:ext cx="8229600" cy="347472"/>
          </a:xfrm>
          <a:prstGeom prst="rect">
            <a:avLst/>
          </a:prstGeom>
          <a:noFill/>
          <a:ln/>
        </p:spPr>
        <p:txBody>
          <a:bodyPr wrap="square" rtlCol="0" anchor="ctr"/>
          <a:lstStyle/>
          <a:p>
            <a:pPr indent="0" marL="0">
              <a:buNone/>
            </a:pPr>
            <a:r>
              <a:rPr lang="en-US" sz="1100" dirty="0">
                <a:solidFill>
                  <a:srgbClr val="334155"/>
                </a:solidFill>
              </a:rPr>
              <a:t>Monitor social comments for language around 'weaponizing family pressure' or 'cultural manipulation'—indicates campaign crossed from permission structure to perceived coercion.</a:t>
            </a:r>
            <a:endParaRPr lang="en-US" sz="1100" dirty="0"/>
          </a:p>
        </p:txBody>
      </p:sp>
      <p:sp>
        <p:nvSpPr>
          <p:cNvPr id="18" name="Shape 16"/>
          <p:cNvSpPr/>
          <p:nvPr/>
        </p:nvSpPr>
        <p:spPr>
          <a:xfrm>
            <a:off x="411480" y="3008376"/>
            <a:ext cx="8503920" cy="795528"/>
          </a:xfrm>
          <a:prstGeom prst="rect">
            <a:avLst/>
          </a:prstGeom>
          <a:solidFill>
            <a:srgbClr val="F8FAFC"/>
          </a:solidFill>
          <a:ln w="12700">
            <a:solidFill>
              <a:srgbClr val="E2E8F0"/>
            </a:solidFill>
            <a:prstDash val="solid"/>
          </a:ln>
        </p:spPr>
      </p:sp>
      <p:sp>
        <p:nvSpPr>
          <p:cNvPr id="19" name="Shape 17"/>
          <p:cNvSpPr/>
          <p:nvPr/>
        </p:nvSpPr>
        <p:spPr>
          <a:xfrm>
            <a:off x="411480" y="3008376"/>
            <a:ext cx="54864" cy="795528"/>
          </a:xfrm>
          <a:prstGeom prst="rect">
            <a:avLst/>
          </a:prstGeom>
          <a:solidFill>
            <a:srgbClr val="E8B04B"/>
          </a:solidFill>
          <a:ln w="12700">
            <a:solidFill>
              <a:srgbClr val="E8B04B"/>
            </a:solidFill>
            <a:prstDash val="solid"/>
          </a:ln>
        </p:spPr>
      </p:sp>
      <p:sp>
        <p:nvSpPr>
          <p:cNvPr id="20" name="Shape 18"/>
          <p:cNvSpPr/>
          <p:nvPr/>
        </p:nvSpPr>
        <p:spPr>
          <a:xfrm>
            <a:off x="7790688" y="3182112"/>
            <a:ext cx="804672" cy="246888"/>
          </a:xfrm>
          <a:prstGeom prst="rect">
            <a:avLst/>
          </a:prstGeom>
          <a:solidFill>
            <a:srgbClr val="E8B04B"/>
          </a:solidFill>
          <a:ln w="12700">
            <a:solidFill>
              <a:srgbClr val="E8B04B"/>
            </a:solidFill>
            <a:prstDash val="solid"/>
          </a:ln>
        </p:spPr>
      </p:sp>
      <p:sp>
        <p:nvSpPr>
          <p:cNvPr id="21" name="Text 19"/>
          <p:cNvSpPr/>
          <p:nvPr/>
        </p:nvSpPr>
        <p:spPr>
          <a:xfrm>
            <a:off x="7790688" y="3182112"/>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Medium</a:t>
            </a:r>
            <a:endParaRPr lang="en-US" sz="900" dirty="0"/>
          </a:p>
        </p:txBody>
      </p:sp>
      <p:sp>
        <p:nvSpPr>
          <p:cNvPr id="22" name="Text 20"/>
          <p:cNvSpPr/>
          <p:nvPr/>
        </p:nvSpPr>
        <p:spPr>
          <a:xfrm>
            <a:off x="566928" y="3063240"/>
            <a:ext cx="7040880" cy="274320"/>
          </a:xfrm>
          <a:prstGeom prst="rect">
            <a:avLst/>
          </a:prstGeom>
          <a:noFill/>
          <a:ln/>
        </p:spPr>
        <p:txBody>
          <a:bodyPr wrap="square" rtlCol="0" anchor="ctr"/>
          <a:lstStyle/>
          <a:p>
            <a:pPr indent="0" marL="0">
              <a:buNone/>
            </a:pPr>
            <a:r>
              <a:rPr lang="en-US" sz="1200" b="1" dirty="0">
                <a:solidFill>
                  <a:srgbClr val="1E2761"/>
                </a:solidFill>
              </a:rPr>
              <a:t>Archival asset dependency</a:t>
            </a:r>
            <a:endParaRPr lang="en-US" sz="1200" dirty="0"/>
          </a:p>
        </p:txBody>
      </p:sp>
      <p:sp>
        <p:nvSpPr>
          <p:cNvPr id="23" name="Text 21"/>
          <p:cNvSpPr/>
          <p:nvPr/>
        </p:nvSpPr>
        <p:spPr>
          <a:xfrm>
            <a:off x="566928" y="3392424"/>
            <a:ext cx="8229600" cy="347472"/>
          </a:xfrm>
          <a:prstGeom prst="rect">
            <a:avLst/>
          </a:prstGeom>
          <a:noFill/>
          <a:ln/>
        </p:spPr>
        <p:txBody>
          <a:bodyPr wrap="square" rtlCol="0" anchor="ctr"/>
          <a:lstStyle/>
          <a:p>
            <a:pPr indent="0" marL="0">
              <a:buNone/>
            </a:pPr>
            <a:r>
              <a:rPr lang="en-US" sz="1100" dirty="0">
                <a:solidFill>
                  <a:srgbClr val="334155"/>
                </a:solidFill>
              </a:rPr>
              <a:t>Campaign's hero moment (Post 21) requires archival mother portrait consent—if unavailable, the entire generational continuity proof point collapses and conversion trigger disappears.</a:t>
            </a:r>
            <a:endParaRPr lang="en-US" sz="1100" dirty="0"/>
          </a:p>
        </p:txBody>
      </p:sp>
      <p:sp>
        <p:nvSpPr>
          <p:cNvPr id="24" name="Shape 22"/>
          <p:cNvSpPr/>
          <p:nvPr/>
        </p:nvSpPr>
        <p:spPr>
          <a:xfrm>
            <a:off x="411480" y="3895344"/>
            <a:ext cx="8503920" cy="795528"/>
          </a:xfrm>
          <a:prstGeom prst="rect">
            <a:avLst/>
          </a:prstGeom>
          <a:solidFill>
            <a:srgbClr val="F8FAFC"/>
          </a:solidFill>
          <a:ln w="12700">
            <a:solidFill>
              <a:srgbClr val="E2E8F0"/>
            </a:solidFill>
            <a:prstDash val="solid"/>
          </a:ln>
        </p:spPr>
      </p:sp>
      <p:sp>
        <p:nvSpPr>
          <p:cNvPr id="25" name="Shape 23"/>
          <p:cNvSpPr/>
          <p:nvPr/>
        </p:nvSpPr>
        <p:spPr>
          <a:xfrm>
            <a:off x="411480" y="3895344"/>
            <a:ext cx="54864" cy="795528"/>
          </a:xfrm>
          <a:prstGeom prst="rect">
            <a:avLst/>
          </a:prstGeom>
          <a:solidFill>
            <a:srgbClr val="22C55E"/>
          </a:solidFill>
          <a:ln w="12700">
            <a:solidFill>
              <a:srgbClr val="22C55E"/>
            </a:solidFill>
            <a:prstDash val="solid"/>
          </a:ln>
        </p:spPr>
      </p:sp>
      <p:sp>
        <p:nvSpPr>
          <p:cNvPr id="26" name="Shape 24"/>
          <p:cNvSpPr/>
          <p:nvPr/>
        </p:nvSpPr>
        <p:spPr>
          <a:xfrm>
            <a:off x="7790688" y="4069080"/>
            <a:ext cx="804672" cy="246888"/>
          </a:xfrm>
          <a:prstGeom prst="rect">
            <a:avLst/>
          </a:prstGeom>
          <a:solidFill>
            <a:srgbClr val="22C55E"/>
          </a:solidFill>
          <a:ln w="12700">
            <a:solidFill>
              <a:srgbClr val="22C55E"/>
            </a:solidFill>
            <a:prstDash val="solid"/>
          </a:ln>
        </p:spPr>
      </p:sp>
      <p:sp>
        <p:nvSpPr>
          <p:cNvPr id="27" name="Text 25"/>
          <p:cNvSpPr/>
          <p:nvPr/>
        </p:nvSpPr>
        <p:spPr>
          <a:xfrm>
            <a:off x="7790688" y="4069080"/>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Low</a:t>
            </a:r>
            <a:endParaRPr lang="en-US" sz="900" dirty="0"/>
          </a:p>
        </p:txBody>
      </p:sp>
      <p:sp>
        <p:nvSpPr>
          <p:cNvPr id="28" name="Text 26"/>
          <p:cNvSpPr/>
          <p:nvPr/>
        </p:nvSpPr>
        <p:spPr>
          <a:xfrm>
            <a:off x="566928" y="3950208"/>
            <a:ext cx="7040880" cy="274320"/>
          </a:xfrm>
          <a:prstGeom prst="rect">
            <a:avLst/>
          </a:prstGeom>
          <a:noFill/>
          <a:ln/>
        </p:spPr>
        <p:txBody>
          <a:bodyPr wrap="square" rtlCol="0" anchor="ctr"/>
          <a:lstStyle/>
          <a:p>
            <a:pPr indent="0" marL="0">
              <a:buNone/>
            </a:pPr>
            <a:r>
              <a:rPr lang="en-US" sz="1200" b="1" dirty="0">
                <a:solidFill>
                  <a:srgbClr val="1E2761"/>
                </a:solidFill>
              </a:rPr>
              <a:t>Generational bridge failure</a:t>
            </a:r>
            <a:endParaRPr lang="en-US" sz="1200" dirty="0"/>
          </a:p>
        </p:txBody>
      </p:sp>
      <p:sp>
        <p:nvSpPr>
          <p:cNvPr id="29" name="Text 27"/>
          <p:cNvSpPr/>
          <p:nvPr/>
        </p:nvSpPr>
        <p:spPr>
          <a:xfrm>
            <a:off x="566928" y="4279392"/>
            <a:ext cx="8229600" cy="347472"/>
          </a:xfrm>
          <a:prstGeom prst="rect">
            <a:avLst/>
          </a:prstGeom>
          <a:noFill/>
          <a:ln/>
        </p:spPr>
        <p:txBody>
          <a:bodyPr wrap="square" rtlCol="0" anchor="ctr"/>
          <a:lstStyle/>
          <a:p>
            <a:pPr indent="0" marL="0">
              <a:buNone/>
            </a:pPr>
            <a:r>
              <a:rPr lang="en-US" sz="1100" dirty="0">
                <a:solidFill>
                  <a:srgbClr val="334155"/>
                </a:solidFill>
              </a:rPr>
              <a:t>If parent-to-child message forwarding doesn't occur organically, the campaign loses its primary conversion path (parents sharing content to influence booking decisions).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E8B04B"/>
          </a:solidFill>
          <a:ln w="12700">
            <a:solidFill>
              <a:srgbClr val="E8B04B"/>
            </a:solidFill>
            <a:prstDash val="solid"/>
          </a:ln>
        </p:spPr>
      </p:sp>
      <p:sp>
        <p:nvSpPr>
          <p:cNvPr id="3" name="Text 1"/>
          <p:cNvSpPr/>
          <p:nvPr/>
        </p:nvSpPr>
        <p:spPr>
          <a:xfrm>
            <a:off x="411480" y="1005840"/>
            <a:ext cx="8321040" cy="960120"/>
          </a:xfrm>
          <a:prstGeom prst="rect">
            <a:avLst/>
          </a:prstGeom>
          <a:noFill/>
          <a:ln/>
        </p:spPr>
        <p:txBody>
          <a:bodyPr wrap="square" rtlCol="0" anchor="ctr"/>
          <a:lstStyle/>
          <a:p>
            <a:pPr algn="ctr" indent="0" marL="0">
              <a:buNone/>
            </a:pPr>
            <a:r>
              <a:rPr lang="en-US" sz="5200" b="1" dirty="0">
                <a:solidFill>
                  <a:srgbClr val="F7F9FC"/>
                </a:solidFill>
                <a:latin typeface="Calibri" pitchFamily="34" charset="0"/>
                <a:ea typeface="Calibri" pitchFamily="34" charset="-122"/>
                <a:cs typeface="Calibri" pitchFamily="34" charset="-120"/>
              </a:rPr>
              <a:t>PANTHEON™</a:t>
            </a:r>
            <a:endParaRPr lang="en-US" sz="5200" dirty="0"/>
          </a:p>
        </p:txBody>
      </p:sp>
      <p:sp>
        <p:nvSpPr>
          <p:cNvPr id="4" name="Shape 2"/>
          <p:cNvSpPr/>
          <p:nvPr/>
        </p:nvSpPr>
        <p:spPr>
          <a:xfrm>
            <a:off x="2834640" y="2057400"/>
            <a:ext cx="3474720" cy="41148"/>
          </a:xfrm>
          <a:prstGeom prst="rect">
            <a:avLst/>
          </a:prstGeom>
          <a:solidFill>
            <a:srgbClr val="E8B04B"/>
          </a:solidFill>
          <a:ln w="12700">
            <a:solidFill>
              <a:srgbClr val="E8B04B"/>
            </a:solidFill>
            <a:prstDash val="solid"/>
          </a:ln>
        </p:spPr>
      </p:sp>
      <p:sp>
        <p:nvSpPr>
          <p:cNvPr id="5" name="Text 3"/>
          <p:cNvSpPr/>
          <p:nvPr/>
        </p:nvSpPr>
        <p:spPr>
          <a:xfrm>
            <a:off x="411480" y="2176272"/>
            <a:ext cx="8321040" cy="402336"/>
          </a:xfrm>
          <a:prstGeom prst="rect">
            <a:avLst/>
          </a:prstGeom>
          <a:noFill/>
          <a:ln/>
        </p:spPr>
        <p:txBody>
          <a:bodyPr wrap="square" rtlCol="0" anchor="ctr"/>
          <a:lstStyle/>
          <a:p>
            <a:pPr algn="ctr" indent="0" marL="0">
              <a:buNone/>
            </a:pPr>
            <a:r>
              <a:rPr lang="en-US" sz="1400" i="1" dirty="0">
                <a:solidFill>
                  <a:srgbClr val="CADCFC"/>
                </a:solidFill>
              </a:rPr>
              <a:t>Synthetic Focus Group Research Engine</a:t>
            </a:r>
            <a:endParaRPr lang="en-US" sz="1400" dirty="0"/>
          </a:p>
        </p:txBody>
      </p:sp>
      <p:sp>
        <p:nvSpPr>
          <p:cNvPr id="6" name="Text 4"/>
          <p:cNvSpPr/>
          <p:nvPr/>
        </p:nvSpPr>
        <p:spPr>
          <a:xfrm>
            <a:off x="411480" y="2697480"/>
            <a:ext cx="8321040" cy="320040"/>
          </a:xfrm>
          <a:prstGeom prst="rect">
            <a:avLst/>
          </a:prstGeom>
          <a:noFill/>
          <a:ln/>
        </p:spPr>
        <p:txBody>
          <a:bodyPr wrap="square" rtlCol="0" anchor="ctr"/>
          <a:lstStyle/>
          <a:p>
            <a:pPr algn="ctr" indent="0" marL="0">
              <a:buNone/>
            </a:pPr>
            <a:r>
              <a:rPr lang="en-US" sz="1100" dirty="0">
                <a:solidFill>
                  <a:srgbClr val="8896A8"/>
                </a:solidFill>
              </a:rPr>
              <a:t>Powered by Anthropic Claude · Modal Serverless · Supabase</a:t>
            </a:r>
            <a:endParaRPr lang="en-US" sz="1100" dirty="0"/>
          </a:p>
        </p:txBody>
      </p:sp>
      <p:sp>
        <p:nvSpPr>
          <p:cNvPr id="7" name="Text 5"/>
          <p:cNvSpPr/>
          <p:nvPr/>
        </p:nvSpPr>
        <p:spPr>
          <a:xfrm>
            <a:off x="1097280" y="4160520"/>
            <a:ext cx="6949440" cy="658368"/>
          </a:xfrm>
          <a:prstGeom prst="rect">
            <a:avLst/>
          </a:prstGeom>
          <a:noFill/>
          <a:ln/>
        </p:spPr>
        <p:txBody>
          <a:bodyPr wrap="square" rtlCol="0" anchor="ctr"/>
          <a:lstStyle/>
          <a:p>
            <a:pPr algn="ctr" indent="0" marL="0">
              <a:buNone/>
            </a:pPr>
            <a:r>
              <a:rPr lang="en-US" sz="900" i="1" dirty="0">
                <a:solidFill>
                  <a:srgbClr val="8896A8"/>
                </a:solidFill>
              </a:rPr>
              <a:t>This report was generated using synthetic focus group simulation. All respondents are AI-synthesized personas. Results are for strategic guidance only.</a:t>
            </a:r>
            <a:endParaRPr lang="en-US" sz="900" dirty="0"/>
          </a:p>
        </p:txBody>
      </p:sp>
      <p:sp>
        <p:nvSpPr>
          <p:cNvPr id="8" name="Text 6"/>
          <p:cNvSpPr/>
          <p:nvPr/>
        </p:nvSpPr>
        <p:spPr>
          <a:xfrm>
            <a:off x="6583680" y="4681728"/>
            <a:ext cx="2377440" cy="274320"/>
          </a:xfrm>
          <a:prstGeom prst="rect">
            <a:avLst/>
          </a:prstGeom>
          <a:noFill/>
          <a:ln/>
        </p:spPr>
        <p:txBody>
          <a:bodyPr wrap="square" rtlCol="0" anchor="ctr"/>
          <a:lstStyle/>
          <a:p>
            <a:pPr algn="r" indent="0" marL="0">
              <a:buNone/>
            </a:pPr>
            <a:r>
              <a:rPr lang="en-US" sz="1000" dirty="0">
                <a:solidFill>
                  <a:srgbClr val="8896A8"/>
                </a:solidFill>
              </a:rPr>
              <a:t>March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WARISAN Campaign: Karya Photo Legacy Positioning Insights</dc:title>
  <dc:subject>PptxGenJS Presentation</dc:subject>
  <dc:creator>PANTHEON</dc:creator>
  <cp:lastModifiedBy>PANTHEON</cp:lastModifiedBy>
  <cp:revision>1</cp:revision>
  <dcterms:created xsi:type="dcterms:W3CDTF">2026-03-09T15:26:28Z</dcterms:created>
  <dcterms:modified xsi:type="dcterms:W3CDTF">2026-03-09T15:26:28Z</dcterms:modified>
</cp:coreProperties>
</file>